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42"/>
  </p:notesMasterIdLst>
  <p:handoutMasterIdLst>
    <p:handoutMasterId r:id="rId43"/>
  </p:handoutMasterIdLst>
  <p:sldIdLst>
    <p:sldId id="271" r:id="rId2"/>
    <p:sldId id="256" r:id="rId3"/>
    <p:sldId id="263" r:id="rId4"/>
    <p:sldId id="257" r:id="rId5"/>
    <p:sldId id="295" r:id="rId6"/>
    <p:sldId id="270" r:id="rId7"/>
    <p:sldId id="258" r:id="rId8"/>
    <p:sldId id="264" r:id="rId9"/>
    <p:sldId id="312" r:id="rId10"/>
    <p:sldId id="260" r:id="rId11"/>
    <p:sldId id="277" r:id="rId12"/>
    <p:sldId id="266" r:id="rId13"/>
    <p:sldId id="313" r:id="rId14"/>
    <p:sldId id="307" r:id="rId15"/>
    <p:sldId id="308" r:id="rId16"/>
    <p:sldId id="310" r:id="rId17"/>
    <p:sldId id="317" r:id="rId18"/>
    <p:sldId id="316" r:id="rId19"/>
    <p:sldId id="314" r:id="rId20"/>
    <p:sldId id="291" r:id="rId21"/>
    <p:sldId id="297" r:id="rId22"/>
    <p:sldId id="280" r:id="rId23"/>
    <p:sldId id="283" r:id="rId24"/>
    <p:sldId id="298" r:id="rId25"/>
    <p:sldId id="284" r:id="rId26"/>
    <p:sldId id="299" r:id="rId27"/>
    <p:sldId id="282" r:id="rId28"/>
    <p:sldId id="300" r:id="rId29"/>
    <p:sldId id="301" r:id="rId30"/>
    <p:sldId id="302" r:id="rId31"/>
    <p:sldId id="303" r:id="rId32"/>
    <p:sldId id="304" r:id="rId33"/>
    <p:sldId id="305" r:id="rId34"/>
    <p:sldId id="306" r:id="rId35"/>
    <p:sldId id="278" r:id="rId36"/>
    <p:sldId id="267" r:id="rId37"/>
    <p:sldId id="269" r:id="rId38"/>
    <p:sldId id="296" r:id="rId39"/>
    <p:sldId id="275" r:id="rId40"/>
    <p:sldId id="274" r:id="rId41"/>
  </p:sldIdLst>
  <p:sldSz cx="12192000" cy="6858000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FF"/>
    <a:srgbClr val="9751CB"/>
    <a:srgbClr val="15C2FF"/>
    <a:srgbClr val="5BD4FF"/>
    <a:srgbClr val="EDE2F6"/>
    <a:srgbClr val="E2CFF1"/>
    <a:srgbClr val="99FF33"/>
    <a:srgbClr val="DCC4EE"/>
    <a:srgbClr val="2DC8FF"/>
    <a:srgbClr val="DBFF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586" autoAdjust="0"/>
    <p:restoredTop sz="94660"/>
  </p:normalViewPr>
  <p:slideViewPr>
    <p:cSldViewPr snapToGrid="0">
      <p:cViewPr varScale="1">
        <p:scale>
          <a:sx n="55" d="100"/>
          <a:sy n="55" d="100"/>
        </p:scale>
        <p:origin x="102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18ADAA2-4405-D18E-0832-5A600A588C3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180315-2ACC-196A-AEEB-7B019B6CE82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2952DB-E73B-4C11-9B7D-DF58DE4E9453}" type="datetime1">
              <a:rPr lang="en-US" smtClean="0"/>
              <a:t>12/05/2026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D2A7D5-93E8-AED5-B524-26AD74F4C62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175D55-2843-7AFD-3376-C16A7B1BCA0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7D5C91-BD60-42EB-A241-FB5CE3B388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771710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6648F3-8F64-4B96-82E9-53E81501CD3B}" type="datetime1">
              <a:rPr lang="en-US" smtClean="0"/>
              <a:t>12/05/2026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8B1EBC-0146-4B98-A721-727F7AAB7C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251481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58186-E415-48F0-8173-98B7B269B1F9}" type="datetime1">
              <a:rPr lang="en-US" smtClean="0"/>
              <a:t>12/05/2026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B04AD-5EB0-49DF-9047-5419DE725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85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B574C-1D6A-488E-B7EA-58F40B68E4C1}" type="datetime1">
              <a:rPr lang="en-US" smtClean="0"/>
              <a:t>12/05/2026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B04AD-5EB0-49DF-9047-5419DE725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47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0150D-492D-4E01-9FC5-F0A683DA053A}" type="datetime1">
              <a:rPr lang="en-US" smtClean="0"/>
              <a:t>12/05/2026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B04AD-5EB0-49DF-9047-5419DE725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897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23A21-CD64-40AD-AF03-DAE98BC5BD10}" type="datetime1">
              <a:rPr lang="en-US" smtClean="0"/>
              <a:t>12/05/2026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B04AD-5EB0-49DF-9047-5419DE725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18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ABBE2-C241-474D-8D3E-9EF1134D2A6F}" type="datetime1">
              <a:rPr lang="en-US" smtClean="0"/>
              <a:t>12/05/2026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B04AD-5EB0-49DF-9047-5419DE725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316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4650F-A8A9-43D6-9003-416C388DB701}" type="datetime1">
              <a:rPr lang="en-US" smtClean="0"/>
              <a:t>12/05/2026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B04AD-5EB0-49DF-9047-5419DE725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721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AEE5B-48DD-478E-B1ED-EB110F9D22B7}" type="datetime1">
              <a:rPr lang="en-US" smtClean="0"/>
              <a:t>12/05/2026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B04AD-5EB0-49DF-9047-5419DE725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058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3708F-5C67-46F8-8BF2-DB35AB5C185E}" type="datetime1">
              <a:rPr lang="en-US" smtClean="0"/>
              <a:t>12/05/2026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B04AD-5EB0-49DF-9047-5419DE725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672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21F46-138C-432B-B206-2ADEE0AACE76}" type="datetime1">
              <a:rPr lang="en-US" smtClean="0"/>
              <a:t>12/05/2026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B04AD-5EB0-49DF-9047-5419DE725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813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BA938-5A20-44E4-AF66-CE749020F74A}" type="datetime1">
              <a:rPr lang="en-US" smtClean="0"/>
              <a:t>12/05/2026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B04AD-5EB0-49DF-9047-5419DE725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777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C8815-F275-45F0-8BA4-091C3188983E}" type="datetime1">
              <a:rPr lang="en-US" smtClean="0"/>
              <a:t>12/05/2026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B04AD-5EB0-49DF-9047-5419DE725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8614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C5FE0C-4639-4013-888C-BF1EE39F0EA9}" type="datetime1">
              <a:rPr lang="en-US" smtClean="0"/>
              <a:t>12/05/2026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1B04AD-5EB0-49DF-9047-5419DE725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190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5.png"/><Relationship Id="rId4" Type="http://schemas.openxmlformats.org/officeDocument/2006/relationships/image" Target="../media/image41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3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hyperlink" Target="mailto:CSH-TGSenior@hkcg.com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5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9BCD8C-06A2-C07F-9842-6A27D2DFC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3" y="1999615"/>
            <a:ext cx="9144000" cy="2764028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altLang="zh-TW" sz="4500" b="1" kern="1200" spc="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</a:t>
            </a:r>
            <a:r>
              <a:rPr lang="en-US" sz="4500" b="1" kern="1200" spc="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-Service</a:t>
            </a:r>
            <a:br>
              <a:rPr lang="en-US" sz="4500" b="1" kern="1200" spc="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4500" b="1" kern="1200" spc="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Open Account </a:t>
            </a:r>
            <a:br>
              <a:rPr lang="en-US" sz="4500" b="1" kern="1200" spc="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zh-TW" altLang="en-US" sz="4500" b="1" kern="1200" spc="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介面認識及</a:t>
            </a:r>
            <a:br>
              <a:rPr lang="en-US" altLang="zh-TW" sz="4500" b="1" kern="1200" spc="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zh-TW" altLang="en-US" sz="4500" b="1" kern="1200" spc="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處理方法</a:t>
            </a:r>
            <a:br>
              <a:rPr lang="en-US" altLang="zh-TW" sz="4500" b="1" kern="1200" spc="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altLang="zh-TW" sz="4500" b="1" spc="200" dirty="0"/>
              <a:t>(</a:t>
            </a:r>
            <a:r>
              <a:rPr lang="en-US" altLang="zh-TW" sz="4500" b="1" spc="200" dirty="0">
                <a:solidFill>
                  <a:srgbClr val="FF0000"/>
                </a:solidFill>
              </a:rPr>
              <a:t>X6600</a:t>
            </a:r>
            <a:r>
              <a:rPr lang="en-US" altLang="zh-TW" sz="4500" b="1" spc="200" dirty="0"/>
              <a:t>)</a:t>
            </a:r>
            <a:endParaRPr lang="en-US" sz="4500" b="1" kern="1200" spc="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4838511-5F3D-3258-AA61-8DE50EE83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89019" y="6356350"/>
            <a:ext cx="126881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941B04AD-5EB0-49DF-9047-5419DE7250E3}" type="slidenum"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pPr defTabSz="914400">
                <a:spcAft>
                  <a:spcPts val="600"/>
                </a:spcAft>
              </a:pPr>
              <a:t>1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54041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910" y="790043"/>
            <a:ext cx="10789154" cy="542787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936FA1C-D5F7-24B3-3917-645EA00F050B}"/>
              </a:ext>
            </a:extLst>
          </p:cNvPr>
          <p:cNvSpPr txBox="1"/>
          <p:nvPr/>
        </p:nvSpPr>
        <p:spPr>
          <a:xfrm>
            <a:off x="425885" y="61412"/>
            <a:ext cx="52743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e-Service &gt; Open Account </a:t>
            </a:r>
            <a:r>
              <a:rPr lang="zh-TW" altLang="en-US" sz="2000" b="1" dirty="0"/>
              <a:t>介面認識及處理方法</a:t>
            </a:r>
            <a:endParaRPr lang="en-US" sz="2000" b="1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63F7498-B024-9463-1791-C28D00B62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59800" y="6055726"/>
            <a:ext cx="2743200" cy="365125"/>
          </a:xfrm>
        </p:spPr>
        <p:txBody>
          <a:bodyPr/>
          <a:lstStyle/>
          <a:p>
            <a:fld id="{941B04AD-5EB0-49DF-9047-5419DE7250E3}" type="slidenum">
              <a:rPr lang="en-US" smtClean="0"/>
              <a:t>2</a:t>
            </a:fld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5243DC4-BAF1-F1E2-3B6D-749D4F8B37AB}"/>
              </a:ext>
            </a:extLst>
          </p:cNvPr>
          <p:cNvGrpSpPr/>
          <p:nvPr/>
        </p:nvGrpSpPr>
        <p:grpSpPr>
          <a:xfrm>
            <a:off x="663256" y="1547447"/>
            <a:ext cx="7896544" cy="925512"/>
            <a:chOff x="425885" y="1215025"/>
            <a:chExt cx="6891136" cy="768515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B6C64F21-44B1-2250-987A-B67E680D02FF}"/>
                </a:ext>
              </a:extLst>
            </p:cNvPr>
            <p:cNvSpPr/>
            <p:nvPr/>
          </p:nvSpPr>
          <p:spPr>
            <a:xfrm>
              <a:off x="425885" y="1614209"/>
              <a:ext cx="1586108" cy="369331"/>
            </a:xfrm>
            <a:prstGeom prst="round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77F3CC8-51CA-DAAF-27CB-DC54E432DEB9}"/>
                </a:ext>
              </a:extLst>
            </p:cNvPr>
            <p:cNvSpPr txBox="1"/>
            <p:nvPr/>
          </p:nvSpPr>
          <p:spPr>
            <a:xfrm>
              <a:off x="2048527" y="1623473"/>
              <a:ext cx="5268494" cy="338554"/>
            </a:xfrm>
            <a:prstGeom prst="rect">
              <a:avLst/>
            </a:prstGeom>
            <a:solidFill>
              <a:srgbClr val="DBFFB7"/>
            </a:solidFill>
            <a:ln>
              <a:solidFill>
                <a:schemeClr val="bg1">
                  <a:lumMod val="6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zh-TW" altLang="en-US" sz="1600" dirty="0"/>
                <a:t>同事在處理個案前，</a:t>
              </a:r>
              <a:r>
                <a:rPr lang="zh-TW" altLang="en-US" sz="1600" b="1" u="sng" dirty="0"/>
                <a:t>必須</a:t>
              </a:r>
              <a:r>
                <a:rPr lang="zh-TW" altLang="en-US" sz="1600" dirty="0"/>
                <a:t>要先按</a:t>
              </a:r>
              <a:r>
                <a:rPr lang="en-US" altLang="zh-TW" sz="1600" dirty="0"/>
                <a:t>Accept</a:t>
              </a:r>
              <a:r>
                <a:rPr lang="zh-TW" altLang="en-US" sz="1600" dirty="0"/>
                <a:t>掣，才開始跟進。</a:t>
              </a:r>
              <a:endParaRPr lang="en-US" sz="1600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A67B6AD-5F95-3B9F-12EE-E560294E82A7}"/>
                </a:ext>
              </a:extLst>
            </p:cNvPr>
            <p:cNvSpPr txBox="1"/>
            <p:nvPr/>
          </p:nvSpPr>
          <p:spPr>
            <a:xfrm>
              <a:off x="3331923" y="1215025"/>
              <a:ext cx="1051891" cy="338554"/>
            </a:xfrm>
            <a:prstGeom prst="rect">
              <a:avLst/>
            </a:prstGeom>
            <a:solidFill>
              <a:srgbClr val="DBFFB7"/>
            </a:solidFill>
            <a:ln>
              <a:solidFill>
                <a:schemeClr val="bg1">
                  <a:lumMod val="6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zh-TW" sz="1600" dirty="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rPr>
                <a:t>全新個案</a:t>
              </a:r>
              <a:r>
                <a:rPr lang="zh-TW" sz="16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endParaRPr lang="en-US" sz="1600" dirty="0"/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2F5894B0-D90B-560E-3370-124E0E0914C4}"/>
                </a:ext>
              </a:extLst>
            </p:cNvPr>
            <p:cNvSpPr/>
            <p:nvPr/>
          </p:nvSpPr>
          <p:spPr>
            <a:xfrm>
              <a:off x="425885" y="1230413"/>
              <a:ext cx="2868460" cy="338554"/>
            </a:xfrm>
            <a:prstGeom prst="round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790051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1087556" y="433386"/>
            <a:ext cx="8524875" cy="6259953"/>
            <a:chOff x="1087556" y="433386"/>
            <a:chExt cx="8524875" cy="6259953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87556" y="433386"/>
              <a:ext cx="8524875" cy="6259953"/>
            </a:xfrm>
            <a:prstGeom prst="rect">
              <a:avLst/>
            </a:prstGeom>
          </p:spPr>
        </p:pic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68625" y="4933104"/>
              <a:ext cx="1523880" cy="135491"/>
            </a:xfrm>
            <a:prstGeom prst="rect">
              <a:avLst/>
            </a:prstGeom>
          </p:spPr>
        </p:pic>
        <p:pic>
          <p:nvPicPr>
            <p:cNvPr id="24" name="Picture 2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06165" y="5694106"/>
              <a:ext cx="1523880" cy="135491"/>
            </a:xfrm>
            <a:prstGeom prst="rect">
              <a:avLst/>
            </a:prstGeom>
          </p:spPr>
        </p:pic>
        <p:pic>
          <p:nvPicPr>
            <p:cNvPr id="25" name="Picture 2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880980" y="5988257"/>
              <a:ext cx="1523880" cy="135491"/>
            </a:xfrm>
            <a:prstGeom prst="rect">
              <a:avLst/>
            </a:prstGeom>
          </p:spPr>
        </p:pic>
        <p:pic>
          <p:nvPicPr>
            <p:cNvPr id="26" name="Picture 2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99602" y="2451914"/>
              <a:ext cx="468599" cy="142145"/>
            </a:xfrm>
            <a:prstGeom prst="rect">
              <a:avLst/>
            </a:prstGeom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233F98D9-5251-9FB0-C462-34CF486CF7A0}"/>
              </a:ext>
            </a:extLst>
          </p:cNvPr>
          <p:cNvSpPr txBox="1"/>
          <p:nvPr/>
        </p:nvSpPr>
        <p:spPr>
          <a:xfrm>
            <a:off x="7118252" y="809835"/>
            <a:ext cx="4810703" cy="1200329"/>
          </a:xfrm>
          <a:prstGeom prst="rect">
            <a:avLst/>
          </a:prstGeom>
          <a:solidFill>
            <a:srgbClr val="DBFFB7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dirty="0"/>
              <a:t>Accept</a:t>
            </a:r>
            <a:r>
              <a:rPr lang="zh-TW" altLang="en-US" dirty="0"/>
              <a:t>後， </a:t>
            </a:r>
            <a:r>
              <a:rPr lang="en-US" altLang="zh-TW" dirty="0"/>
              <a:t>“RPA Info”</a:t>
            </a:r>
            <a:r>
              <a:rPr lang="zh-TW" altLang="en-US" dirty="0"/>
              <a:t>可供同事輸入</a:t>
            </a:r>
            <a:r>
              <a:rPr lang="en-US" altLang="zh-TW" dirty="0"/>
              <a:t>/</a:t>
            </a:r>
            <a:r>
              <a:rPr lang="zh-TW" altLang="en-US" dirty="0"/>
              <a:t>修改資料。</a:t>
            </a:r>
            <a:endParaRPr lang="en-US" altLang="zh-TW" dirty="0"/>
          </a:p>
          <a:p>
            <a:r>
              <a:rPr lang="zh-TW" altLang="en-US" dirty="0"/>
              <a:t>注意 </a:t>
            </a:r>
            <a:r>
              <a:rPr lang="en-US" altLang="zh-TW" dirty="0"/>
              <a:t>: “Edit”</a:t>
            </a:r>
            <a:r>
              <a:rPr lang="zh-TW" altLang="en-US" dirty="0"/>
              <a:t>只可用作加上 </a:t>
            </a:r>
            <a:r>
              <a:rPr lang="en-US" altLang="zh-TW" dirty="0"/>
              <a:t>Deposit</a:t>
            </a:r>
            <a:r>
              <a:rPr lang="zh-TW" altLang="en-US" dirty="0"/>
              <a:t>、</a:t>
            </a:r>
            <a:r>
              <a:rPr lang="en-US" altLang="zh-TW" dirty="0"/>
              <a:t>Premise ID</a:t>
            </a:r>
            <a:r>
              <a:rPr lang="zh-TW" altLang="en-US" dirty="0"/>
              <a:t>之用，</a:t>
            </a:r>
            <a:r>
              <a:rPr lang="zh-TW" altLang="en-US" dirty="0">
                <a:solidFill>
                  <a:srgbClr val="FF0000"/>
                </a:solidFill>
              </a:rPr>
              <a:t>如其他資料需修改，同事需自行落單，不可交</a:t>
            </a:r>
            <a:r>
              <a:rPr lang="en-US" altLang="zh-TW" dirty="0">
                <a:solidFill>
                  <a:srgbClr val="FF0000"/>
                </a:solidFill>
              </a:rPr>
              <a:t>RPA</a:t>
            </a:r>
            <a:r>
              <a:rPr lang="zh-TW" altLang="en-US" dirty="0">
                <a:solidFill>
                  <a:srgbClr val="FF0000"/>
                </a:solidFill>
              </a:rPr>
              <a:t>處理。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4F80C31-D406-9074-7A5D-A35BE51C46BC}"/>
              </a:ext>
            </a:extLst>
          </p:cNvPr>
          <p:cNvSpPr/>
          <p:nvPr/>
        </p:nvSpPr>
        <p:spPr>
          <a:xfrm>
            <a:off x="7500302" y="2378391"/>
            <a:ext cx="2543182" cy="3977959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FA9DB86-AB5D-74A2-1694-13F7998350F1}"/>
              </a:ext>
            </a:extLst>
          </p:cNvPr>
          <p:cNvCxnSpPr>
            <a:cxnSpLocks/>
          </p:cNvCxnSpPr>
          <p:nvPr/>
        </p:nvCxnSpPr>
        <p:spPr>
          <a:xfrm flipH="1">
            <a:off x="8454901" y="2041402"/>
            <a:ext cx="1085291" cy="403642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73B4A84-CD54-FFEE-3104-114E2050B6CF}"/>
              </a:ext>
            </a:extLst>
          </p:cNvPr>
          <p:cNvSpPr/>
          <p:nvPr/>
        </p:nvSpPr>
        <p:spPr>
          <a:xfrm>
            <a:off x="1028566" y="1037904"/>
            <a:ext cx="3219450" cy="369331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B0D4F2C-6711-4A88-6131-722CA0326FBC}"/>
              </a:ext>
            </a:extLst>
          </p:cNvPr>
          <p:cNvSpPr txBox="1"/>
          <p:nvPr/>
        </p:nvSpPr>
        <p:spPr>
          <a:xfrm>
            <a:off x="4293082" y="805947"/>
            <a:ext cx="1731715" cy="923330"/>
          </a:xfrm>
          <a:prstGeom prst="rect">
            <a:avLst/>
          </a:prstGeom>
          <a:solidFill>
            <a:srgbClr val="DBFFB7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dirty="0"/>
              <a:t>按</a:t>
            </a:r>
            <a:r>
              <a:rPr lang="en-US" altLang="zh-TW" dirty="0"/>
              <a:t>Accept</a:t>
            </a:r>
            <a:r>
              <a:rPr lang="zh-TW" altLang="en-US" dirty="0"/>
              <a:t>掣後</a:t>
            </a:r>
            <a:endParaRPr lang="en-US" altLang="zh-TW" dirty="0"/>
          </a:p>
          <a:p>
            <a:r>
              <a:rPr lang="en-US" altLang="zh-TW" dirty="0"/>
              <a:t>Status</a:t>
            </a:r>
            <a:r>
              <a:rPr lang="zh-TW" altLang="en-US" dirty="0"/>
              <a:t>會轉為</a:t>
            </a:r>
            <a:endParaRPr lang="en-US" altLang="zh-TW" dirty="0"/>
          </a:p>
          <a:p>
            <a:r>
              <a:rPr lang="en-US" dirty="0"/>
              <a:t>In Progress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481AD29-DCFB-0D3D-E8DD-D3134C5F9E46}"/>
              </a:ext>
            </a:extLst>
          </p:cNvPr>
          <p:cNvSpPr/>
          <p:nvPr/>
        </p:nvSpPr>
        <p:spPr>
          <a:xfrm>
            <a:off x="930569" y="2693096"/>
            <a:ext cx="4147866" cy="2704161"/>
          </a:xfrm>
          <a:prstGeom prst="round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2789210-8102-230C-AF27-868A5BE51450}"/>
              </a:ext>
            </a:extLst>
          </p:cNvPr>
          <p:cNvSpPr/>
          <p:nvPr/>
        </p:nvSpPr>
        <p:spPr>
          <a:xfrm>
            <a:off x="930569" y="5547534"/>
            <a:ext cx="4199476" cy="1143373"/>
          </a:xfrm>
          <a:prstGeom prst="round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C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F8EFAA-21EC-EE3A-972B-F3E3CF792E23}"/>
              </a:ext>
            </a:extLst>
          </p:cNvPr>
          <p:cNvSpPr txBox="1"/>
          <p:nvPr/>
        </p:nvSpPr>
        <p:spPr>
          <a:xfrm>
            <a:off x="4269342" y="3736450"/>
            <a:ext cx="1228137" cy="646331"/>
          </a:xfrm>
          <a:prstGeom prst="rect">
            <a:avLst/>
          </a:prstGeom>
          <a:solidFill>
            <a:srgbClr val="DBFFB7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zh-TW" altLang="en-US" dirty="0"/>
              <a:t>申請人及物業資料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6133DE-0C14-13B8-D104-14E6C4F6795A}"/>
              </a:ext>
            </a:extLst>
          </p:cNvPr>
          <p:cNvSpPr txBox="1"/>
          <p:nvPr/>
        </p:nvSpPr>
        <p:spPr>
          <a:xfrm>
            <a:off x="4249300" y="5976169"/>
            <a:ext cx="1313822" cy="646331"/>
          </a:xfrm>
          <a:prstGeom prst="rect">
            <a:avLst/>
          </a:prstGeom>
          <a:solidFill>
            <a:srgbClr val="DBFFB7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zh-TW" altLang="en-US" dirty="0"/>
              <a:t>賬單通訊地址</a:t>
            </a:r>
            <a:r>
              <a:rPr lang="en-US" altLang="zh-TW" dirty="0"/>
              <a:t>/</a:t>
            </a:r>
            <a:r>
              <a:rPr lang="zh-TW" altLang="en-US" dirty="0"/>
              <a:t>語文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1E375D-C911-EFFD-6826-FE8E81B67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127466" cy="365125"/>
          </a:xfrm>
        </p:spPr>
        <p:txBody>
          <a:bodyPr/>
          <a:lstStyle/>
          <a:p>
            <a:fld id="{941B04AD-5EB0-49DF-9047-5419DE7250E3}" type="slidenum">
              <a:rPr lang="en-US" sz="1800" smtClean="0"/>
              <a:t>3</a:t>
            </a:fld>
            <a:endParaRPr lang="en-US" sz="1800"/>
          </a:p>
        </p:txBody>
      </p:sp>
      <p:sp>
        <p:nvSpPr>
          <p:cNvPr id="19" name="Rectangle: Rounded Corners 19">
            <a:extLst>
              <a:ext uri="{FF2B5EF4-FFF2-40B4-BE49-F238E27FC236}">
                <a16:creationId xmlns:a16="http://schemas.microsoft.com/office/drawing/2014/main" id="{D73B4A84-CD54-FFEE-3104-114E2050B6CF}"/>
              </a:ext>
            </a:extLst>
          </p:cNvPr>
          <p:cNvSpPr/>
          <p:nvPr/>
        </p:nvSpPr>
        <p:spPr>
          <a:xfrm>
            <a:off x="1028566" y="2368836"/>
            <a:ext cx="3219450" cy="277484"/>
          </a:xfrm>
          <a:prstGeom prst="roundRect">
            <a:avLst/>
          </a:prstGeom>
          <a:noFill/>
          <a:ln w="28575">
            <a:solidFill>
              <a:srgbClr val="CC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B0D4F2C-6711-4A88-6131-722CA0326FBC}"/>
              </a:ext>
            </a:extLst>
          </p:cNvPr>
          <p:cNvSpPr txBox="1"/>
          <p:nvPr/>
        </p:nvSpPr>
        <p:spPr>
          <a:xfrm>
            <a:off x="4303634" y="2302317"/>
            <a:ext cx="1789537" cy="369332"/>
          </a:xfrm>
          <a:prstGeom prst="rect">
            <a:avLst/>
          </a:prstGeom>
          <a:solidFill>
            <a:srgbClr val="DBFFB7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dirty="0"/>
              <a:t>由申請人提交</a:t>
            </a:r>
            <a:endParaRPr lang="en-US" dirty="0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162839C-2CB6-9F69-1BED-47A83A549198}"/>
              </a:ext>
            </a:extLst>
          </p:cNvPr>
          <p:cNvCxnSpPr>
            <a:cxnSpLocks/>
          </p:cNvCxnSpPr>
          <p:nvPr/>
        </p:nvCxnSpPr>
        <p:spPr>
          <a:xfrm flipH="1">
            <a:off x="9057147" y="2061116"/>
            <a:ext cx="447878" cy="40353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162839C-2CB6-9F69-1BED-47A83A549198}"/>
              </a:ext>
            </a:extLst>
          </p:cNvPr>
          <p:cNvCxnSpPr>
            <a:cxnSpLocks/>
          </p:cNvCxnSpPr>
          <p:nvPr/>
        </p:nvCxnSpPr>
        <p:spPr>
          <a:xfrm flipH="1">
            <a:off x="9021980" y="2041402"/>
            <a:ext cx="448861" cy="365270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0936FA1C-D5F7-24B3-3917-645EA00F050B}"/>
              </a:ext>
            </a:extLst>
          </p:cNvPr>
          <p:cNvSpPr txBox="1"/>
          <p:nvPr/>
        </p:nvSpPr>
        <p:spPr>
          <a:xfrm>
            <a:off x="425885" y="61412"/>
            <a:ext cx="52743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e-Service &gt; Open Account </a:t>
            </a:r>
            <a:r>
              <a:rPr lang="zh-TW" altLang="en-US" sz="2000" b="1" dirty="0"/>
              <a:t>介面認識及處理方法</a:t>
            </a:r>
            <a:endParaRPr lang="en-US" sz="2000" b="1" dirty="0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6685" y="5240319"/>
            <a:ext cx="1523880" cy="135491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0361" y="5632456"/>
            <a:ext cx="468599" cy="142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8790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6049" y="256634"/>
            <a:ext cx="5071973" cy="643274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rcRect r="14882"/>
          <a:stretch/>
        </p:blipFill>
        <p:spPr>
          <a:xfrm>
            <a:off x="371678" y="556589"/>
            <a:ext cx="4608285" cy="200035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936FA1C-D5F7-24B3-3917-645EA00F050B}"/>
              </a:ext>
            </a:extLst>
          </p:cNvPr>
          <p:cNvSpPr txBox="1"/>
          <p:nvPr/>
        </p:nvSpPr>
        <p:spPr>
          <a:xfrm>
            <a:off x="245580" y="59926"/>
            <a:ext cx="52743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e-Service &gt; Open Account </a:t>
            </a:r>
            <a:r>
              <a:rPr lang="zh-TW" altLang="en-US" sz="2000" b="1" dirty="0"/>
              <a:t>介面認識及處理方法</a:t>
            </a:r>
            <a:endParaRPr lang="en-US" sz="2000" b="1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B5A46A8-A0D2-0FC7-9A9E-483B8B93AEEB}"/>
              </a:ext>
            </a:extLst>
          </p:cNvPr>
          <p:cNvSpPr/>
          <p:nvPr/>
        </p:nvSpPr>
        <p:spPr>
          <a:xfrm>
            <a:off x="5519973" y="5442949"/>
            <a:ext cx="4285206" cy="275174"/>
          </a:xfrm>
          <a:prstGeom prst="roundRect">
            <a:avLst/>
          </a:prstGeom>
          <a:noFill/>
          <a:ln w="28575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89900E5-E162-34B8-1D13-2141D14BF141}"/>
              </a:ext>
            </a:extLst>
          </p:cNvPr>
          <p:cNvSpPr/>
          <p:nvPr/>
        </p:nvSpPr>
        <p:spPr>
          <a:xfrm>
            <a:off x="5529540" y="506918"/>
            <a:ext cx="4275639" cy="503285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9BFA815-577C-EE5C-A25D-B1AA69F62F0A}"/>
              </a:ext>
            </a:extLst>
          </p:cNvPr>
          <p:cNvSpPr/>
          <p:nvPr/>
        </p:nvSpPr>
        <p:spPr>
          <a:xfrm>
            <a:off x="371678" y="503957"/>
            <a:ext cx="4748962" cy="2064104"/>
          </a:xfrm>
          <a:prstGeom prst="round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56C6E08-B4B9-1C78-6323-AC49672084E2}"/>
              </a:ext>
            </a:extLst>
          </p:cNvPr>
          <p:cNvSpPr txBox="1"/>
          <p:nvPr/>
        </p:nvSpPr>
        <p:spPr>
          <a:xfrm>
            <a:off x="10339106" y="589283"/>
            <a:ext cx="1005403" cy="338554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sz="1600" dirty="0"/>
              <a:t>購買爐具</a:t>
            </a:r>
            <a:endParaRPr lang="en-US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F1B399-672D-AF29-54B0-6BB2920C0541}"/>
              </a:ext>
            </a:extLst>
          </p:cNvPr>
          <p:cNvSpPr txBox="1"/>
          <p:nvPr/>
        </p:nvSpPr>
        <p:spPr>
          <a:xfrm>
            <a:off x="9894138" y="2770133"/>
            <a:ext cx="2233768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sz="1600" dirty="0"/>
              <a:t>申請電子賬戶的電郵 </a:t>
            </a:r>
            <a:r>
              <a:rPr lang="en-US" altLang="zh-TW" sz="1600" dirty="0"/>
              <a:t>/</a:t>
            </a:r>
          </a:p>
          <a:p>
            <a:r>
              <a:rPr lang="zh-TW" altLang="en-US" sz="1600" dirty="0"/>
              <a:t>加入原有登入名稱</a:t>
            </a:r>
            <a:endParaRPr lang="en-US" sz="1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87DD8D-CC70-D473-25AE-0A6C863C7F5A}"/>
              </a:ext>
            </a:extLst>
          </p:cNvPr>
          <p:cNvSpPr txBox="1"/>
          <p:nvPr/>
        </p:nvSpPr>
        <p:spPr>
          <a:xfrm>
            <a:off x="10021778" y="5404748"/>
            <a:ext cx="1415772" cy="33855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sz="1600" dirty="0"/>
              <a:t>直接促銷資訊</a:t>
            </a:r>
            <a:endParaRPr lang="en-US" sz="1600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1BA5D94-F807-1F90-29F5-C240F5941F24}"/>
              </a:ext>
            </a:extLst>
          </p:cNvPr>
          <p:cNvSpPr/>
          <p:nvPr/>
        </p:nvSpPr>
        <p:spPr>
          <a:xfrm>
            <a:off x="5546049" y="4292247"/>
            <a:ext cx="4259130" cy="242642"/>
          </a:xfrm>
          <a:prstGeom prst="roundRect">
            <a:avLst/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C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649EDBB-5AA5-E419-BC24-7B77D781DBAA}"/>
              </a:ext>
            </a:extLst>
          </p:cNvPr>
          <p:cNvSpPr txBox="1"/>
          <p:nvPr/>
        </p:nvSpPr>
        <p:spPr>
          <a:xfrm>
            <a:off x="9936212" y="1533226"/>
            <a:ext cx="1415771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CC00FF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sz="1600" dirty="0"/>
              <a:t>人客提供度數申請賬戶</a:t>
            </a:r>
            <a:endParaRPr lang="en-US" sz="1600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D4D1595-59DA-5571-742F-0BD1AA035935}"/>
              </a:ext>
            </a:extLst>
          </p:cNvPr>
          <p:cNvSpPr/>
          <p:nvPr/>
        </p:nvSpPr>
        <p:spPr>
          <a:xfrm>
            <a:off x="5529540" y="3972359"/>
            <a:ext cx="4275639" cy="277291"/>
          </a:xfrm>
          <a:prstGeom prst="roundRect">
            <a:avLst/>
          </a:prstGeom>
          <a:noFill/>
          <a:ln w="28575">
            <a:solidFill>
              <a:srgbClr val="5BD4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0513CF9-9B0D-20DC-81F8-DB33BAACBEBD}"/>
              </a:ext>
            </a:extLst>
          </p:cNvPr>
          <p:cNvSpPr/>
          <p:nvPr/>
        </p:nvSpPr>
        <p:spPr>
          <a:xfrm>
            <a:off x="5491774" y="6362056"/>
            <a:ext cx="4444438" cy="274224"/>
          </a:xfrm>
          <a:prstGeom prst="roundRect">
            <a:avLst/>
          </a:prstGeom>
          <a:noFill/>
          <a:ln w="285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4345C0E-58F3-C2CC-EFC1-D87682A90D59}"/>
              </a:ext>
            </a:extLst>
          </p:cNvPr>
          <p:cNvSpPr txBox="1"/>
          <p:nvPr/>
        </p:nvSpPr>
        <p:spPr>
          <a:xfrm>
            <a:off x="1321863" y="3813683"/>
            <a:ext cx="394211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5BD4FF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zh-TW" altLang="en-US" sz="1600" dirty="0"/>
              <a:t>輸入</a:t>
            </a:r>
            <a:r>
              <a:rPr lang="en-US" altLang="zh-TW" sz="1600" dirty="0"/>
              <a:t>Siebel</a:t>
            </a:r>
            <a:r>
              <a:rPr lang="zh-TW" altLang="en-US" sz="1600" dirty="0"/>
              <a:t>的</a:t>
            </a:r>
            <a:r>
              <a:rPr lang="en-US" altLang="zh-TW" sz="1600" dirty="0"/>
              <a:t>Sales Order# </a:t>
            </a:r>
          </a:p>
          <a:p>
            <a:r>
              <a:rPr lang="en-US" altLang="zh-TW" sz="1600" dirty="0"/>
              <a:t>(</a:t>
            </a:r>
            <a:r>
              <a:rPr lang="zh-TW" altLang="en-US" sz="1600" dirty="0"/>
              <a:t>如個案是交由</a:t>
            </a:r>
            <a:r>
              <a:rPr lang="en-US" altLang="zh-TW" sz="1600" dirty="0"/>
              <a:t>RPA</a:t>
            </a:r>
            <a:r>
              <a:rPr lang="zh-TW" altLang="en-US" sz="1600" dirty="0"/>
              <a:t>跟進，則不用理會</a:t>
            </a:r>
            <a:r>
              <a:rPr lang="en-US" altLang="zh-TW" sz="1600" dirty="0"/>
              <a:t>)</a:t>
            </a:r>
            <a:endParaRPr lang="en-US" sz="16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571FBFC-E7B4-8277-72CA-FCAB03399E8D}"/>
              </a:ext>
            </a:extLst>
          </p:cNvPr>
          <p:cNvSpPr txBox="1"/>
          <p:nvPr/>
        </p:nvSpPr>
        <p:spPr>
          <a:xfrm>
            <a:off x="1768161" y="6095309"/>
            <a:ext cx="3550267" cy="584775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pPr algn="r"/>
            <a:r>
              <a:rPr lang="zh-TW" altLang="en-US" sz="1600" dirty="0"/>
              <a:t>輸入</a:t>
            </a:r>
            <a:r>
              <a:rPr lang="en-US" altLang="zh-TW" sz="1600" dirty="0"/>
              <a:t>Siebel</a:t>
            </a:r>
            <a:r>
              <a:rPr lang="zh-TW" altLang="en-US" sz="1600" dirty="0"/>
              <a:t>的</a:t>
            </a:r>
            <a:r>
              <a:rPr lang="en-US" altLang="zh-TW" sz="1600" dirty="0"/>
              <a:t>TG# </a:t>
            </a:r>
          </a:p>
          <a:p>
            <a:pPr algn="r"/>
            <a:r>
              <a:rPr lang="en-US" altLang="zh-TW" sz="1600" dirty="0"/>
              <a:t> (</a:t>
            </a:r>
            <a:r>
              <a:rPr lang="zh-TW" altLang="en-US" sz="1600" dirty="0"/>
              <a:t>如個案是交由</a:t>
            </a:r>
            <a:r>
              <a:rPr lang="en-US" altLang="zh-TW" sz="1600" dirty="0"/>
              <a:t>RPA</a:t>
            </a:r>
            <a:r>
              <a:rPr lang="zh-TW" altLang="en-US" sz="1600" dirty="0"/>
              <a:t>跟進，則不用理會</a:t>
            </a:r>
            <a:r>
              <a:rPr lang="en-US" altLang="zh-TW" sz="1600" dirty="0"/>
              <a:t>)</a:t>
            </a:r>
            <a:endParaRPr lang="en-US" sz="16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522DB80-D9D5-37B6-02A2-B6C988700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69921" y="6394987"/>
            <a:ext cx="2743200" cy="365125"/>
          </a:xfrm>
        </p:spPr>
        <p:txBody>
          <a:bodyPr/>
          <a:lstStyle/>
          <a:p>
            <a:fld id="{941B04AD-5EB0-49DF-9047-5419DE7250E3}" type="slidenum">
              <a:rPr lang="en-US" smtClean="0"/>
              <a:t>4</a:t>
            </a:fld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80E6310-BFF1-7427-A1BE-75F8351962B7}"/>
              </a:ext>
            </a:extLst>
          </p:cNvPr>
          <p:cNvSpPr/>
          <p:nvPr/>
        </p:nvSpPr>
        <p:spPr>
          <a:xfrm>
            <a:off x="5546049" y="1292290"/>
            <a:ext cx="4259130" cy="1165785"/>
          </a:xfrm>
          <a:prstGeom prst="roundRect">
            <a:avLst/>
          </a:prstGeom>
          <a:noFill/>
          <a:ln w="28575">
            <a:solidFill>
              <a:srgbClr val="CC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C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0806E7-C53C-A41E-ADF4-850392AAECA8}"/>
              </a:ext>
            </a:extLst>
          </p:cNvPr>
          <p:cNvSpPr txBox="1"/>
          <p:nvPr/>
        </p:nvSpPr>
        <p:spPr>
          <a:xfrm>
            <a:off x="9926645" y="4257254"/>
            <a:ext cx="1415772" cy="33855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4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sz="1600" dirty="0"/>
              <a:t>申請自動轉賬</a:t>
            </a:r>
            <a:endParaRPr lang="en-US" sz="16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2F1B399-672D-AF29-54B0-6BB2920C0541}"/>
              </a:ext>
            </a:extLst>
          </p:cNvPr>
          <p:cNvSpPr txBox="1"/>
          <p:nvPr/>
        </p:nvSpPr>
        <p:spPr>
          <a:xfrm>
            <a:off x="3403082" y="1685340"/>
            <a:ext cx="2031325" cy="584775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6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sz="1600" dirty="0"/>
              <a:t>代辨人</a:t>
            </a:r>
            <a:r>
              <a:rPr lang="en-US" altLang="zh-TW" sz="1600" dirty="0"/>
              <a:t> </a:t>
            </a:r>
            <a:r>
              <a:rPr lang="zh-TW" altLang="en-US" sz="1600" dirty="0"/>
              <a:t>及</a:t>
            </a:r>
            <a:endParaRPr lang="en-US" sz="1600" dirty="0"/>
          </a:p>
          <a:p>
            <a:r>
              <a:rPr lang="zh-TW" altLang="en-US" sz="1600" dirty="0"/>
              <a:t>開煤氣單聯絡人資料</a:t>
            </a:r>
            <a:endParaRPr lang="en-US" sz="1600" dirty="0"/>
          </a:p>
        </p:txBody>
      </p:sp>
      <p:sp>
        <p:nvSpPr>
          <p:cNvPr id="26" name="Rectangle: Rounded Corners 6">
            <a:extLst>
              <a:ext uri="{FF2B5EF4-FFF2-40B4-BE49-F238E27FC236}">
                <a16:creationId xmlns:a16="http://schemas.microsoft.com/office/drawing/2014/main" id="{6B5A46A8-A0D2-0FC7-9A9E-483B8B93AEEB}"/>
              </a:ext>
            </a:extLst>
          </p:cNvPr>
          <p:cNvSpPr/>
          <p:nvPr/>
        </p:nvSpPr>
        <p:spPr>
          <a:xfrm>
            <a:off x="5529540" y="2528808"/>
            <a:ext cx="4259130" cy="1067392"/>
          </a:xfrm>
          <a:prstGeom prst="round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2293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7" y="776294"/>
            <a:ext cx="9027609" cy="5580056"/>
          </a:xfrm>
          <a:prstGeom prst="rect">
            <a:avLst/>
          </a:prstGeom>
          <a:ln>
            <a:noFill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B04AD-5EB0-49DF-9047-5419DE7250E3}" type="slidenum">
              <a:rPr lang="en-US" smtClean="0"/>
              <a:t>5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36FA1C-D5F7-24B3-3917-645EA00F050B}"/>
              </a:ext>
            </a:extLst>
          </p:cNvPr>
          <p:cNvSpPr txBox="1"/>
          <p:nvPr/>
        </p:nvSpPr>
        <p:spPr>
          <a:xfrm>
            <a:off x="425885" y="61412"/>
            <a:ext cx="52743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e-Service &gt; Open Account </a:t>
            </a:r>
            <a:r>
              <a:rPr lang="zh-TW" altLang="en-US" sz="2000" b="1" dirty="0"/>
              <a:t>介面認識及處理方法</a:t>
            </a:r>
            <a:endParaRPr lang="en-US" sz="2000" b="1" dirty="0"/>
          </a:p>
        </p:txBody>
      </p:sp>
      <p:sp>
        <p:nvSpPr>
          <p:cNvPr id="7" name="Rectangle: Rounded Corners 11">
            <a:extLst>
              <a:ext uri="{FF2B5EF4-FFF2-40B4-BE49-F238E27FC236}">
                <a16:creationId xmlns:a16="http://schemas.microsoft.com/office/drawing/2014/main" id="{D9BFA815-577C-EE5C-A25D-B1AA69F62F0A}"/>
              </a:ext>
            </a:extLst>
          </p:cNvPr>
          <p:cNvSpPr/>
          <p:nvPr/>
        </p:nvSpPr>
        <p:spPr>
          <a:xfrm>
            <a:off x="5325117" y="776294"/>
            <a:ext cx="4369366" cy="1893680"/>
          </a:xfrm>
          <a:prstGeom prst="round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6">
            <a:extLst>
              <a:ext uri="{FF2B5EF4-FFF2-40B4-BE49-F238E27FC236}">
                <a16:creationId xmlns:a16="http://schemas.microsoft.com/office/drawing/2014/main" id="{6B5A46A8-A0D2-0FC7-9A9E-483B8B93AEEB}"/>
              </a:ext>
            </a:extLst>
          </p:cNvPr>
          <p:cNvSpPr/>
          <p:nvPr/>
        </p:nvSpPr>
        <p:spPr>
          <a:xfrm>
            <a:off x="5318015" y="2710243"/>
            <a:ext cx="4444438" cy="218531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6C6E08-B4B9-1C78-6323-AC49672084E2}"/>
              </a:ext>
            </a:extLst>
          </p:cNvPr>
          <p:cNvSpPr txBox="1"/>
          <p:nvPr/>
        </p:nvSpPr>
        <p:spPr>
          <a:xfrm>
            <a:off x="9840746" y="1252836"/>
            <a:ext cx="2031325" cy="369332"/>
          </a:xfrm>
          <a:prstGeom prst="rect">
            <a:avLst/>
          </a:prstGeom>
          <a:solidFill>
            <a:srgbClr val="DBFFB7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dirty="0"/>
              <a:t>預約到訪開氣時間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6C6E08-B4B9-1C78-6323-AC49672084E2}"/>
              </a:ext>
            </a:extLst>
          </p:cNvPr>
          <p:cNvSpPr txBox="1"/>
          <p:nvPr/>
        </p:nvSpPr>
        <p:spPr>
          <a:xfrm>
            <a:off x="9840746" y="3381656"/>
            <a:ext cx="2031325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dirty="0"/>
              <a:t>提供度數相片開戶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7101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936FA1C-D5F7-24B3-3917-645EA00F050B}"/>
              </a:ext>
            </a:extLst>
          </p:cNvPr>
          <p:cNvSpPr txBox="1"/>
          <p:nvPr/>
        </p:nvSpPr>
        <p:spPr>
          <a:xfrm>
            <a:off x="425885" y="150312"/>
            <a:ext cx="52743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e-Service &gt; Open Account </a:t>
            </a:r>
            <a:r>
              <a:rPr lang="zh-TW" altLang="en-US" sz="2000" b="1" dirty="0"/>
              <a:t>介面認識及處理方法</a:t>
            </a:r>
            <a:endParaRPr lang="en-US" sz="2000" b="1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A802EF1-9441-1376-10F3-2A4B3135CE2F}"/>
              </a:ext>
            </a:extLst>
          </p:cNvPr>
          <p:cNvSpPr/>
          <p:nvPr/>
        </p:nvSpPr>
        <p:spPr>
          <a:xfrm>
            <a:off x="978182" y="4546948"/>
            <a:ext cx="6399648" cy="563671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903B011-FEB2-4402-A2C1-EEC88F9F0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B04AD-5EB0-49DF-9047-5419DE7250E3}" type="slidenum">
              <a:rPr lang="en-US" smtClean="0"/>
              <a:t>6</a:t>
            </a:fld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C934EED-F3EA-730B-A04B-EBF305A1427F}"/>
              </a:ext>
            </a:extLst>
          </p:cNvPr>
          <p:cNvGrpSpPr/>
          <p:nvPr/>
        </p:nvGrpSpPr>
        <p:grpSpPr>
          <a:xfrm>
            <a:off x="846431" y="1055517"/>
            <a:ext cx="7345862" cy="400110"/>
            <a:chOff x="893837" y="1184247"/>
            <a:chExt cx="7345862" cy="400110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BF53FBD-D0C3-815F-1637-B426DC1C402F}"/>
                </a:ext>
              </a:extLst>
            </p:cNvPr>
            <p:cNvSpPr txBox="1"/>
            <p:nvPr/>
          </p:nvSpPr>
          <p:spPr>
            <a:xfrm>
              <a:off x="893837" y="1184247"/>
              <a:ext cx="7345862" cy="4001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zh-TW" altLang="en-US" sz="2000" dirty="0"/>
                <a:t>按 </a:t>
              </a:r>
              <a:r>
                <a:rPr lang="en-US" altLang="zh-TW" sz="2000" dirty="0"/>
                <a:t>Accept                     </a:t>
              </a:r>
              <a:r>
                <a:rPr lang="zh-TW" altLang="en-US" sz="2000" dirty="0"/>
                <a:t>掣後，下圖的功能鍵便會顯示</a:t>
              </a:r>
              <a:endParaRPr lang="en-US" sz="2000" dirty="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89776449-E995-9CEB-1FD0-7F1B86E35D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57393" y="1209647"/>
              <a:ext cx="1932072" cy="373693"/>
            </a:xfrm>
            <a:prstGeom prst="rect">
              <a:avLst/>
            </a:prstGeom>
            <a:grpFill/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6954AFE-4BAF-5CFB-83B3-376C1F77D769}"/>
              </a:ext>
            </a:extLst>
          </p:cNvPr>
          <p:cNvGrpSpPr/>
          <p:nvPr/>
        </p:nvGrpSpPr>
        <p:grpSpPr>
          <a:xfrm>
            <a:off x="679885" y="1394312"/>
            <a:ext cx="11042215" cy="4434987"/>
            <a:chOff x="817636" y="1368913"/>
            <a:chExt cx="10835105" cy="4120174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6FA2DFE-EE02-3C5E-B0D3-0F03A31AB77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7636" y="1638300"/>
              <a:ext cx="7572375" cy="3581400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0A78425-06CF-9ECF-5EE0-F1BF1330429F}"/>
                </a:ext>
              </a:extLst>
            </p:cNvPr>
            <p:cNvSpPr txBox="1"/>
            <p:nvPr/>
          </p:nvSpPr>
          <p:spPr>
            <a:xfrm>
              <a:off x="8377485" y="1368913"/>
              <a:ext cx="3275256" cy="3970318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TW" altLang="en-US" b="1" dirty="0"/>
                <a:t>功能鍵介紹</a:t>
              </a:r>
              <a:endParaRPr lang="en-US" b="1" dirty="0"/>
            </a:p>
            <a:p>
              <a:r>
                <a:rPr lang="en-US" u="sng" dirty="0"/>
                <a:t>[To Other Party]</a:t>
              </a:r>
            </a:p>
            <a:p>
              <a:r>
                <a:rPr lang="zh-TW" altLang="en-US" dirty="0"/>
                <a:t>暫未使用</a:t>
              </a:r>
              <a:endParaRPr lang="en-US" altLang="zh-TW" dirty="0"/>
            </a:p>
            <a:p>
              <a:endParaRPr lang="en-US" dirty="0"/>
            </a:p>
            <a:p>
              <a:r>
                <a:rPr lang="en-US" u="sng" dirty="0"/>
                <a:t>[Request Document]</a:t>
              </a:r>
            </a:p>
            <a:p>
              <a:r>
                <a:rPr lang="zh-TW" altLang="en-US" dirty="0"/>
                <a:t>文件</a:t>
              </a:r>
              <a:r>
                <a:rPr lang="en-US" altLang="zh-TW" dirty="0"/>
                <a:t>/</a:t>
              </a:r>
              <a:r>
                <a:rPr lang="zh-TW" altLang="en-US" dirty="0"/>
                <a:t>資料不足，經電郵向客人</a:t>
              </a:r>
              <a:endParaRPr lang="en-US" altLang="zh-TW" dirty="0"/>
            </a:p>
            <a:p>
              <a:r>
                <a:rPr lang="zh-TW" altLang="en-US" dirty="0"/>
                <a:t>索取</a:t>
              </a:r>
              <a:endParaRPr lang="en-US" altLang="zh-TW" dirty="0"/>
            </a:p>
            <a:p>
              <a:endParaRPr lang="en-US" dirty="0"/>
            </a:p>
            <a:p>
              <a:r>
                <a:rPr lang="en-US" altLang="zh-TW" u="sng" dirty="0"/>
                <a:t>[Cancel Case]</a:t>
              </a:r>
            </a:p>
            <a:p>
              <a:r>
                <a:rPr lang="zh-TW" altLang="en-US" dirty="0"/>
                <a:t>取消申請，按後會有電郵發送</a:t>
              </a:r>
              <a:endParaRPr lang="en-US" altLang="zh-TW" dirty="0"/>
            </a:p>
            <a:p>
              <a:r>
                <a:rPr lang="zh-TW" altLang="en-US" dirty="0"/>
                <a:t>給客人</a:t>
              </a:r>
              <a:endParaRPr lang="en-US" altLang="zh-TW" dirty="0"/>
            </a:p>
            <a:p>
              <a:endParaRPr lang="en-US" dirty="0"/>
            </a:p>
            <a:p>
              <a:r>
                <a:rPr lang="en-US" altLang="zh-TW" u="sng" dirty="0"/>
                <a:t>[Complete Case]</a:t>
              </a:r>
            </a:p>
            <a:p>
              <a:r>
                <a:rPr lang="zh-TW" altLang="en-US" dirty="0"/>
                <a:t>完成個案，按鍵後，可選是否</a:t>
              </a:r>
              <a:endParaRPr lang="en-US" altLang="zh-TW" dirty="0"/>
            </a:p>
            <a:p>
              <a:r>
                <a:rPr lang="zh-TW" altLang="en-US" dirty="0"/>
                <a:t>發送確認電郵給客人</a:t>
              </a:r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0E2ADF1-BA5A-C517-D541-E2B252E4692E}"/>
                </a:ext>
              </a:extLst>
            </p:cNvPr>
            <p:cNvSpPr/>
            <p:nvPr/>
          </p:nvSpPr>
          <p:spPr>
            <a:xfrm>
              <a:off x="967178" y="4114800"/>
              <a:ext cx="6764264" cy="1374287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2F8E674B-FAFD-7024-87CF-6BB33890988F}"/>
                </a:ext>
              </a:extLst>
            </p:cNvPr>
            <p:cNvCxnSpPr>
              <a:cxnSpLocks/>
              <a:stCxn id="9" idx="3"/>
            </p:cNvCxnSpPr>
            <p:nvPr/>
          </p:nvCxnSpPr>
          <p:spPr>
            <a:xfrm flipV="1">
              <a:off x="7731442" y="4278285"/>
              <a:ext cx="646043" cy="523659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Arrow: Curved Right 1">
            <a:extLst>
              <a:ext uri="{FF2B5EF4-FFF2-40B4-BE49-F238E27FC236}">
                <a16:creationId xmlns:a16="http://schemas.microsoft.com/office/drawing/2014/main" id="{AF665A9F-A547-4E58-6D64-16851CE3D35D}"/>
              </a:ext>
            </a:extLst>
          </p:cNvPr>
          <p:cNvSpPr/>
          <p:nvPr/>
        </p:nvSpPr>
        <p:spPr>
          <a:xfrm>
            <a:off x="173894" y="1202220"/>
            <a:ext cx="662012" cy="4068280"/>
          </a:xfrm>
          <a:prstGeom prst="curvedRightArrow">
            <a:avLst>
              <a:gd name="adj1" fmla="val 25000"/>
              <a:gd name="adj2" fmla="val 43763"/>
              <a:gd name="adj3" fmla="val 41261"/>
            </a:avLst>
          </a:prstGeom>
          <a:solidFill>
            <a:schemeClr val="bg2"/>
          </a:solidFill>
          <a:ln>
            <a:solidFill>
              <a:srgbClr val="DCC4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61911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936FA1C-D5F7-24B3-3917-645EA00F050B}"/>
              </a:ext>
            </a:extLst>
          </p:cNvPr>
          <p:cNvSpPr txBox="1"/>
          <p:nvPr/>
        </p:nvSpPr>
        <p:spPr>
          <a:xfrm>
            <a:off x="425885" y="150312"/>
            <a:ext cx="527439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e-Service &gt; Open Account </a:t>
            </a:r>
            <a:r>
              <a:rPr lang="zh-TW" altLang="en-US" sz="2000" b="1" dirty="0"/>
              <a:t>介面認識及處理方法</a:t>
            </a:r>
            <a:endParaRPr lang="en-US" altLang="zh-TW" sz="2000" b="1" dirty="0"/>
          </a:p>
          <a:p>
            <a:r>
              <a:rPr lang="zh-TW" altLang="en-US" sz="2000" b="1" dirty="0"/>
              <a:t>功能鍵介紹</a:t>
            </a:r>
            <a:endParaRPr lang="en-US" sz="2000" b="1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38184FF-D1E4-317A-FF89-A7CA3237D922}"/>
              </a:ext>
            </a:extLst>
          </p:cNvPr>
          <p:cNvGrpSpPr/>
          <p:nvPr/>
        </p:nvGrpSpPr>
        <p:grpSpPr>
          <a:xfrm>
            <a:off x="1199953" y="1247693"/>
            <a:ext cx="9515475" cy="4362613"/>
            <a:chOff x="1238053" y="1290182"/>
            <a:chExt cx="9515475" cy="436261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8DCFF10-A0AF-C7B5-D930-D899E0CA3E3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38053" y="1793809"/>
              <a:ext cx="9515475" cy="234315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FC37F7E-C78E-DF61-0B9C-A6F69E07C7F0}"/>
                </a:ext>
              </a:extLst>
            </p:cNvPr>
            <p:cNvSpPr txBox="1"/>
            <p:nvPr/>
          </p:nvSpPr>
          <p:spPr>
            <a:xfrm>
              <a:off x="1628384" y="1290182"/>
              <a:ext cx="481222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FF0000"/>
                  </a:solidFill>
                </a:rPr>
                <a:t>A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8E1289D-38CF-227D-36C8-E7937F2F5009}"/>
                </a:ext>
              </a:extLst>
            </p:cNvPr>
            <p:cNvSpPr txBox="1"/>
            <p:nvPr/>
          </p:nvSpPr>
          <p:spPr>
            <a:xfrm>
              <a:off x="2632552" y="1517738"/>
              <a:ext cx="32412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B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BD23FD4-FC96-9801-550B-AC13C9E5403B}"/>
                </a:ext>
              </a:extLst>
            </p:cNvPr>
            <p:cNvSpPr txBox="1"/>
            <p:nvPr/>
          </p:nvSpPr>
          <p:spPr>
            <a:xfrm>
              <a:off x="3311044" y="1519826"/>
              <a:ext cx="32092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C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FC6A5EA-7340-B901-B429-09C5D0AB8BE9}"/>
                </a:ext>
              </a:extLst>
            </p:cNvPr>
            <p:cNvSpPr txBox="1"/>
            <p:nvPr/>
          </p:nvSpPr>
          <p:spPr>
            <a:xfrm>
              <a:off x="4099140" y="1518877"/>
              <a:ext cx="320922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dirty="0"/>
                <a:t>D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B6F2AC-E5B1-E5F3-18A9-7A4261270071}"/>
                </a:ext>
              </a:extLst>
            </p:cNvPr>
            <p:cNvSpPr txBox="1"/>
            <p:nvPr/>
          </p:nvSpPr>
          <p:spPr>
            <a:xfrm>
              <a:off x="4775544" y="1525676"/>
              <a:ext cx="320922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dirty="0"/>
                <a:t>E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5A4E9A0-C864-D6E2-8859-C2C9ECE82388}"/>
                </a:ext>
              </a:extLst>
            </p:cNvPr>
            <p:cNvSpPr txBox="1"/>
            <p:nvPr/>
          </p:nvSpPr>
          <p:spPr>
            <a:xfrm>
              <a:off x="1528175" y="4421689"/>
              <a:ext cx="2492990" cy="1231106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000" u="sng" dirty="0">
                  <a:solidFill>
                    <a:srgbClr val="FF0000"/>
                  </a:solidFill>
                </a:rPr>
                <a:t>A – Follow-up Action</a:t>
              </a:r>
            </a:p>
            <a:p>
              <a:endParaRPr lang="en-US" dirty="0"/>
            </a:p>
            <a:p>
              <a:r>
                <a:rPr lang="zh-TW" altLang="en-US" i="1" dirty="0"/>
                <a:t>內部使用</a:t>
              </a:r>
              <a:endParaRPr lang="en-US" altLang="zh-TW" i="1" dirty="0"/>
            </a:p>
            <a:p>
              <a:r>
                <a:rPr lang="zh-TW" altLang="en-US" dirty="0"/>
                <a:t>記錄同事的跟進情況。</a:t>
              </a:r>
              <a:endParaRPr lang="en-US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1EA2CD6-5EA6-5CB2-29D6-8FB58CDAD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B04AD-5EB0-49DF-9047-5419DE7250E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3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936FA1C-D5F7-24B3-3917-645EA00F050B}"/>
              </a:ext>
            </a:extLst>
          </p:cNvPr>
          <p:cNvSpPr txBox="1"/>
          <p:nvPr/>
        </p:nvSpPr>
        <p:spPr>
          <a:xfrm>
            <a:off x="425885" y="150312"/>
            <a:ext cx="527439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e-Service &gt; Open Account </a:t>
            </a:r>
            <a:r>
              <a:rPr lang="zh-TW" altLang="en-US" sz="2000" b="1" dirty="0"/>
              <a:t>介面認識及處理方法</a:t>
            </a:r>
            <a:endParaRPr lang="en-US" altLang="zh-TW" sz="2000" b="1" dirty="0"/>
          </a:p>
          <a:p>
            <a:r>
              <a:rPr lang="zh-TW" altLang="en-US" sz="2000" b="1" dirty="0"/>
              <a:t>功能鍵介紹</a:t>
            </a:r>
            <a:endParaRPr lang="en-US" sz="20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D23FD4-FC96-9801-550B-AC13C9E5403B}"/>
              </a:ext>
            </a:extLst>
          </p:cNvPr>
          <p:cNvSpPr txBox="1"/>
          <p:nvPr/>
        </p:nvSpPr>
        <p:spPr>
          <a:xfrm>
            <a:off x="3336096" y="1382040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BF75AFA-22C1-72F7-1561-5909C3797DC7}"/>
              </a:ext>
            </a:extLst>
          </p:cNvPr>
          <p:cNvGrpSpPr/>
          <p:nvPr/>
        </p:nvGrpSpPr>
        <p:grpSpPr>
          <a:xfrm>
            <a:off x="1262062" y="1154608"/>
            <a:ext cx="9783148" cy="4736180"/>
            <a:chOff x="1262062" y="1154608"/>
            <a:chExt cx="9783148" cy="4736180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5A4E9A0-C864-D6E2-8859-C2C9ECE82388}"/>
                </a:ext>
              </a:extLst>
            </p:cNvPr>
            <p:cNvSpPr txBox="1"/>
            <p:nvPr/>
          </p:nvSpPr>
          <p:spPr>
            <a:xfrm>
              <a:off x="1263173" y="4659682"/>
              <a:ext cx="9782037" cy="1231106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000" u="sng" dirty="0">
                  <a:solidFill>
                    <a:srgbClr val="FF0000"/>
                  </a:solidFill>
                </a:rPr>
                <a:t>B – </a:t>
              </a:r>
              <a:r>
                <a:rPr lang="en-US" sz="2000" u="sng" dirty="0" err="1">
                  <a:solidFill>
                    <a:srgbClr val="FF0000"/>
                  </a:solidFill>
                </a:rPr>
                <a:t>ActionLog</a:t>
              </a:r>
              <a:endParaRPr lang="en-US" sz="2000" u="sng" dirty="0">
                <a:solidFill>
                  <a:srgbClr val="FF0000"/>
                </a:solidFill>
              </a:endParaRPr>
            </a:p>
            <a:p>
              <a:endParaRPr lang="en-US" altLang="zh-TW" dirty="0"/>
            </a:p>
            <a:p>
              <a:r>
                <a:rPr lang="en-US" altLang="zh-TW" dirty="0"/>
                <a:t>1 </a:t>
              </a:r>
              <a:r>
                <a:rPr lang="zh-TW" altLang="en-US" dirty="0"/>
                <a:t>按下</a:t>
              </a:r>
              <a:r>
                <a:rPr lang="en-US" altLang="zh-TW" dirty="0"/>
                <a:t>Accept</a:t>
              </a:r>
              <a:r>
                <a:rPr lang="zh-TW" altLang="en-US" dirty="0"/>
                <a:t>掣後， </a:t>
              </a:r>
              <a:r>
                <a:rPr lang="en-US" altLang="zh-TW" dirty="0" err="1"/>
                <a:t>ActionLog</a:t>
              </a:r>
              <a:r>
                <a:rPr lang="zh-TW" altLang="en-US" dirty="0"/>
                <a:t>會自動記錄該同事的姓名及時間，</a:t>
              </a:r>
              <a:r>
                <a:rPr lang="en-US" altLang="zh-TW" dirty="0"/>
                <a:t>Case Status</a:t>
              </a:r>
              <a:r>
                <a:rPr lang="zh-TW" altLang="en-US" dirty="0"/>
                <a:t>會轉為 </a:t>
              </a:r>
              <a:r>
                <a:rPr lang="en-US" altLang="zh-TW" dirty="0"/>
                <a:t>“In Progress”</a:t>
              </a:r>
            </a:p>
            <a:p>
              <a:r>
                <a:rPr lang="en-US" altLang="zh-TW" dirty="0"/>
                <a:t>2 </a:t>
              </a:r>
              <a:r>
                <a:rPr lang="zh-TW" altLang="en-US" dirty="0"/>
                <a:t>同事在此個案記錄的</a:t>
              </a:r>
              <a:r>
                <a:rPr lang="en-US" altLang="zh-TW" dirty="0"/>
                <a:t>Comment</a:t>
              </a:r>
              <a:r>
                <a:rPr lang="zh-TW" altLang="en-US" dirty="0"/>
                <a:t>，會顯示在此。</a:t>
              </a:r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971EB7E-D3D6-494B-2EEB-388B4F5C3882}"/>
                </a:ext>
              </a:extLst>
            </p:cNvPr>
            <p:cNvGrpSpPr/>
            <p:nvPr/>
          </p:nvGrpSpPr>
          <p:grpSpPr>
            <a:xfrm>
              <a:off x="1262062" y="1154608"/>
              <a:ext cx="9667875" cy="3402840"/>
              <a:chOff x="1262062" y="1580368"/>
              <a:chExt cx="9667875" cy="3402840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FC37F7E-C78E-DF61-0B9C-A6F69E07C7F0}"/>
                  </a:ext>
                </a:extLst>
              </p:cNvPr>
              <p:cNvSpPr txBox="1"/>
              <p:nvPr/>
            </p:nvSpPr>
            <p:spPr>
              <a:xfrm>
                <a:off x="1665962" y="1791222"/>
                <a:ext cx="33374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A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8E1289D-38CF-227D-36C8-E7937F2F5009}"/>
                  </a:ext>
                </a:extLst>
              </p:cNvPr>
              <p:cNvSpPr txBox="1"/>
              <p:nvPr/>
            </p:nvSpPr>
            <p:spPr>
              <a:xfrm>
                <a:off x="2607500" y="1580368"/>
                <a:ext cx="324128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000" dirty="0">
                    <a:solidFill>
                      <a:srgbClr val="FF0000"/>
                    </a:solidFill>
                  </a:rPr>
                  <a:t>B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FC6A5EA-7340-B901-B429-09C5D0AB8BE9}"/>
                  </a:ext>
                </a:extLst>
              </p:cNvPr>
              <p:cNvSpPr txBox="1"/>
              <p:nvPr/>
            </p:nvSpPr>
            <p:spPr>
              <a:xfrm>
                <a:off x="4099140" y="1794449"/>
                <a:ext cx="32092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dirty="0"/>
                  <a:t>D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EB6F2AC-E5B1-E5F3-18A9-7A4261270071}"/>
                  </a:ext>
                </a:extLst>
              </p:cNvPr>
              <p:cNvSpPr txBox="1"/>
              <p:nvPr/>
            </p:nvSpPr>
            <p:spPr>
              <a:xfrm>
                <a:off x="4775544" y="1801248"/>
                <a:ext cx="32092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dirty="0"/>
                  <a:t>E</a:t>
                </a:r>
              </a:p>
            </p:txBody>
          </p:sp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B968F625-D035-3FFC-43C1-D1A7A90E411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262062" y="2182858"/>
                <a:ext cx="9667875" cy="2800350"/>
              </a:xfrm>
              <a:prstGeom prst="rect">
                <a:avLst/>
              </a:prstGeom>
            </p:spPr>
          </p:pic>
        </p:grp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CCFB08-A0CC-24CC-21D6-B1683483F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B04AD-5EB0-49DF-9047-5419DE7250E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0803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936FA1C-D5F7-24B3-3917-645EA00F050B}"/>
              </a:ext>
            </a:extLst>
          </p:cNvPr>
          <p:cNvSpPr txBox="1"/>
          <p:nvPr/>
        </p:nvSpPr>
        <p:spPr>
          <a:xfrm>
            <a:off x="425885" y="150312"/>
            <a:ext cx="527439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e-Service &gt; Open Account </a:t>
            </a:r>
            <a:r>
              <a:rPr lang="zh-TW" altLang="en-US" sz="2000" b="1" dirty="0"/>
              <a:t>介面認識及處理方法</a:t>
            </a:r>
            <a:endParaRPr lang="en-US" altLang="zh-TW" sz="2000" b="1" dirty="0"/>
          </a:p>
          <a:p>
            <a:r>
              <a:rPr lang="zh-TW" altLang="en-US" sz="2000" b="1" dirty="0"/>
              <a:t>功能鍵介紹</a:t>
            </a:r>
            <a:endParaRPr lang="en-US" sz="20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8F5F054-7AF3-30CB-F301-62E7963CCE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945" y="1270798"/>
            <a:ext cx="9496425" cy="18669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E21E6F6-1BD9-2B98-EE58-8C19E3D0DAF4}"/>
              </a:ext>
            </a:extLst>
          </p:cNvPr>
          <p:cNvSpPr txBox="1"/>
          <p:nvPr/>
        </p:nvSpPr>
        <p:spPr>
          <a:xfrm>
            <a:off x="927836" y="924614"/>
            <a:ext cx="3337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C8E3CC-4BCE-E224-9C73-194D3B940986}"/>
              </a:ext>
            </a:extLst>
          </p:cNvPr>
          <p:cNvSpPr txBox="1"/>
          <p:nvPr/>
        </p:nvSpPr>
        <p:spPr>
          <a:xfrm>
            <a:off x="1894426" y="914176"/>
            <a:ext cx="3241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AF7851-6585-B9D6-AE28-008457AE0313}"/>
              </a:ext>
            </a:extLst>
          </p:cNvPr>
          <p:cNvSpPr txBox="1"/>
          <p:nvPr/>
        </p:nvSpPr>
        <p:spPr>
          <a:xfrm>
            <a:off x="2572918" y="715848"/>
            <a:ext cx="4587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</a:rPr>
              <a:t>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3AA4EB-1AF9-4516-381D-3B4DFB44B2B6}"/>
              </a:ext>
            </a:extLst>
          </p:cNvPr>
          <p:cNvSpPr txBox="1"/>
          <p:nvPr/>
        </p:nvSpPr>
        <p:spPr>
          <a:xfrm>
            <a:off x="3361014" y="915315"/>
            <a:ext cx="3209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2CD7A1-6CAF-054D-6A4B-49F76883CF53}"/>
              </a:ext>
            </a:extLst>
          </p:cNvPr>
          <p:cNvSpPr txBox="1"/>
          <p:nvPr/>
        </p:nvSpPr>
        <p:spPr>
          <a:xfrm>
            <a:off x="4037418" y="922114"/>
            <a:ext cx="3209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107324-B820-0E15-39CA-25CE5B8774BF}"/>
              </a:ext>
            </a:extLst>
          </p:cNvPr>
          <p:cNvSpPr txBox="1"/>
          <p:nvPr/>
        </p:nvSpPr>
        <p:spPr>
          <a:xfrm>
            <a:off x="687944" y="4753786"/>
            <a:ext cx="7019870" cy="123110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2000" u="sng" dirty="0">
                <a:solidFill>
                  <a:srgbClr val="FF0000"/>
                </a:solidFill>
              </a:rPr>
              <a:t>C</a:t>
            </a:r>
            <a:r>
              <a:rPr lang="en-US" sz="2000" u="sng" dirty="0">
                <a:solidFill>
                  <a:srgbClr val="FF0000"/>
                </a:solidFill>
              </a:rPr>
              <a:t> – </a:t>
            </a:r>
            <a:r>
              <a:rPr lang="en-US" altLang="zh-TW" sz="2000" u="sng" dirty="0">
                <a:solidFill>
                  <a:srgbClr val="FF0000"/>
                </a:solidFill>
              </a:rPr>
              <a:t>Attachment</a:t>
            </a:r>
            <a:endParaRPr lang="en-US" sz="2000" u="sng" dirty="0">
              <a:solidFill>
                <a:srgbClr val="FF0000"/>
              </a:solidFill>
            </a:endParaRPr>
          </a:p>
          <a:p>
            <a:endParaRPr lang="en-US" altLang="zh-TW" dirty="0"/>
          </a:p>
          <a:p>
            <a:r>
              <a:rPr lang="zh-TW" altLang="en-US" dirty="0"/>
              <a:t>客人上載的文件</a:t>
            </a:r>
            <a:endParaRPr lang="en-US" altLang="zh-TW" dirty="0"/>
          </a:p>
          <a:p>
            <a:r>
              <a:rPr lang="en-US" altLang="zh-TW" dirty="0"/>
              <a:t>(</a:t>
            </a:r>
            <a:r>
              <a:rPr lang="zh-TW" altLang="en-US" dirty="0"/>
              <a:t>由於私隱問題，上載的文件由遞交日起的一個月內可供同事查閱。</a:t>
            </a:r>
            <a:r>
              <a:rPr lang="en-US" altLang="zh-TW" dirty="0"/>
              <a:t>)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3EBD41-0B12-B6CC-75A5-93B0490C1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77887" y="6243808"/>
            <a:ext cx="2743200" cy="365125"/>
          </a:xfrm>
        </p:spPr>
        <p:txBody>
          <a:bodyPr/>
          <a:lstStyle/>
          <a:p>
            <a:fld id="{941B04AD-5EB0-49DF-9047-5419DE7250E3}" type="slidenum">
              <a:rPr lang="en-US" smtClean="0"/>
              <a:t>9</a:t>
            </a:fld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8237" y="3113191"/>
            <a:ext cx="5071083" cy="1523549"/>
          </a:xfrm>
          <a:prstGeom prst="rect">
            <a:avLst/>
          </a:prstGeom>
          <a:solidFill>
            <a:srgbClr val="CC00FF"/>
          </a:solidFill>
          <a:ln>
            <a:solidFill>
              <a:srgbClr val="CC00FF"/>
            </a:solidFill>
          </a:ln>
        </p:spPr>
      </p:pic>
      <p:sp>
        <p:nvSpPr>
          <p:cNvPr id="16" name="Curved Left Arrow 15"/>
          <p:cNvSpPr/>
          <p:nvPr/>
        </p:nvSpPr>
        <p:spPr>
          <a:xfrm>
            <a:off x="6625250" y="2076124"/>
            <a:ext cx="817067" cy="2101982"/>
          </a:xfrm>
          <a:prstGeom prst="curvedLeftArrow">
            <a:avLst/>
          </a:prstGeom>
          <a:solidFill>
            <a:srgbClr val="CC00FF"/>
          </a:solidFill>
          <a:ln>
            <a:solidFill>
              <a:srgbClr val="CC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2" name="Group 11"/>
          <p:cNvGrpSpPr/>
          <p:nvPr/>
        </p:nvGrpSpPr>
        <p:grpSpPr>
          <a:xfrm>
            <a:off x="7051623" y="1633343"/>
            <a:ext cx="4569464" cy="3450485"/>
            <a:chOff x="7938628" y="3038399"/>
            <a:chExt cx="4569464" cy="3450485"/>
          </a:xfrm>
        </p:grpSpPr>
        <p:sp>
          <p:nvSpPr>
            <p:cNvPr id="10" name="Explosion 2 9"/>
            <p:cNvSpPr/>
            <p:nvPr/>
          </p:nvSpPr>
          <p:spPr>
            <a:xfrm rot="948430">
              <a:off x="7938628" y="3038399"/>
              <a:ext cx="4569464" cy="3450485"/>
            </a:xfrm>
            <a:prstGeom prst="irregularSeal2">
              <a:avLst/>
            </a:prstGeom>
            <a:solidFill>
              <a:srgbClr val="FFFF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/>
            <p:cNvSpPr txBox="1"/>
            <p:nvPr/>
          </p:nvSpPr>
          <p:spPr>
            <a:xfrm rot="948430">
              <a:off x="8757339" y="4039358"/>
              <a:ext cx="2622062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u="sng" dirty="0">
                  <a:solidFill>
                    <a:srgbClr val="FF0000"/>
                  </a:solidFill>
                </a:rPr>
                <a:t>注意 </a:t>
              </a:r>
              <a:r>
                <a:rPr lang="en-US" altLang="zh-TW" u="sng" dirty="0">
                  <a:solidFill>
                    <a:srgbClr val="FF0000"/>
                  </a:solidFill>
                </a:rPr>
                <a:t>: </a:t>
              </a:r>
            </a:p>
            <a:p>
              <a:r>
                <a:rPr lang="zh-TW" altLang="en-US" dirty="0">
                  <a:solidFill>
                    <a:srgbClr val="FF0000"/>
                  </a:solidFill>
                </a:rPr>
                <a:t>當文件中沒有附帶 </a:t>
              </a:r>
              <a:r>
                <a:rPr lang="en-US" altLang="zh-TW" dirty="0">
                  <a:solidFill>
                    <a:srgbClr val="FF0000"/>
                  </a:solidFill>
                </a:rPr>
                <a:t>“</a:t>
              </a:r>
              <a:r>
                <a:rPr lang="zh-TW" altLang="en-US" dirty="0">
                  <a:solidFill>
                    <a:srgbClr val="FF0000"/>
                  </a:solidFill>
                </a:rPr>
                <a:t>身份證</a:t>
              </a:r>
              <a:r>
                <a:rPr lang="en-US" altLang="zh-TW" dirty="0">
                  <a:solidFill>
                    <a:srgbClr val="FF0000"/>
                  </a:solidFill>
                </a:rPr>
                <a:t>”</a:t>
              </a:r>
              <a:r>
                <a:rPr lang="zh-TW" altLang="en-US" dirty="0">
                  <a:solidFill>
                    <a:srgbClr val="FF0000"/>
                  </a:solidFill>
                </a:rPr>
                <a:t>副本時，必須留意人客是否已</a:t>
              </a:r>
              <a:r>
                <a:rPr lang="zh-TW" altLang="en-US" b="1" dirty="0">
                  <a:solidFill>
                    <a:srgbClr val="FF0000"/>
                  </a:solidFill>
                </a:rPr>
                <a:t> </a:t>
              </a:r>
              <a:r>
                <a:rPr lang="en-US" altLang="zh-TW" b="1" dirty="0">
                  <a:solidFill>
                    <a:srgbClr val="FF0000"/>
                  </a:solidFill>
                </a:rPr>
                <a:t>“</a:t>
              </a:r>
              <a:r>
                <a:rPr lang="en-US" b="1" dirty="0" err="1">
                  <a:solidFill>
                    <a:srgbClr val="FF0000"/>
                  </a:solidFill>
                </a:rPr>
                <a:t>iAM</a:t>
              </a:r>
              <a:r>
                <a:rPr lang="en-US" b="1" dirty="0">
                  <a:solidFill>
                    <a:srgbClr val="FF0000"/>
                  </a:solidFill>
                </a:rPr>
                <a:t> Smart -</a:t>
              </a:r>
              <a:r>
                <a:rPr lang="zh-TW" altLang="en-US" b="1" dirty="0">
                  <a:solidFill>
                    <a:srgbClr val="FF0000"/>
                  </a:solidFill>
                </a:rPr>
                <a:t>智方便</a:t>
              </a:r>
              <a:r>
                <a:rPr lang="en-US" altLang="zh-TW" b="1" dirty="0">
                  <a:solidFill>
                    <a:srgbClr val="FF0000"/>
                  </a:solidFill>
                </a:rPr>
                <a:t>”</a:t>
              </a:r>
              <a:r>
                <a:rPr lang="zh-TW" altLang="en-US" dirty="0">
                  <a:solidFill>
                    <a:srgbClr val="FF0000"/>
                  </a:solidFill>
                </a:rPr>
                <a:t> 形式提交。</a:t>
              </a:r>
              <a:r>
                <a:rPr lang="en-US" altLang="zh-TW" dirty="0">
                  <a:solidFill>
                    <a:srgbClr val="FF0000"/>
                  </a:solidFill>
                </a:rPr>
                <a:t> 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180545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936FA1C-D5F7-24B3-3917-645EA00F050B}"/>
              </a:ext>
            </a:extLst>
          </p:cNvPr>
          <p:cNvSpPr txBox="1"/>
          <p:nvPr/>
        </p:nvSpPr>
        <p:spPr>
          <a:xfrm>
            <a:off x="425885" y="150312"/>
            <a:ext cx="527439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e-Service &gt; Open Account </a:t>
            </a:r>
            <a:r>
              <a:rPr lang="zh-TW" altLang="en-US" sz="2000" b="1" dirty="0"/>
              <a:t>介面認識及處理方法</a:t>
            </a:r>
            <a:endParaRPr lang="en-US" altLang="zh-TW" sz="2000" b="1" dirty="0"/>
          </a:p>
          <a:p>
            <a:r>
              <a:rPr lang="zh-TW" altLang="en-US" sz="2000" b="1" dirty="0"/>
              <a:t>功能鍵介紹</a:t>
            </a:r>
            <a:endParaRPr lang="en-US" sz="2000" b="1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B68800B-DD75-46BA-7A45-5222A29F319B}"/>
              </a:ext>
            </a:extLst>
          </p:cNvPr>
          <p:cNvGrpSpPr/>
          <p:nvPr/>
        </p:nvGrpSpPr>
        <p:grpSpPr>
          <a:xfrm>
            <a:off x="1465685" y="1205723"/>
            <a:ext cx="3430504" cy="707886"/>
            <a:chOff x="1378002" y="3585667"/>
            <a:chExt cx="3430504" cy="707886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056519F0-AA76-9DBF-FE6C-CA349D0C626B}"/>
                </a:ext>
              </a:extLst>
            </p:cNvPr>
            <p:cNvSpPr txBox="1"/>
            <p:nvPr/>
          </p:nvSpPr>
          <p:spPr>
            <a:xfrm>
              <a:off x="1378002" y="3832960"/>
              <a:ext cx="3337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A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4441A3DC-ACB7-0594-D776-4730B3FAB83D}"/>
                </a:ext>
              </a:extLst>
            </p:cNvPr>
            <p:cNvSpPr txBox="1"/>
            <p:nvPr/>
          </p:nvSpPr>
          <p:spPr>
            <a:xfrm>
              <a:off x="2344592" y="3822522"/>
              <a:ext cx="32412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B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792D7FC-D15B-7103-803B-BD0552A47DF7}"/>
                </a:ext>
              </a:extLst>
            </p:cNvPr>
            <p:cNvSpPr txBox="1"/>
            <p:nvPr/>
          </p:nvSpPr>
          <p:spPr>
            <a:xfrm>
              <a:off x="3023084" y="3824610"/>
              <a:ext cx="32092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C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AADC6E0-2E23-391F-A1A7-14CF16BEEE47}"/>
                </a:ext>
              </a:extLst>
            </p:cNvPr>
            <p:cNvSpPr txBox="1"/>
            <p:nvPr/>
          </p:nvSpPr>
          <p:spPr>
            <a:xfrm>
              <a:off x="3710972" y="3585667"/>
              <a:ext cx="320922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000" dirty="0">
                  <a:solidFill>
                    <a:srgbClr val="FF0000"/>
                  </a:solidFill>
                </a:rPr>
                <a:t>D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6E8EBE3-3406-23B5-94CF-4F49070BC986}"/>
                </a:ext>
              </a:extLst>
            </p:cNvPr>
            <p:cNvSpPr txBox="1"/>
            <p:nvPr/>
          </p:nvSpPr>
          <p:spPr>
            <a:xfrm>
              <a:off x="4487584" y="3830460"/>
              <a:ext cx="320922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dirty="0"/>
                <a:t>E</a:t>
              </a:r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D7018FBB-0B50-03A2-AF6F-C191E0828D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437" y="1767532"/>
            <a:ext cx="9639300" cy="22098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EE4C324-235D-1F15-4E17-36BDBA6B8333}"/>
              </a:ext>
            </a:extLst>
          </p:cNvPr>
          <p:cNvSpPr txBox="1"/>
          <p:nvPr/>
        </p:nvSpPr>
        <p:spPr>
          <a:xfrm>
            <a:off x="1136677" y="3908757"/>
            <a:ext cx="9139810" cy="233910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2000" u="sng" dirty="0">
                <a:solidFill>
                  <a:srgbClr val="FF0000"/>
                </a:solidFill>
              </a:rPr>
              <a:t>D</a:t>
            </a:r>
            <a:r>
              <a:rPr lang="en-US" sz="2000" u="sng" dirty="0">
                <a:solidFill>
                  <a:srgbClr val="FF0000"/>
                </a:solidFill>
              </a:rPr>
              <a:t> – </a:t>
            </a:r>
            <a:r>
              <a:rPr lang="en-US" altLang="zh-TW" sz="2000" u="sng" dirty="0">
                <a:solidFill>
                  <a:srgbClr val="FF0000"/>
                </a:solidFill>
              </a:rPr>
              <a:t>Footnote (</a:t>
            </a:r>
            <a:r>
              <a:rPr lang="zh-TW" altLang="en-US" dirty="0">
                <a:solidFill>
                  <a:srgbClr val="FF0000"/>
                </a:solidFill>
              </a:rPr>
              <a:t>**不建議使用**</a:t>
            </a:r>
            <a:r>
              <a:rPr lang="en-US" altLang="zh-TW" sz="2000" u="sng" dirty="0">
                <a:solidFill>
                  <a:srgbClr val="FF0000"/>
                </a:solidFill>
              </a:rPr>
              <a:t>)</a:t>
            </a:r>
            <a:endParaRPr lang="en-US" sz="2000" u="sng" dirty="0">
              <a:solidFill>
                <a:srgbClr val="FF0000"/>
              </a:solidFill>
            </a:endParaRPr>
          </a:p>
          <a:p>
            <a:endParaRPr lang="en-US" altLang="zh-TW" dirty="0"/>
          </a:p>
          <a:p>
            <a:r>
              <a:rPr lang="zh-TW" altLang="en-US" i="1" dirty="0"/>
              <a:t>供客人閱讀</a:t>
            </a:r>
            <a:endParaRPr lang="en-US" altLang="zh-TW" i="1" dirty="0"/>
          </a:p>
          <a:p>
            <a:r>
              <a:rPr lang="zh-TW" altLang="en-US" dirty="0"/>
              <a:t>如同事有任何訊息需要與客人聯繫，可利用 </a:t>
            </a:r>
            <a:r>
              <a:rPr lang="en-US" altLang="zh-TW" dirty="0"/>
              <a:t>“Footnote”</a:t>
            </a:r>
          </a:p>
          <a:p>
            <a:endParaRPr lang="en-US" altLang="zh-TW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/>
              <a:t>留意</a:t>
            </a:r>
            <a:r>
              <a:rPr lang="en-US" altLang="zh-TW" dirty="0"/>
              <a:t>“Footnote”</a:t>
            </a:r>
            <a:r>
              <a:rPr lang="zh-TW" altLang="en-US" dirty="0"/>
              <a:t>訊息發出後，</a:t>
            </a:r>
            <a:r>
              <a:rPr lang="zh-TW" altLang="en-US" dirty="0">
                <a:solidFill>
                  <a:srgbClr val="FF0000"/>
                </a:solidFill>
              </a:rPr>
              <a:t>客人不會收到任何電郵通知</a:t>
            </a:r>
            <a:r>
              <a:rPr lang="zh-TW" altLang="en-US" dirty="0"/>
              <a:t>，相關訊息只記錄在網站內，</a:t>
            </a:r>
            <a:endParaRPr lang="en-US" altLang="zh-TW" dirty="0"/>
          </a:p>
          <a:p>
            <a:r>
              <a:rPr lang="zh-TW" altLang="en-US" dirty="0"/>
              <a:t>      客人需點擊確認電郵連結，登入個案查看。</a:t>
            </a:r>
            <a:endParaRPr lang="en-US" altLang="zh-TW" dirty="0"/>
          </a:p>
          <a:p>
            <a:endParaRPr lang="en-US" altLang="zh-TW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6450753-C094-D826-889E-ACCF2580EE0B}"/>
              </a:ext>
            </a:extLst>
          </p:cNvPr>
          <p:cNvGrpSpPr/>
          <p:nvPr/>
        </p:nvGrpSpPr>
        <p:grpSpPr>
          <a:xfrm>
            <a:off x="1099099" y="2055431"/>
            <a:ext cx="10231354" cy="1787623"/>
            <a:chOff x="1099099" y="2055431"/>
            <a:chExt cx="10231354" cy="1787623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01F2A9C-326F-CA9A-8E0E-5B06A68051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36176" y="2055431"/>
              <a:ext cx="5994277" cy="1787623"/>
            </a:xfrm>
            <a:prstGeom prst="rect">
              <a:avLst/>
            </a:prstGeom>
          </p:spPr>
        </p:pic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8B9DC391-B8B9-AE09-CB53-96ABE23CB3AF}"/>
                </a:ext>
              </a:extLst>
            </p:cNvPr>
            <p:cNvSpPr/>
            <p:nvPr/>
          </p:nvSpPr>
          <p:spPr>
            <a:xfrm>
              <a:off x="1099099" y="3383747"/>
              <a:ext cx="1554607" cy="400111"/>
            </a:xfrm>
            <a:prstGeom prst="round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1DBA0F88-5DB1-FDE9-5B26-7910302C92A5}"/>
                </a:ext>
              </a:extLst>
            </p:cNvPr>
            <p:cNvCxnSpPr>
              <a:cxnSpLocks/>
              <a:stCxn id="10" idx="3"/>
            </p:cNvCxnSpPr>
            <p:nvPr/>
          </p:nvCxnSpPr>
          <p:spPr>
            <a:xfrm flipV="1">
              <a:off x="2653706" y="2949243"/>
              <a:ext cx="2682470" cy="634560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35D51D2-34D2-11B9-C382-F80A9B7A9AB8}"/>
                </a:ext>
              </a:extLst>
            </p:cNvPr>
            <p:cNvSpPr txBox="1"/>
            <p:nvPr/>
          </p:nvSpPr>
          <p:spPr>
            <a:xfrm>
              <a:off x="6989523" y="2592888"/>
              <a:ext cx="2492990" cy="369332"/>
            </a:xfrm>
            <a:prstGeom prst="rect">
              <a:avLst/>
            </a:prstGeom>
            <a:solidFill>
              <a:srgbClr val="DBFFB7"/>
            </a:solidFill>
            <a:ln>
              <a:solidFill>
                <a:schemeClr val="bg1">
                  <a:lumMod val="6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zh-TW" altLang="en-US" dirty="0"/>
                <a:t>輸入給客人的文字訊息</a:t>
              </a:r>
              <a:endParaRPr lang="en-US" dirty="0"/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C101F4FB-7B45-D9DA-ECD0-26AB08EDA963}"/>
                </a:ext>
              </a:extLst>
            </p:cNvPr>
            <p:cNvSpPr/>
            <p:nvPr/>
          </p:nvSpPr>
          <p:spPr>
            <a:xfrm>
              <a:off x="6438019" y="3396273"/>
              <a:ext cx="939812" cy="362533"/>
            </a:xfrm>
            <a:prstGeom prst="round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C422613-C234-18E1-A9F7-E1D817B6D2A2}"/>
                </a:ext>
              </a:extLst>
            </p:cNvPr>
            <p:cNvSpPr txBox="1"/>
            <p:nvPr/>
          </p:nvSpPr>
          <p:spPr>
            <a:xfrm>
              <a:off x="1697480" y="3049867"/>
              <a:ext cx="31451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000" dirty="0">
                  <a:solidFill>
                    <a:srgbClr val="FF0000"/>
                  </a:solidFill>
                </a:rPr>
                <a:t>1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0B83D12-9B7D-49D3-988A-396E29EB50FC}"/>
                </a:ext>
              </a:extLst>
            </p:cNvPr>
            <p:cNvSpPr txBox="1"/>
            <p:nvPr/>
          </p:nvSpPr>
          <p:spPr>
            <a:xfrm>
              <a:off x="6647338" y="2575967"/>
              <a:ext cx="31451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000" dirty="0">
                  <a:solidFill>
                    <a:srgbClr val="FF0000"/>
                  </a:solidFill>
                </a:rPr>
                <a:t>2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B7940C6-A49D-034B-600C-3A6370D3AF22}"/>
                </a:ext>
              </a:extLst>
            </p:cNvPr>
            <p:cNvSpPr txBox="1"/>
            <p:nvPr/>
          </p:nvSpPr>
          <p:spPr>
            <a:xfrm>
              <a:off x="6799738" y="3082757"/>
              <a:ext cx="5608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000" dirty="0">
                  <a:solidFill>
                    <a:srgbClr val="FF0000"/>
                  </a:solidFill>
                </a:rPr>
                <a:t>3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3BE3350C-ECB8-E6E6-4D8F-789F10D61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941B04AD-5EB0-49DF-9047-5419DE7250E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5777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936FA1C-D5F7-24B3-3917-645EA00F050B}"/>
              </a:ext>
            </a:extLst>
          </p:cNvPr>
          <p:cNvSpPr txBox="1"/>
          <p:nvPr/>
        </p:nvSpPr>
        <p:spPr>
          <a:xfrm>
            <a:off x="425885" y="150312"/>
            <a:ext cx="521668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e-Service &gt; Open Account</a:t>
            </a:r>
            <a:r>
              <a:rPr lang="zh-TW" altLang="en-US" sz="2000" b="1" dirty="0"/>
              <a:t>介面認識及處理方法</a:t>
            </a:r>
            <a:endParaRPr lang="en-US" altLang="zh-TW" sz="2000" b="1" dirty="0"/>
          </a:p>
          <a:p>
            <a:r>
              <a:rPr lang="zh-TW" altLang="en-US" sz="2000" b="1" dirty="0"/>
              <a:t>功能鍵介紹</a:t>
            </a:r>
            <a:endParaRPr lang="en-US" sz="2000" b="1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CFDB522-75A9-4488-DB29-CE3122F8279A}"/>
              </a:ext>
            </a:extLst>
          </p:cNvPr>
          <p:cNvGrpSpPr/>
          <p:nvPr/>
        </p:nvGrpSpPr>
        <p:grpSpPr>
          <a:xfrm>
            <a:off x="599745" y="685800"/>
            <a:ext cx="9572625" cy="3873876"/>
            <a:chOff x="575731" y="623804"/>
            <a:chExt cx="9572625" cy="4216918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A749D42-6313-4C55-7118-5A40ACAA405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75731" y="1040247"/>
              <a:ext cx="9572625" cy="3800475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7F9AB3D-BE89-E08B-2F51-34DDFF8DE35C}"/>
                </a:ext>
              </a:extLst>
            </p:cNvPr>
            <p:cNvSpPr txBox="1"/>
            <p:nvPr/>
          </p:nvSpPr>
          <p:spPr>
            <a:xfrm>
              <a:off x="1002222" y="839246"/>
              <a:ext cx="3337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A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115E1A0-D1C0-E9A2-4DA6-0FBEC160B4EE}"/>
                </a:ext>
              </a:extLst>
            </p:cNvPr>
            <p:cNvSpPr txBox="1"/>
            <p:nvPr/>
          </p:nvSpPr>
          <p:spPr>
            <a:xfrm>
              <a:off x="1968812" y="828808"/>
              <a:ext cx="32412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B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B58653C-0483-2761-D7C5-B1C9EDDD1991}"/>
                </a:ext>
              </a:extLst>
            </p:cNvPr>
            <p:cNvSpPr txBox="1"/>
            <p:nvPr/>
          </p:nvSpPr>
          <p:spPr>
            <a:xfrm>
              <a:off x="2697408" y="830896"/>
              <a:ext cx="32092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C</a:t>
              </a:r>
              <a:endParaRPr lang="en-US" sz="3600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5D57907-0CDE-BA0B-0A44-2F46259C55DA}"/>
                </a:ext>
              </a:extLst>
            </p:cNvPr>
            <p:cNvSpPr txBox="1"/>
            <p:nvPr/>
          </p:nvSpPr>
          <p:spPr>
            <a:xfrm>
              <a:off x="3435400" y="829947"/>
              <a:ext cx="320922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dirty="0"/>
                <a:t>D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AC6693E-4695-72C3-5AFA-0A08A1916237}"/>
                </a:ext>
              </a:extLst>
            </p:cNvPr>
            <p:cNvSpPr txBox="1"/>
            <p:nvPr/>
          </p:nvSpPr>
          <p:spPr>
            <a:xfrm>
              <a:off x="4099278" y="623804"/>
              <a:ext cx="320922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000" dirty="0">
                  <a:solidFill>
                    <a:srgbClr val="FF0000"/>
                  </a:solidFill>
                </a:rPr>
                <a:t>E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1C5CC736-96C5-E669-C9A4-D51D93F1313D}"/>
              </a:ext>
            </a:extLst>
          </p:cNvPr>
          <p:cNvSpPr txBox="1"/>
          <p:nvPr/>
        </p:nvSpPr>
        <p:spPr>
          <a:xfrm>
            <a:off x="2469002" y="3066180"/>
            <a:ext cx="5212481" cy="584775"/>
          </a:xfrm>
          <a:prstGeom prst="rect">
            <a:avLst/>
          </a:prstGeom>
          <a:solidFill>
            <a:srgbClr val="DBFFB7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sz="1600" dirty="0"/>
              <a:t>如文件</a:t>
            </a:r>
            <a:r>
              <a:rPr lang="en-US" altLang="zh-TW" sz="1600" dirty="0"/>
              <a:t>/</a:t>
            </a:r>
            <a:r>
              <a:rPr lang="zh-TW" altLang="en-US" sz="1600" dirty="0"/>
              <a:t>資料不足，同事可透過 </a:t>
            </a:r>
            <a:r>
              <a:rPr lang="en-US" altLang="zh-TW" sz="1600" dirty="0"/>
              <a:t>[Request Document]</a:t>
            </a:r>
            <a:r>
              <a:rPr lang="zh-TW" altLang="en-US" sz="1600" dirty="0"/>
              <a:t>按鈕，以電郵方式通知客人</a:t>
            </a:r>
            <a:endParaRPr lang="en-US" sz="1600" dirty="0">
              <a:solidFill>
                <a:srgbClr val="0070C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4605CB-9026-03FE-F8A3-C789889AB6AE}"/>
              </a:ext>
            </a:extLst>
          </p:cNvPr>
          <p:cNvSpPr txBox="1"/>
          <p:nvPr/>
        </p:nvSpPr>
        <p:spPr>
          <a:xfrm>
            <a:off x="5075243" y="884355"/>
            <a:ext cx="6559378" cy="1785104"/>
          </a:xfrm>
          <a:prstGeom prst="rect">
            <a:avLst/>
          </a:prstGeom>
          <a:solidFill>
            <a:schemeClr val="bg1"/>
          </a:solidFill>
          <a:ln w="28575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sz="2000" u="sng" dirty="0">
                <a:solidFill>
                  <a:srgbClr val="FF0000"/>
                </a:solidFill>
              </a:rPr>
              <a:t>E – Feedback – </a:t>
            </a:r>
            <a:r>
              <a:rPr lang="zh-TW" altLang="en-US" sz="2000" u="sng" dirty="0">
                <a:solidFill>
                  <a:srgbClr val="FF0000"/>
                </a:solidFill>
              </a:rPr>
              <a:t>資料不足</a:t>
            </a:r>
            <a:endParaRPr lang="en-US" altLang="zh-TW" sz="2000" u="sng" dirty="0">
              <a:solidFill>
                <a:srgbClr val="FF0000"/>
              </a:solidFill>
            </a:endParaRPr>
          </a:p>
          <a:p>
            <a:endParaRPr lang="en-US" altLang="zh-TW" u="sng" dirty="0"/>
          </a:p>
          <a:p>
            <a:r>
              <a:rPr lang="zh-TW" altLang="en-US" dirty="0"/>
              <a:t>如資料</a:t>
            </a:r>
            <a:r>
              <a:rPr lang="en-US" altLang="zh-TW" dirty="0"/>
              <a:t>/</a:t>
            </a:r>
            <a:r>
              <a:rPr lang="zh-TW" altLang="en-US" dirty="0"/>
              <a:t>文件不足，同事可透過</a:t>
            </a:r>
            <a:r>
              <a:rPr lang="en-US" altLang="zh-TW" dirty="0"/>
              <a:t>Case ID </a:t>
            </a:r>
            <a:r>
              <a:rPr lang="zh-TW" altLang="en-US" dirty="0"/>
              <a:t>發送電郵給客人，電郵發出後</a:t>
            </a:r>
            <a:r>
              <a:rPr lang="en-US" altLang="zh-TW" dirty="0"/>
              <a:t>Case Status</a:t>
            </a:r>
            <a:r>
              <a:rPr lang="zh-TW" altLang="en-US" dirty="0"/>
              <a:t>會轉為 </a:t>
            </a:r>
            <a:r>
              <a:rPr lang="en-US" altLang="zh-TW" dirty="0"/>
              <a:t>“Document Wait”</a:t>
            </a:r>
            <a:r>
              <a:rPr lang="zh-TW" altLang="en-US" dirty="0"/>
              <a:t>，而 </a:t>
            </a:r>
            <a:r>
              <a:rPr lang="en-US" altLang="zh-TW" dirty="0"/>
              <a:t>“Request Document”</a:t>
            </a:r>
          </a:p>
          <a:p>
            <a:r>
              <a:rPr lang="zh-TW" altLang="en-US" dirty="0"/>
              <a:t>按鈕亦會消失。</a:t>
            </a:r>
            <a:endParaRPr lang="en-US" dirty="0"/>
          </a:p>
          <a:p>
            <a:r>
              <a:rPr lang="zh-TW" altLang="en-US" dirty="0"/>
              <a:t>透過</a:t>
            </a:r>
            <a:r>
              <a:rPr lang="en-US" altLang="zh-TW" dirty="0"/>
              <a:t>Feedback</a:t>
            </a:r>
            <a:r>
              <a:rPr lang="zh-TW" altLang="en-US" dirty="0"/>
              <a:t>查看同事發出的電郵內容及客人的回覆資料</a:t>
            </a:r>
            <a:r>
              <a:rPr lang="en-US" altLang="zh-TW" dirty="0"/>
              <a:t>(</a:t>
            </a:r>
            <a:r>
              <a:rPr lang="zh-TW" altLang="en-US" dirty="0"/>
              <a:t>如有</a:t>
            </a:r>
            <a:r>
              <a:rPr lang="en-US" altLang="zh-TW" dirty="0"/>
              <a:t>)</a:t>
            </a:r>
            <a:r>
              <a:rPr lang="zh-TW" altLang="en-US" dirty="0"/>
              <a:t>。</a:t>
            </a:r>
            <a:endParaRPr lang="en-US" altLang="zh-TW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4571CB5-E03E-0084-95F5-6BAB2A5E5D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0200" y="4249884"/>
            <a:ext cx="6688009" cy="255528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D4FE960-DFC7-B38F-133E-C9F7F9CC9CA0}"/>
              </a:ext>
            </a:extLst>
          </p:cNvPr>
          <p:cNvSpPr txBox="1"/>
          <p:nvPr/>
        </p:nvSpPr>
        <p:spPr>
          <a:xfrm>
            <a:off x="5932708" y="5053322"/>
            <a:ext cx="3209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>
                <a:solidFill>
                  <a:srgbClr val="FF0000"/>
                </a:solidFill>
              </a:rPr>
              <a:t>2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499F6B1-5980-69FA-9A0F-53D107C6C339}"/>
              </a:ext>
            </a:extLst>
          </p:cNvPr>
          <p:cNvSpPr txBox="1"/>
          <p:nvPr/>
        </p:nvSpPr>
        <p:spPr>
          <a:xfrm flipH="1">
            <a:off x="5967619" y="5819496"/>
            <a:ext cx="2828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>
                <a:solidFill>
                  <a:srgbClr val="FF0000"/>
                </a:solidFill>
              </a:rPr>
              <a:t>3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FB49000-EA81-DAAA-6B1B-37A09BDE5C9B}"/>
              </a:ext>
            </a:extLst>
          </p:cNvPr>
          <p:cNvSpPr txBox="1"/>
          <p:nvPr/>
        </p:nvSpPr>
        <p:spPr>
          <a:xfrm flipH="1">
            <a:off x="6701420" y="6360028"/>
            <a:ext cx="1014612" cy="400110"/>
          </a:xfrm>
          <a:prstGeom prst="rect">
            <a:avLst/>
          </a:prstGeom>
          <a:solidFill>
            <a:srgbClr val="DBFFB7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sz="2000" dirty="0">
                <a:solidFill>
                  <a:srgbClr val="FF0000"/>
                </a:solidFill>
              </a:rPr>
              <a:t>4 </a:t>
            </a:r>
            <a:r>
              <a:rPr lang="en-US" altLang="zh-TW" sz="1600" dirty="0"/>
              <a:t>[Send]</a:t>
            </a:r>
            <a:endParaRPr lang="en-US" sz="1600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D6948D3-2657-DA08-1E31-80F0B9E6C7E0}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3756322" y="4284951"/>
            <a:ext cx="2176386" cy="968426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B9F0C0D-0C2B-300A-406F-5CDAF3EC1421}"/>
              </a:ext>
            </a:extLst>
          </p:cNvPr>
          <p:cNvSpPr txBox="1"/>
          <p:nvPr/>
        </p:nvSpPr>
        <p:spPr>
          <a:xfrm>
            <a:off x="6300523" y="5284155"/>
            <a:ext cx="4164923" cy="338554"/>
          </a:xfrm>
          <a:prstGeom prst="rect">
            <a:avLst/>
          </a:prstGeom>
          <a:solidFill>
            <a:srgbClr val="DBFFB7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1600" dirty="0"/>
              <a:t>“Description” </a:t>
            </a:r>
            <a:r>
              <a:rPr lang="zh-TW" altLang="en-US" sz="1600" dirty="0"/>
              <a:t>內</a:t>
            </a:r>
            <a:r>
              <a:rPr lang="zh-TW" altLang="en-US" sz="1600" b="1" dirty="0">
                <a:solidFill>
                  <a:srgbClr val="FF0000"/>
                </a:solidFill>
              </a:rPr>
              <a:t>必須</a:t>
            </a:r>
            <a:r>
              <a:rPr lang="zh-TW" altLang="en-US" sz="1600" dirty="0"/>
              <a:t>輸入給予客人閱讀的訊息</a:t>
            </a:r>
            <a:endParaRPr lang="en-US" sz="16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2BA6948-00E9-2347-45BB-490FFC3BF708}"/>
              </a:ext>
            </a:extLst>
          </p:cNvPr>
          <p:cNvSpPr txBox="1"/>
          <p:nvPr/>
        </p:nvSpPr>
        <p:spPr>
          <a:xfrm>
            <a:off x="7843860" y="5916685"/>
            <a:ext cx="3480306" cy="338554"/>
          </a:xfrm>
          <a:prstGeom prst="rect">
            <a:avLst/>
          </a:prstGeom>
          <a:solidFill>
            <a:srgbClr val="DBFFB7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TW" sz="1600" dirty="0"/>
              <a:t>“Document Request”</a:t>
            </a:r>
            <a:r>
              <a:rPr lang="zh-TW" altLang="en-US" sz="1600" dirty="0"/>
              <a:t>內剔選相關事項</a:t>
            </a:r>
            <a:endParaRPr lang="en-US" sz="1600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3342393-B3D1-B8F0-E03E-AD6C68DB8570}"/>
              </a:ext>
            </a:extLst>
          </p:cNvPr>
          <p:cNvSpPr/>
          <p:nvPr/>
        </p:nvSpPr>
        <p:spPr>
          <a:xfrm>
            <a:off x="2291554" y="3774712"/>
            <a:ext cx="1464419" cy="40011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00F17AA-6F64-75C9-51F1-B40FABC6B9A2}"/>
              </a:ext>
            </a:extLst>
          </p:cNvPr>
          <p:cNvSpPr txBox="1"/>
          <p:nvPr/>
        </p:nvSpPr>
        <p:spPr>
          <a:xfrm>
            <a:off x="2066350" y="3436289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1</a:t>
            </a:r>
            <a:endParaRPr lang="en-US" sz="2000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5FE67CB-6C5F-B75D-DC46-FFA7592C9D3A}"/>
              </a:ext>
            </a:extLst>
          </p:cNvPr>
          <p:cNvGrpSpPr/>
          <p:nvPr/>
        </p:nvGrpSpPr>
        <p:grpSpPr>
          <a:xfrm>
            <a:off x="316771" y="4745888"/>
            <a:ext cx="3891750" cy="1998931"/>
            <a:chOff x="301158" y="5189412"/>
            <a:chExt cx="3569917" cy="166942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2084427-7BA6-F62B-EABD-F9870330DDD4}"/>
                </a:ext>
              </a:extLst>
            </p:cNvPr>
            <p:cNvSpPr txBox="1"/>
            <p:nvPr/>
          </p:nvSpPr>
          <p:spPr>
            <a:xfrm>
              <a:off x="301158" y="5625033"/>
              <a:ext cx="3569917" cy="1233804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zh-TW" altLang="en-US" dirty="0"/>
                <a:t>向客人發送電郵後，必須在</a:t>
              </a:r>
              <a:r>
                <a:rPr lang="en-US" altLang="zh-TW" dirty="0"/>
                <a:t>Siebel</a:t>
              </a:r>
              <a:r>
                <a:rPr lang="zh-TW" altLang="en-US" dirty="0"/>
                <a:t>內</a:t>
              </a:r>
              <a:r>
                <a:rPr lang="en-US" altLang="zh-TW" dirty="0"/>
                <a:t> </a:t>
              </a:r>
              <a:r>
                <a:rPr lang="zh-TW" altLang="en-US" dirty="0"/>
                <a:t>以</a:t>
              </a:r>
              <a:r>
                <a:rPr lang="en-US" altLang="zh-TW" dirty="0"/>
                <a:t>CaseID#</a:t>
              </a:r>
              <a:r>
                <a:rPr lang="zh-TW" altLang="en-US" dirty="0"/>
                <a:t>作</a:t>
              </a:r>
              <a:r>
                <a:rPr lang="en-US" altLang="zh-TW" dirty="0"/>
                <a:t>Surname </a:t>
              </a:r>
              <a:r>
                <a:rPr lang="zh-TW" altLang="en-US" dirty="0"/>
                <a:t>，建立</a:t>
              </a:r>
              <a:r>
                <a:rPr lang="en-US" altLang="zh-TW" dirty="0"/>
                <a:t> “Pending” Account</a:t>
              </a:r>
              <a:r>
                <a:rPr lang="zh-TW" altLang="en-US" dirty="0"/>
                <a:t>，並利用新建立的</a:t>
              </a:r>
              <a:r>
                <a:rPr lang="en-US" altLang="zh-TW" dirty="0"/>
                <a:t>TG#</a:t>
              </a:r>
              <a:r>
                <a:rPr lang="zh-TW" altLang="en-US" dirty="0"/>
                <a:t> </a:t>
              </a:r>
              <a:r>
                <a:rPr lang="en-US" altLang="zh-TW" dirty="0"/>
                <a:t>Assign</a:t>
              </a:r>
              <a:r>
                <a:rPr lang="zh-TW" altLang="en-US" dirty="0"/>
                <a:t> </a:t>
              </a:r>
              <a:r>
                <a:rPr lang="en-US" altLang="zh-TW" dirty="0"/>
                <a:t>WDE eService </a:t>
              </a:r>
              <a:r>
                <a:rPr lang="zh-TW" altLang="en-US" dirty="0"/>
                <a:t>的 </a:t>
              </a:r>
              <a:r>
                <a:rPr lang="en-US" dirty="0"/>
                <a:t>Interaction</a:t>
              </a:r>
              <a:r>
                <a:rPr lang="zh-TW" altLang="en-US" dirty="0"/>
                <a:t>及</a:t>
              </a:r>
              <a:endParaRPr lang="en-US" altLang="zh-TW" dirty="0"/>
            </a:p>
            <a:p>
              <a:r>
                <a:rPr lang="en-US" altLang="zh-TW" dirty="0"/>
                <a:t>[Mark Done]</a:t>
              </a:r>
              <a:r>
                <a:rPr lang="zh-TW" altLang="en-US" dirty="0"/>
                <a:t>。</a:t>
              </a:r>
              <a:endParaRPr lang="en-US" dirty="0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2C957061-9436-1BEB-0360-F3EEFAF03D6F}"/>
                </a:ext>
              </a:extLst>
            </p:cNvPr>
            <p:cNvSpPr txBox="1"/>
            <p:nvPr/>
          </p:nvSpPr>
          <p:spPr>
            <a:xfrm>
              <a:off x="312493" y="5189412"/>
              <a:ext cx="3016168" cy="411268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zh-TW" altLang="en-US" sz="2600" dirty="0"/>
                <a:t>緊記</a:t>
              </a:r>
              <a:r>
                <a:rPr lang="en-US" altLang="zh-TW" sz="2600" dirty="0"/>
                <a:t>-</a:t>
              </a:r>
              <a:r>
                <a:rPr lang="zh-TW" altLang="en-US" sz="2600" dirty="0"/>
                <a:t>欠文件個案處理</a:t>
              </a:r>
              <a:endParaRPr lang="en-US" sz="2600" dirty="0"/>
            </a:p>
          </p:txBody>
        </p:sp>
      </p:grp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C93B860F-265A-09F3-A4F7-F9E04CABD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941B04AD-5EB0-49DF-9047-5419DE7250E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9584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936FA1C-D5F7-24B3-3917-645EA00F050B}"/>
              </a:ext>
            </a:extLst>
          </p:cNvPr>
          <p:cNvSpPr txBox="1"/>
          <p:nvPr/>
        </p:nvSpPr>
        <p:spPr>
          <a:xfrm>
            <a:off x="425885" y="150312"/>
            <a:ext cx="521668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e-Service &gt; Open Account</a:t>
            </a:r>
            <a:r>
              <a:rPr lang="zh-TW" altLang="en-US" sz="2000" b="1" dirty="0"/>
              <a:t>介面認識及處理方法</a:t>
            </a:r>
            <a:endParaRPr lang="en-US" altLang="zh-TW" sz="2000" b="1" dirty="0"/>
          </a:p>
          <a:p>
            <a:r>
              <a:rPr lang="zh-TW" altLang="en-US" sz="2000" b="1" dirty="0"/>
              <a:t>功能鍵介紹</a:t>
            </a:r>
            <a:endParaRPr lang="en-US" sz="2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B58E78-0C22-5D02-5811-0E1E15975E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636" y="1646649"/>
            <a:ext cx="9639300" cy="2590800"/>
          </a:xfrm>
          <a:prstGeom prst="rect">
            <a:avLst/>
          </a:prstGeom>
          <a:ln w="38100">
            <a:solidFill>
              <a:srgbClr val="7030A0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7F9AB3D-BE89-E08B-2F51-34DDFF8DE35C}"/>
              </a:ext>
            </a:extLst>
          </p:cNvPr>
          <p:cNvSpPr txBox="1"/>
          <p:nvPr/>
        </p:nvSpPr>
        <p:spPr>
          <a:xfrm>
            <a:off x="853941" y="1255880"/>
            <a:ext cx="3337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15E1A0-D1C0-E9A2-4DA6-0FBEC160B4EE}"/>
              </a:ext>
            </a:extLst>
          </p:cNvPr>
          <p:cNvSpPr txBox="1"/>
          <p:nvPr/>
        </p:nvSpPr>
        <p:spPr>
          <a:xfrm>
            <a:off x="1820531" y="1245442"/>
            <a:ext cx="3241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58653C-0483-2761-D7C5-B1C9EDDD1991}"/>
              </a:ext>
            </a:extLst>
          </p:cNvPr>
          <p:cNvSpPr txBox="1"/>
          <p:nvPr/>
        </p:nvSpPr>
        <p:spPr>
          <a:xfrm>
            <a:off x="2549127" y="1209952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</a:t>
            </a:r>
            <a:endParaRPr lang="en-US" sz="4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D57907-0CDE-BA0B-0A44-2F46259C55DA}"/>
              </a:ext>
            </a:extLst>
          </p:cNvPr>
          <p:cNvSpPr txBox="1"/>
          <p:nvPr/>
        </p:nvSpPr>
        <p:spPr>
          <a:xfrm>
            <a:off x="3287119" y="1246581"/>
            <a:ext cx="3209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C6693E-4695-72C3-5AFA-0A08A1916237}"/>
              </a:ext>
            </a:extLst>
          </p:cNvPr>
          <p:cNvSpPr txBox="1"/>
          <p:nvPr/>
        </p:nvSpPr>
        <p:spPr>
          <a:xfrm>
            <a:off x="3950997" y="1040438"/>
            <a:ext cx="32092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</a:rPr>
              <a:t>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197BC12-AF43-C03A-0C70-FA2108FCC064}"/>
              </a:ext>
            </a:extLst>
          </p:cNvPr>
          <p:cNvSpPr/>
          <p:nvPr/>
        </p:nvSpPr>
        <p:spPr>
          <a:xfrm>
            <a:off x="507790" y="2499240"/>
            <a:ext cx="8798754" cy="40011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40FFF1F-01D2-B667-D46E-8D6B1A1D0554}"/>
              </a:ext>
            </a:extLst>
          </p:cNvPr>
          <p:cNvGrpSpPr/>
          <p:nvPr/>
        </p:nvGrpSpPr>
        <p:grpSpPr>
          <a:xfrm>
            <a:off x="4063697" y="3220819"/>
            <a:ext cx="7844896" cy="3562350"/>
            <a:chOff x="3977154" y="2751848"/>
            <a:chExt cx="7844896" cy="3562350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417104D-A426-0D4D-8A64-607852335E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77154" y="2751848"/>
              <a:ext cx="7844896" cy="3562350"/>
            </a:xfrm>
            <a:prstGeom prst="rect">
              <a:avLst/>
            </a:prstGeom>
            <a:ln w="38100">
              <a:solidFill>
                <a:srgbClr val="15C2FF"/>
              </a:solidFill>
            </a:ln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7ABB375-CF50-57A6-031B-7631C9692584}"/>
                </a:ext>
              </a:extLst>
            </p:cNvPr>
            <p:cNvSpPr txBox="1"/>
            <p:nvPr/>
          </p:nvSpPr>
          <p:spPr>
            <a:xfrm>
              <a:off x="4197144" y="3520809"/>
              <a:ext cx="1629646" cy="338554"/>
            </a:xfrm>
            <a:prstGeom prst="rect">
              <a:avLst/>
            </a:prstGeom>
            <a:solidFill>
              <a:srgbClr val="DBFFB7"/>
            </a:solidFill>
            <a:ln w="19050">
              <a:solidFill>
                <a:srgbClr val="0070C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zh-TW" altLang="en-US" sz="1600" dirty="0"/>
                <a:t>同事發出的訊息</a:t>
              </a:r>
              <a:endParaRPr lang="en-US" sz="1600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0777405-2826-324F-5942-777D78A9B65C}"/>
                </a:ext>
              </a:extLst>
            </p:cNvPr>
            <p:cNvSpPr txBox="1"/>
            <p:nvPr/>
          </p:nvSpPr>
          <p:spPr>
            <a:xfrm>
              <a:off x="4221679" y="4289920"/>
              <a:ext cx="2116524" cy="584775"/>
            </a:xfrm>
            <a:prstGeom prst="rect">
              <a:avLst/>
            </a:prstGeom>
            <a:solidFill>
              <a:srgbClr val="DBFFB7"/>
            </a:solidFill>
            <a:ln w="19050">
              <a:solidFill>
                <a:srgbClr val="0070C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zh-TW" altLang="en-US" sz="1600" dirty="0"/>
                <a:t>客人的文字回覆及新上載的文件</a:t>
              </a:r>
              <a:endParaRPr lang="en-US" sz="1600" dirty="0"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51F804DB-65CE-9FDE-7EBC-C85A8B3DF4ED}"/>
              </a:ext>
            </a:extLst>
          </p:cNvPr>
          <p:cNvSpPr txBox="1"/>
          <p:nvPr/>
        </p:nvSpPr>
        <p:spPr>
          <a:xfrm>
            <a:off x="6077201" y="174154"/>
            <a:ext cx="5659163" cy="1785104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sz="2000" u="sng" dirty="0">
                <a:solidFill>
                  <a:srgbClr val="FF0000"/>
                </a:solidFill>
              </a:rPr>
              <a:t>E – Feedback – </a:t>
            </a:r>
            <a:r>
              <a:rPr lang="zh-TW" altLang="en-US" sz="2000" u="sng" dirty="0">
                <a:solidFill>
                  <a:srgbClr val="FF0000"/>
                </a:solidFill>
              </a:rPr>
              <a:t>客人回覆</a:t>
            </a:r>
            <a:endParaRPr lang="en-US" altLang="zh-TW" sz="2000" u="sng" dirty="0">
              <a:solidFill>
                <a:srgbClr val="FF0000"/>
              </a:solidFill>
            </a:endParaRPr>
          </a:p>
          <a:p>
            <a:endParaRPr lang="en-US" altLang="zh-TW" dirty="0"/>
          </a:p>
          <a:p>
            <a:r>
              <a:rPr lang="zh-TW" altLang="en-US" dirty="0"/>
              <a:t>客人透過電郵回覆後，</a:t>
            </a:r>
            <a:r>
              <a:rPr lang="en-US" altLang="zh-TW" dirty="0"/>
              <a:t>“Request Document”</a:t>
            </a:r>
            <a:r>
              <a:rPr lang="zh-TW" altLang="en-US" dirty="0"/>
              <a:t>按鈕便會復原。客人按公司發出的電郵回覆後，交件會上載至</a:t>
            </a:r>
            <a:r>
              <a:rPr lang="en-US" altLang="zh-TW" dirty="0"/>
              <a:t>[Feedback]</a:t>
            </a:r>
            <a:r>
              <a:rPr lang="zh-TW" altLang="en-US" dirty="0"/>
              <a:t>，同事可按客人回覆的資料 </a:t>
            </a:r>
            <a:r>
              <a:rPr lang="en-US" altLang="zh-TW" dirty="0"/>
              <a:t>/ </a:t>
            </a:r>
            <a:r>
              <a:rPr lang="zh-TW" altLang="en-US" dirty="0"/>
              <a:t>文件作進一步處理。</a:t>
            </a:r>
            <a:endParaRPr lang="en-US" altLang="zh-TW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62D5FAB-4FB5-E652-2593-955E11009D35}"/>
              </a:ext>
            </a:extLst>
          </p:cNvPr>
          <p:cNvSpPr txBox="1"/>
          <p:nvPr/>
        </p:nvSpPr>
        <p:spPr>
          <a:xfrm>
            <a:off x="9395101" y="2384264"/>
            <a:ext cx="595035" cy="338554"/>
          </a:xfrm>
          <a:prstGeom prst="rect">
            <a:avLst/>
          </a:prstGeom>
          <a:solidFill>
            <a:srgbClr val="DBFFB7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sz="1600" dirty="0"/>
              <a:t>按此</a:t>
            </a:r>
            <a:endParaRPr lang="en-US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E7D25B9-A8FE-638F-76A8-6E0CDD000BFC}"/>
              </a:ext>
            </a:extLst>
          </p:cNvPr>
          <p:cNvCxnSpPr>
            <a:cxnSpLocks/>
            <a:stCxn id="14" idx="1"/>
          </p:cNvCxnSpPr>
          <p:nvPr/>
        </p:nvCxnSpPr>
        <p:spPr>
          <a:xfrm flipH="1">
            <a:off x="8928100" y="2553541"/>
            <a:ext cx="467001" cy="169277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2B9BCE7-AFDB-9689-C60D-52E0B0190935}"/>
              </a:ext>
            </a:extLst>
          </p:cNvPr>
          <p:cNvSpPr/>
          <p:nvPr/>
        </p:nvSpPr>
        <p:spPr>
          <a:xfrm>
            <a:off x="4063697" y="5507992"/>
            <a:ext cx="6898574" cy="676405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3772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B04AD-5EB0-49DF-9047-5419DE7250E3}" type="slidenum">
              <a:rPr lang="en-US" smtClean="0"/>
              <a:t>13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36FA1C-D5F7-24B3-3917-645EA00F050B}"/>
              </a:ext>
            </a:extLst>
          </p:cNvPr>
          <p:cNvSpPr txBox="1"/>
          <p:nvPr/>
        </p:nvSpPr>
        <p:spPr>
          <a:xfrm>
            <a:off x="425885" y="150312"/>
            <a:ext cx="521668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e-Service &gt; Open Account</a:t>
            </a:r>
            <a:r>
              <a:rPr lang="zh-TW" altLang="en-US" sz="2000" b="1" dirty="0"/>
              <a:t>介面認識及處理方法</a:t>
            </a:r>
            <a:endParaRPr lang="en-US" altLang="zh-TW" sz="2000" b="1" dirty="0"/>
          </a:p>
          <a:p>
            <a:r>
              <a:rPr lang="zh-TW" altLang="en-US" sz="2000" b="1" dirty="0"/>
              <a:t>功能鍵介紹</a:t>
            </a:r>
            <a:endParaRPr lang="en-US" sz="20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A749D42-6313-4C55-7118-5A40ACAA40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790" y="858198"/>
            <a:ext cx="9572625" cy="3491310"/>
          </a:xfrm>
          <a:prstGeom prst="rect">
            <a:avLst/>
          </a:prstGeom>
        </p:spPr>
      </p:pic>
      <p:sp>
        <p:nvSpPr>
          <p:cNvPr id="13" name="Rectangle: Rounded Corners 4">
            <a:extLst>
              <a:ext uri="{FF2B5EF4-FFF2-40B4-BE49-F238E27FC236}">
                <a16:creationId xmlns:a16="http://schemas.microsoft.com/office/drawing/2014/main" id="{D197BC12-AF43-C03A-0C70-FA2108FCC064}"/>
              </a:ext>
            </a:extLst>
          </p:cNvPr>
          <p:cNvSpPr/>
          <p:nvPr/>
        </p:nvSpPr>
        <p:spPr>
          <a:xfrm>
            <a:off x="3799629" y="3540248"/>
            <a:ext cx="1532025" cy="497179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/>
          <p:cNvGrpSpPr/>
          <p:nvPr/>
        </p:nvGrpSpPr>
        <p:grpSpPr>
          <a:xfrm>
            <a:off x="5791200" y="739898"/>
            <a:ext cx="6400800" cy="5600700"/>
            <a:chOff x="2895600" y="628650"/>
            <a:chExt cx="6400800" cy="5600700"/>
          </a:xfrm>
        </p:grpSpPr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895600" y="628650"/>
              <a:ext cx="6400800" cy="5600700"/>
            </a:xfrm>
            <a:prstGeom prst="rect">
              <a:avLst/>
            </a:prstGeom>
          </p:spPr>
        </p:pic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565641" y="2222693"/>
              <a:ext cx="1824664" cy="103040"/>
            </a:xfrm>
            <a:prstGeom prst="rect">
              <a:avLst/>
            </a:prstGeom>
          </p:spPr>
        </p:pic>
      </p:grp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E7D25B9-A8FE-638F-76A8-6E0CDD000BFC}"/>
              </a:ext>
            </a:extLst>
          </p:cNvPr>
          <p:cNvCxnSpPr>
            <a:cxnSpLocks/>
          </p:cNvCxnSpPr>
          <p:nvPr/>
        </p:nvCxnSpPr>
        <p:spPr>
          <a:xfrm>
            <a:off x="4844328" y="4171959"/>
            <a:ext cx="974651" cy="37085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: Rounded Corners 4">
            <a:extLst>
              <a:ext uri="{FF2B5EF4-FFF2-40B4-BE49-F238E27FC236}">
                <a16:creationId xmlns:a16="http://schemas.microsoft.com/office/drawing/2014/main" id="{D197BC12-AF43-C03A-0C70-FA2108FCC064}"/>
              </a:ext>
            </a:extLst>
          </p:cNvPr>
          <p:cNvSpPr/>
          <p:nvPr/>
        </p:nvSpPr>
        <p:spPr>
          <a:xfrm>
            <a:off x="8482818" y="3784210"/>
            <a:ext cx="1597597" cy="295421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4">
            <a:extLst>
              <a:ext uri="{FF2B5EF4-FFF2-40B4-BE49-F238E27FC236}">
                <a16:creationId xmlns:a16="http://schemas.microsoft.com/office/drawing/2014/main" id="{D197BC12-AF43-C03A-0C70-FA2108FCC064}"/>
              </a:ext>
            </a:extLst>
          </p:cNvPr>
          <p:cNvSpPr/>
          <p:nvPr/>
        </p:nvSpPr>
        <p:spPr>
          <a:xfrm>
            <a:off x="7655883" y="2436981"/>
            <a:ext cx="531513" cy="306219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28F8A1C-3B0A-7896-7D63-7EB951EA6C8C}"/>
              </a:ext>
            </a:extLst>
          </p:cNvPr>
          <p:cNvSpPr txBox="1"/>
          <p:nvPr/>
        </p:nvSpPr>
        <p:spPr>
          <a:xfrm>
            <a:off x="2118658" y="4602071"/>
            <a:ext cx="3175444" cy="646331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dirty="0"/>
              <a:t>當同事按了</a:t>
            </a:r>
            <a:r>
              <a:rPr lang="en-US" altLang="zh-TW" dirty="0"/>
              <a:t> Cancel Case </a:t>
            </a:r>
            <a:r>
              <a:rPr lang="zh-TW" altLang="en-US" dirty="0"/>
              <a:t>時，</a:t>
            </a:r>
            <a:endParaRPr lang="en-US" altLang="zh-TW" dirty="0"/>
          </a:p>
          <a:p>
            <a:r>
              <a:rPr lang="zh-TW" altLang="en-US" dirty="0"/>
              <a:t>人客會收到取消申請電郵。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96498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B04AD-5EB0-49DF-9047-5419DE7250E3}" type="slidenum">
              <a:rPr lang="en-US" smtClean="0"/>
              <a:t>14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36FA1C-D5F7-24B3-3917-645EA00F050B}"/>
              </a:ext>
            </a:extLst>
          </p:cNvPr>
          <p:cNvSpPr txBox="1"/>
          <p:nvPr/>
        </p:nvSpPr>
        <p:spPr>
          <a:xfrm>
            <a:off x="650968" y="2007247"/>
            <a:ext cx="8229561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e-Service &gt; Open Account</a:t>
            </a:r>
            <a:r>
              <a:rPr lang="zh-TW" altLang="en-US" sz="3200" b="1" dirty="0"/>
              <a:t>介面認識及處理方法</a:t>
            </a:r>
            <a:endParaRPr lang="en-US" altLang="zh-TW" sz="3200" b="1" dirty="0"/>
          </a:p>
          <a:p>
            <a:endParaRPr lang="en-US" altLang="zh-TW" sz="3200" b="1" dirty="0"/>
          </a:p>
          <a:p>
            <a:endParaRPr lang="en-US" altLang="zh-TW" sz="3200" b="1" dirty="0"/>
          </a:p>
          <a:p>
            <a:r>
              <a:rPr lang="zh-TW" altLang="en-US" sz="3200" dirty="0"/>
              <a:t>接受客戶提供煤氣錶度數及相片，</a:t>
            </a:r>
            <a:endParaRPr lang="en-US" altLang="zh-TW" sz="3200" dirty="0"/>
          </a:p>
          <a:p>
            <a:r>
              <a:rPr lang="zh-TW" altLang="en-US" sz="3200" dirty="0"/>
              <a:t>用作即時開立新賬戶 </a:t>
            </a:r>
            <a:r>
              <a:rPr lang="en-US" altLang="zh-TW" sz="3200" dirty="0"/>
              <a:t>(Product Code X6600)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970336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B04AD-5EB0-49DF-9047-5419DE7250E3}" type="slidenum">
              <a:rPr lang="en-US" smtClean="0"/>
              <a:t>15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25885" y="760639"/>
            <a:ext cx="10927915" cy="421653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TW" altLang="en-US" sz="2400" dirty="0"/>
              <a:t>接受客戶提供煤氣錶度數及相片，用作即時開立新賬戶 </a:t>
            </a:r>
            <a:r>
              <a:rPr lang="en-US" altLang="zh-TW" sz="2400" dirty="0"/>
              <a:t>(Product Code X6600)</a:t>
            </a:r>
            <a:endParaRPr lang="en-US" sz="2400" b="1" dirty="0"/>
          </a:p>
          <a:p>
            <a:r>
              <a:rPr lang="zh-TW" altLang="en-US" sz="2400" dirty="0">
                <a:solidFill>
                  <a:srgbClr val="FF0000"/>
                </a:solidFill>
              </a:rPr>
              <a:t>必須</a:t>
            </a:r>
            <a:r>
              <a:rPr lang="zh-TW" altLang="en-US" sz="2400" dirty="0"/>
              <a:t>符合以下條件：</a:t>
            </a:r>
            <a:endParaRPr lang="en-US" altLang="zh-TW" sz="2400" dirty="0"/>
          </a:p>
          <a:p>
            <a:endParaRPr lang="en-US" altLang="zh-TW" sz="2000" dirty="0"/>
          </a:p>
          <a:p>
            <a:pPr lvl="2"/>
            <a:r>
              <a:rPr lang="en-US" altLang="zh-TW" sz="2000" dirty="0"/>
              <a:t>1. </a:t>
            </a:r>
            <a:r>
              <a:rPr lang="zh-TW" altLang="en-US" sz="2000" dirty="0"/>
              <a:t>核實上手戶口，</a:t>
            </a:r>
            <a:r>
              <a:rPr lang="zh-TW" altLang="en-US" sz="2000" dirty="0">
                <a:solidFill>
                  <a:srgbClr val="FF0000"/>
                </a:solidFill>
              </a:rPr>
              <a:t>沒有預約截煤氣單</a:t>
            </a:r>
            <a:endParaRPr lang="en-US" sz="2000" dirty="0">
              <a:solidFill>
                <a:srgbClr val="FF0000"/>
              </a:solidFill>
            </a:endParaRPr>
          </a:p>
          <a:p>
            <a:pPr lvl="2"/>
            <a:endParaRPr lang="en-US" altLang="zh-TW" sz="2000" dirty="0"/>
          </a:p>
          <a:p>
            <a:pPr lvl="2"/>
            <a:r>
              <a:rPr lang="en-US" altLang="zh-TW" sz="2000" dirty="0"/>
              <a:t>2. </a:t>
            </a:r>
            <a:r>
              <a:rPr lang="zh-TW" altLang="en-US" sz="2000" dirty="0"/>
              <a:t>核對租售合約及申請人身份證明文件 </a:t>
            </a:r>
            <a:endParaRPr lang="en-US" altLang="zh-TW" sz="2000" dirty="0"/>
          </a:p>
          <a:p>
            <a:pPr marL="1428750" lvl="2" indent="-514350">
              <a:buAutoNum type="arabicPeriod"/>
            </a:pPr>
            <a:endParaRPr lang="en-US" altLang="zh-TW" sz="2000" dirty="0"/>
          </a:p>
          <a:p>
            <a:pPr lvl="2"/>
            <a:r>
              <a:rPr lang="en-US" altLang="zh-TW" sz="2000" dirty="0"/>
              <a:t>3. </a:t>
            </a:r>
            <a:r>
              <a:rPr lang="zh-TW" altLang="en-US" sz="2000" dirty="0"/>
              <a:t>核對煤氣錶號碼 </a:t>
            </a:r>
            <a:r>
              <a:rPr lang="en-US" altLang="zh-TW" sz="2000" dirty="0"/>
              <a:t>[Meter Serial Number]</a:t>
            </a:r>
            <a:r>
              <a:rPr lang="zh-TW" altLang="en-US" sz="2000" dirty="0"/>
              <a:t>與 </a:t>
            </a:r>
            <a:r>
              <a:rPr lang="en-US" altLang="zh-TW" sz="2000" dirty="0"/>
              <a:t>Siebel </a:t>
            </a:r>
            <a:r>
              <a:rPr lang="zh-TW" altLang="en-US" sz="2000" dirty="0"/>
              <a:t>記錄</a:t>
            </a:r>
            <a:endParaRPr lang="en-US" altLang="zh-TW" sz="2000" dirty="0"/>
          </a:p>
          <a:p>
            <a:pPr lvl="2"/>
            <a:r>
              <a:rPr lang="zh-TW" altLang="en-US" sz="2000" dirty="0"/>
              <a:t> </a:t>
            </a:r>
            <a:endParaRPr lang="en-US" altLang="zh-TW" sz="2000" dirty="0"/>
          </a:p>
          <a:p>
            <a:pPr lvl="2"/>
            <a:r>
              <a:rPr lang="en-US" altLang="zh-TW" sz="2000" dirty="0"/>
              <a:t>4. </a:t>
            </a:r>
            <a:r>
              <a:rPr lang="zh-TW" altLang="en-US" sz="2000" dirty="0"/>
              <a:t>核對煤氣錶相片及填寫的度數 </a:t>
            </a:r>
            <a:r>
              <a:rPr lang="en-US" altLang="zh-TW" sz="2000" dirty="0"/>
              <a:t>[Meter Reading] </a:t>
            </a:r>
          </a:p>
          <a:p>
            <a:pPr lvl="2"/>
            <a:endParaRPr lang="en-US" altLang="zh-TW" sz="2000" dirty="0"/>
          </a:p>
          <a:p>
            <a:pPr lvl="2"/>
            <a:r>
              <a:rPr lang="en-US" altLang="zh-TW" sz="2000" dirty="0"/>
              <a:t>5. </a:t>
            </a:r>
            <a:r>
              <a:rPr lang="zh-TW" altLang="en-US" sz="2000" dirty="0"/>
              <a:t>核對上手煤氣戶口 </a:t>
            </a:r>
            <a:r>
              <a:rPr lang="en-US" altLang="zh-TW" sz="2000" dirty="0"/>
              <a:t>CMS </a:t>
            </a:r>
            <a:r>
              <a:rPr lang="zh-TW" altLang="en-US" sz="2000" dirty="0"/>
              <a:t>記錄 </a:t>
            </a:r>
            <a:r>
              <a:rPr lang="en-US" altLang="zh-TW" sz="2000" dirty="0"/>
              <a:t>(</a:t>
            </a:r>
            <a:r>
              <a:rPr lang="zh-TW" altLang="en-US" sz="2000" dirty="0"/>
              <a:t>如</a:t>
            </a:r>
            <a:r>
              <a:rPr lang="en-US" altLang="zh-TW" sz="2000" dirty="0"/>
              <a:t>: </a:t>
            </a:r>
            <a:r>
              <a:rPr lang="zh-TW" altLang="en-US" sz="2000" dirty="0"/>
              <a:t>欠費 </a:t>
            </a:r>
            <a:r>
              <a:rPr lang="en-US" altLang="zh-TW" sz="2000" dirty="0"/>
              <a:t>/ </a:t>
            </a:r>
            <a:r>
              <a:rPr lang="zh-TW" altLang="en-US" sz="2000" dirty="0"/>
              <a:t>度數</a:t>
            </a:r>
            <a:r>
              <a:rPr lang="en-US" altLang="zh-TW" sz="2000" dirty="0"/>
              <a:t>)</a:t>
            </a:r>
            <a:r>
              <a:rPr lang="zh-TW" altLang="en-US" sz="2000" dirty="0"/>
              <a:t> </a:t>
            </a:r>
            <a:endParaRPr lang="en-US" altLang="zh-TW" sz="2000" dirty="0"/>
          </a:p>
          <a:p>
            <a:r>
              <a:rPr lang="en-US" altLang="zh-TW" sz="2000" dirty="0"/>
              <a:t> 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36FA1C-D5F7-24B3-3917-645EA00F050B}"/>
              </a:ext>
            </a:extLst>
          </p:cNvPr>
          <p:cNvSpPr txBox="1"/>
          <p:nvPr/>
        </p:nvSpPr>
        <p:spPr>
          <a:xfrm>
            <a:off x="425885" y="150312"/>
            <a:ext cx="52166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e-Service &gt; Open Account</a:t>
            </a:r>
            <a:r>
              <a:rPr lang="zh-TW" altLang="en-US" sz="2000" b="1" dirty="0"/>
              <a:t>介面認識及處理方法</a:t>
            </a:r>
            <a:endParaRPr lang="en-US" altLang="zh-TW" sz="2000" b="1" dirty="0"/>
          </a:p>
        </p:txBody>
      </p:sp>
      <p:sp>
        <p:nvSpPr>
          <p:cNvPr id="7" name="Rectangle 6"/>
          <p:cNvSpPr/>
          <p:nvPr/>
        </p:nvSpPr>
        <p:spPr>
          <a:xfrm>
            <a:off x="425885" y="5156021"/>
            <a:ext cx="10814201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dirty="0"/>
              <a:t>注意事項： </a:t>
            </a:r>
            <a:endParaRPr lang="en-US" altLang="zh-TW" dirty="0"/>
          </a:p>
          <a:p>
            <a:pPr marL="342900" indent="-342900">
              <a:buAutoNum type="arabicPeriod"/>
            </a:pPr>
            <a:r>
              <a:rPr lang="zh-TW" altLang="en-US" dirty="0"/>
              <a:t>在處理已提交煤氣錶度數的轉名個案時，若發現上手戶口已有截氣單，請視乎實際情況與客 人另作安排。</a:t>
            </a:r>
            <a:endParaRPr lang="en-US" altLang="zh-TW" dirty="0"/>
          </a:p>
          <a:p>
            <a:pPr marL="342900" indent="-342900">
              <a:buAutoNum type="arabicPeriod"/>
            </a:pPr>
            <a:r>
              <a:rPr lang="zh-TW" altLang="en-US" dirty="0"/>
              <a:t>如單位煤氣供應已終止 或 未能提供煤氣錶相 或 不願意即時生效煤氣戶口等等，客人可沿用舊方法，與客人預約技術人員於指定日期到單位開</a:t>
            </a:r>
            <a:r>
              <a:rPr lang="en-US" altLang="zh-TW" dirty="0"/>
              <a:t>/</a:t>
            </a:r>
            <a:r>
              <a:rPr lang="zh-TW" altLang="en-US" dirty="0"/>
              <a:t>抄錶生效戶口 </a:t>
            </a:r>
            <a:r>
              <a:rPr lang="en-US" altLang="zh-TW" dirty="0"/>
              <a:t>(X11RX)</a:t>
            </a:r>
            <a:r>
              <a:rPr lang="zh-TW" altLang="en-US" dirty="0"/>
              <a:t>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34255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B04AD-5EB0-49DF-9047-5419DE7250E3}" type="slidenum">
              <a:rPr lang="en-US" smtClean="0"/>
              <a:t>16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885" y="1020536"/>
            <a:ext cx="6509487" cy="15944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936FA1C-D5F7-24B3-3917-645EA00F050B}"/>
              </a:ext>
            </a:extLst>
          </p:cNvPr>
          <p:cNvSpPr txBox="1"/>
          <p:nvPr/>
        </p:nvSpPr>
        <p:spPr>
          <a:xfrm>
            <a:off x="425885" y="150312"/>
            <a:ext cx="52166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e-Service &gt; Open Account</a:t>
            </a:r>
            <a:r>
              <a:rPr lang="zh-TW" altLang="en-US" sz="2000" b="1" dirty="0"/>
              <a:t>介面認識及處理方法</a:t>
            </a:r>
            <a:endParaRPr lang="en-US" altLang="zh-TW" sz="2000" b="1" dirty="0"/>
          </a:p>
        </p:txBody>
      </p:sp>
      <p:sp>
        <p:nvSpPr>
          <p:cNvPr id="7" name="Rectangle 6"/>
          <p:cNvSpPr/>
          <p:nvPr/>
        </p:nvSpPr>
        <p:spPr>
          <a:xfrm>
            <a:off x="425885" y="562041"/>
            <a:ext cx="702999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000" dirty="0"/>
              <a:t>核對煤氣錶號碼 </a:t>
            </a:r>
            <a:r>
              <a:rPr lang="en-US" altLang="zh-TW" sz="2000" dirty="0"/>
              <a:t>[Meter Serial Number]</a:t>
            </a:r>
            <a:r>
              <a:rPr lang="zh-TW" altLang="en-US" sz="2000" dirty="0"/>
              <a:t>與 </a:t>
            </a:r>
            <a:r>
              <a:rPr lang="en-US" altLang="zh-TW" sz="2000" dirty="0"/>
              <a:t>Siebel </a:t>
            </a:r>
            <a:r>
              <a:rPr lang="zh-TW" altLang="en-US" sz="2000" dirty="0"/>
              <a:t>記錄</a:t>
            </a:r>
            <a:endParaRPr lang="en-US" altLang="zh-TW" sz="2000" dirty="0"/>
          </a:p>
        </p:txBody>
      </p:sp>
      <p:sp>
        <p:nvSpPr>
          <p:cNvPr id="8" name="Rounded Rectangle 7"/>
          <p:cNvSpPr/>
          <p:nvPr/>
        </p:nvSpPr>
        <p:spPr>
          <a:xfrm>
            <a:off x="425885" y="1364807"/>
            <a:ext cx="6059321" cy="452943"/>
          </a:xfrm>
          <a:prstGeom prst="roundRect">
            <a:avLst/>
          </a:prstGeom>
          <a:noFill/>
          <a:ln w="38100">
            <a:solidFill>
              <a:srgbClr val="CC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0417" y="2673350"/>
            <a:ext cx="9715500" cy="404812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870417" y="5695313"/>
            <a:ext cx="5261547" cy="269390"/>
          </a:xfrm>
          <a:prstGeom prst="roundRect">
            <a:avLst/>
          </a:prstGeom>
          <a:noFill/>
          <a:ln w="38100">
            <a:solidFill>
              <a:srgbClr val="CC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Elbow Connector 11"/>
          <p:cNvCxnSpPr/>
          <p:nvPr/>
        </p:nvCxnSpPr>
        <p:spPr>
          <a:xfrm rot="16200000" flipH="1">
            <a:off x="3781121" y="2538290"/>
            <a:ext cx="3227678" cy="1786595"/>
          </a:xfrm>
          <a:prstGeom prst="bentConnector3">
            <a:avLst>
              <a:gd name="adj1" fmla="val 50000"/>
            </a:avLst>
          </a:prstGeom>
          <a:ln w="38100">
            <a:solidFill>
              <a:srgbClr val="CC00FF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642569" y="5103810"/>
            <a:ext cx="1489395" cy="860893"/>
          </a:xfrm>
          <a:prstGeom prst="roundRect">
            <a:avLst/>
          </a:prstGeom>
          <a:noFill/>
          <a:ln w="38100">
            <a:solidFill>
              <a:srgbClr val="CC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9E63E2EE-50DB-FBFD-3BB2-EA7114A4D80B}"/>
              </a:ext>
            </a:extLst>
          </p:cNvPr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41B04AD-5EB0-49DF-9047-5419DE7250E3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0493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936FA1C-D5F7-24B3-3917-645EA00F050B}"/>
              </a:ext>
            </a:extLst>
          </p:cNvPr>
          <p:cNvSpPr txBox="1"/>
          <p:nvPr/>
        </p:nvSpPr>
        <p:spPr>
          <a:xfrm>
            <a:off x="400483" y="81741"/>
            <a:ext cx="58755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e-Service &gt; Open Account </a:t>
            </a:r>
            <a:r>
              <a:rPr lang="en-US" altLang="zh-TW" sz="2000" b="1" dirty="0"/>
              <a:t>– Accept Reading </a:t>
            </a:r>
            <a:r>
              <a:rPr lang="zh-TW" altLang="en-US" sz="2000" b="1" dirty="0"/>
              <a:t>處理方法</a:t>
            </a:r>
            <a:endParaRPr lang="en-US" altLang="zh-TW" sz="2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A4996C-EB9F-2294-55D1-309317CA312C}"/>
              </a:ext>
            </a:extLst>
          </p:cNvPr>
          <p:cNvSpPr txBox="1"/>
          <p:nvPr/>
        </p:nvSpPr>
        <p:spPr>
          <a:xfrm>
            <a:off x="5143500" y="519951"/>
            <a:ext cx="6688781" cy="241604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sz="1900" b="1" dirty="0"/>
              <a:t>文件及度數核對無誤後，便可把個案交予</a:t>
            </a:r>
            <a:r>
              <a:rPr lang="en-US" altLang="zh-TW" sz="1900" b="1" dirty="0"/>
              <a:t>RPA</a:t>
            </a:r>
            <a:r>
              <a:rPr lang="zh-TW" altLang="en-US" sz="1900" b="1" dirty="0"/>
              <a:t>落單及回覆客人</a:t>
            </a:r>
            <a:endParaRPr lang="en-US" altLang="zh-TW" sz="1900" b="1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altLang="zh-TW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zh-TW" altLang="en-US" dirty="0"/>
              <a:t>核對證件副本</a:t>
            </a:r>
            <a:r>
              <a:rPr lang="en-US" altLang="zh-TW" dirty="0"/>
              <a:t>/</a:t>
            </a:r>
            <a:r>
              <a:rPr lang="en-US" altLang="zh-TW" dirty="0" err="1"/>
              <a:t>iAM</a:t>
            </a:r>
            <a:r>
              <a:rPr lang="en-US" altLang="zh-TW" dirty="0"/>
              <a:t> Smart</a:t>
            </a:r>
            <a:r>
              <a:rPr lang="zh-TW" altLang="en-US" dirty="0"/>
              <a:t>內的英文名字串法</a:t>
            </a:r>
            <a:endParaRPr lang="en-US" altLang="zh-TW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zh-TW" altLang="en-US" b="1" u="sng" dirty="0"/>
              <a:t>不需要</a:t>
            </a:r>
            <a:r>
              <a:rPr lang="zh-TW" altLang="en-US" dirty="0"/>
              <a:t>輸入中文姓名電碼</a:t>
            </a:r>
            <a:endParaRPr lang="en-US" altLang="zh-TW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zh-TW" altLang="en-US" dirty="0"/>
              <a:t>輸入合適按金金額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>
                <a:solidFill>
                  <a:srgbClr val="FF0000"/>
                </a:solidFill>
              </a:rPr>
              <a:t>按下</a:t>
            </a:r>
            <a:r>
              <a:rPr lang="zh-TW" altLang="en-US" dirty="0"/>
              <a:t>方之</a:t>
            </a:r>
            <a:r>
              <a:rPr lang="en-US" altLang="zh-TW" dirty="0">
                <a:solidFill>
                  <a:srgbClr val="FF0000"/>
                </a:solidFill>
              </a:rPr>
              <a:t>[Send to RPA (Meter Reading Case)]</a:t>
            </a:r>
            <a:r>
              <a:rPr lang="zh-TW" altLang="en-US" dirty="0"/>
              <a:t>按鈕後，再</a:t>
            </a:r>
            <a:r>
              <a:rPr lang="en-US" altLang="zh-TW" dirty="0"/>
              <a:t>Click [Yes]</a:t>
            </a:r>
            <a:r>
              <a:rPr lang="zh-TW" altLang="en-US" dirty="0"/>
              <a:t>，然後於</a:t>
            </a:r>
            <a:r>
              <a:rPr lang="en-US" altLang="zh-TW" sz="2400" dirty="0">
                <a:solidFill>
                  <a:srgbClr val="FF0000"/>
                </a:solidFill>
              </a:rPr>
              <a:t>[Action Log]</a:t>
            </a:r>
            <a:r>
              <a:rPr lang="zh-TW" altLang="en-US" sz="2400" dirty="0">
                <a:solidFill>
                  <a:srgbClr val="FF0000"/>
                </a:solidFill>
              </a:rPr>
              <a:t> 查看是否已把電郵送出</a:t>
            </a:r>
            <a:r>
              <a:rPr lang="zh-TW" altLang="en-US" dirty="0"/>
              <a:t>，如圖：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3581400" y="1117600"/>
            <a:ext cx="685800" cy="1397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505835" y="481851"/>
            <a:ext cx="4354513" cy="6401549"/>
            <a:chOff x="966787" y="456451"/>
            <a:chExt cx="4354513" cy="6401549"/>
          </a:xfrm>
        </p:grpSpPr>
        <p:grpSp>
          <p:nvGrpSpPr>
            <p:cNvPr id="8" name="Group 7"/>
            <p:cNvGrpSpPr/>
            <p:nvPr/>
          </p:nvGrpSpPr>
          <p:grpSpPr>
            <a:xfrm>
              <a:off x="966787" y="456451"/>
              <a:ext cx="4354513" cy="6401549"/>
              <a:chOff x="966787" y="456451"/>
              <a:chExt cx="4354513" cy="6401549"/>
            </a:xfrm>
          </p:grpSpPr>
          <p:grpSp>
            <p:nvGrpSpPr>
              <p:cNvPr id="10" name="Group 9"/>
              <p:cNvGrpSpPr/>
              <p:nvPr/>
            </p:nvGrpSpPr>
            <p:grpSpPr>
              <a:xfrm>
                <a:off x="966787" y="456451"/>
                <a:ext cx="4354513" cy="6401549"/>
                <a:chOff x="966787" y="456451"/>
                <a:chExt cx="4354513" cy="6401549"/>
              </a:xfrm>
            </p:grpSpPr>
            <p:pic>
              <p:nvPicPr>
                <p:cNvPr id="13" name="Picture 12"/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966787" y="481851"/>
                  <a:ext cx="4354513" cy="6376149"/>
                </a:xfrm>
                <a:prstGeom prst="rect">
                  <a:avLst/>
                </a:prstGeom>
              </p:spPr>
            </p:pic>
            <p:pic>
              <p:nvPicPr>
                <p:cNvPr id="14" name="Picture 13">
                  <a:extLst>
                    <a:ext uri="{FF2B5EF4-FFF2-40B4-BE49-F238E27FC236}">
                      <a16:creationId xmlns:a16="http://schemas.microsoft.com/office/drawing/2014/main" id="{D65B31CF-91ED-FF48-F463-536B529B9AD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66787" y="456451"/>
                  <a:ext cx="1466417" cy="250670"/>
                </a:xfrm>
                <a:prstGeom prst="rect">
                  <a:avLst/>
                </a:prstGeom>
                <a:ln w="19050">
                  <a:solidFill>
                    <a:srgbClr val="9751CB"/>
                  </a:solidFill>
                </a:ln>
              </p:spPr>
            </p:pic>
            <p:sp>
              <p:nvSpPr>
                <p:cNvPr id="15" name="Rectangle 14"/>
                <p:cNvSpPr/>
                <p:nvPr/>
              </p:nvSpPr>
              <p:spPr>
                <a:xfrm>
                  <a:off x="3581400" y="2806700"/>
                  <a:ext cx="317500" cy="1651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" name="Rectangle 15"/>
                <p:cNvSpPr/>
                <p:nvPr/>
              </p:nvSpPr>
              <p:spPr>
                <a:xfrm>
                  <a:off x="3543300" y="3848100"/>
                  <a:ext cx="317500" cy="1651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" name="Rectangle 16"/>
                <p:cNvSpPr/>
                <p:nvPr/>
              </p:nvSpPr>
              <p:spPr>
                <a:xfrm>
                  <a:off x="4000500" y="698500"/>
                  <a:ext cx="317500" cy="1651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" name="Rectangle 17"/>
                <p:cNvSpPr/>
                <p:nvPr/>
              </p:nvSpPr>
              <p:spPr>
                <a:xfrm>
                  <a:off x="3962400" y="2603500"/>
                  <a:ext cx="317500" cy="1651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1" name="Rectangle 10"/>
              <p:cNvSpPr/>
              <p:nvPr/>
            </p:nvSpPr>
            <p:spPr>
              <a:xfrm>
                <a:off x="3949700" y="4673600"/>
                <a:ext cx="317500" cy="1651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Rectangle 11"/>
              <p:cNvSpPr/>
              <p:nvPr/>
            </p:nvSpPr>
            <p:spPr>
              <a:xfrm>
                <a:off x="3543300" y="4864100"/>
                <a:ext cx="317500" cy="1651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6AF6A70-1B43-2A6B-F247-7BF4CFD21FA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81074" y="1396999"/>
              <a:ext cx="817107" cy="356765"/>
            </a:xfrm>
            <a:prstGeom prst="rect">
              <a:avLst/>
            </a:prstGeom>
            <a:ln w="19050">
              <a:solidFill>
                <a:srgbClr val="9751CB"/>
              </a:solidFill>
            </a:ln>
          </p:spPr>
        </p:pic>
      </p:grpSp>
      <p:pic>
        <p:nvPicPr>
          <p:cNvPr id="19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9439" y="6470017"/>
            <a:ext cx="3044209" cy="320443"/>
          </a:xfrm>
          <a:prstGeom prst="rect">
            <a:avLst/>
          </a:prstGeom>
          <a:ln w="38100">
            <a:solidFill>
              <a:srgbClr val="FFFF00"/>
            </a:solidFill>
          </a:ln>
        </p:spPr>
      </p:pic>
      <p:sp>
        <p:nvSpPr>
          <p:cNvPr id="20" name="Slide Number Placeholder 4">
            <a:extLst>
              <a:ext uri="{FF2B5EF4-FFF2-40B4-BE49-F238E27FC236}">
                <a16:creationId xmlns:a16="http://schemas.microsoft.com/office/drawing/2014/main" id="{4ABFC855-CA01-A973-266D-A14E44DB6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r>
              <a:rPr lang="en-US" dirty="0"/>
              <a:t>17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63D127E-8B40-BAD0-C948-A5948B1E1F8D}"/>
              </a:ext>
            </a:extLst>
          </p:cNvPr>
          <p:cNvGrpSpPr/>
          <p:nvPr/>
        </p:nvGrpSpPr>
        <p:grpSpPr>
          <a:xfrm>
            <a:off x="4561178" y="3326160"/>
            <a:ext cx="7321903" cy="2325534"/>
            <a:chOff x="4561178" y="3326160"/>
            <a:chExt cx="7321903" cy="2325534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ADA3D4E3-72F6-A8CD-E9A8-5F01398A59C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705337" y="3436593"/>
              <a:ext cx="2781300" cy="752475"/>
            </a:xfrm>
            <a:prstGeom prst="rect">
              <a:avLst/>
            </a:prstGeom>
            <a:ln>
              <a:solidFill>
                <a:srgbClr val="FFC000"/>
              </a:solidFill>
            </a:ln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4D06D869-DE5D-C04C-27BF-BCFA513B667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561178" y="4562076"/>
              <a:ext cx="7321903" cy="1089618"/>
            </a:xfrm>
            <a:prstGeom prst="rect">
              <a:avLst/>
            </a:prstGeom>
            <a:ln w="38100">
              <a:solidFill>
                <a:srgbClr val="15C2FF"/>
              </a:solidFill>
            </a:ln>
          </p:spPr>
        </p:pic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7B1CAB7C-7A65-9E8D-E57C-3C9E45930660}"/>
                </a:ext>
              </a:extLst>
            </p:cNvPr>
            <p:cNvCxnSpPr>
              <a:cxnSpLocks/>
              <a:endCxn id="22" idx="1"/>
            </p:cNvCxnSpPr>
            <p:nvPr/>
          </p:nvCxnSpPr>
          <p:spPr>
            <a:xfrm>
              <a:off x="6843713" y="3326160"/>
              <a:ext cx="861624" cy="486671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09A24A19-5AFF-A707-0883-5EF331606D57}"/>
                </a:ext>
              </a:extLst>
            </p:cNvPr>
            <p:cNvCxnSpPr>
              <a:cxnSpLocks/>
              <a:endCxn id="26" idx="0"/>
            </p:cNvCxnSpPr>
            <p:nvPr/>
          </p:nvCxnSpPr>
          <p:spPr>
            <a:xfrm>
              <a:off x="9217154" y="4122322"/>
              <a:ext cx="1812281" cy="1052235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037B8D99-FD4C-752F-5360-2F30CEE00F9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175789" y="5174557"/>
              <a:ext cx="1707292" cy="407244"/>
            </a:xfrm>
            <a:prstGeom prst="rect">
              <a:avLst/>
            </a:prstGeom>
            <a:ln w="38100">
              <a:solidFill>
                <a:srgbClr val="CC00FF"/>
              </a:solidFill>
            </a:ln>
          </p:spPr>
        </p:pic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635E7CCA-D587-2453-B078-252DE54D346E}"/>
              </a:ext>
            </a:extLst>
          </p:cNvPr>
          <p:cNvSpPr txBox="1"/>
          <p:nvPr/>
        </p:nvSpPr>
        <p:spPr>
          <a:xfrm>
            <a:off x="5762921" y="2977977"/>
            <a:ext cx="301686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55F2514-89E9-99FA-13A7-2ACBBE93FB45}"/>
              </a:ext>
            </a:extLst>
          </p:cNvPr>
          <p:cNvSpPr txBox="1"/>
          <p:nvPr/>
        </p:nvSpPr>
        <p:spPr>
          <a:xfrm>
            <a:off x="9004517" y="3772931"/>
            <a:ext cx="301686" cy="369332"/>
          </a:xfrm>
          <a:prstGeom prst="rect">
            <a:avLst/>
          </a:prstGeom>
          <a:solidFill>
            <a:srgbClr val="15C2FF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26FF020-191B-5505-5B44-B772CCEE8279}"/>
              </a:ext>
            </a:extLst>
          </p:cNvPr>
          <p:cNvSpPr txBox="1"/>
          <p:nvPr/>
        </p:nvSpPr>
        <p:spPr>
          <a:xfrm>
            <a:off x="5474594" y="4147748"/>
            <a:ext cx="30168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30" name="Rectangle: Rounded Corners 13">
            <a:extLst>
              <a:ext uri="{FF2B5EF4-FFF2-40B4-BE49-F238E27FC236}">
                <a16:creationId xmlns:a16="http://schemas.microsoft.com/office/drawing/2014/main" id="{37FA2487-C80B-AF46-8D5B-BDA033B45112}"/>
              </a:ext>
            </a:extLst>
          </p:cNvPr>
          <p:cNvSpPr/>
          <p:nvPr/>
        </p:nvSpPr>
        <p:spPr>
          <a:xfrm>
            <a:off x="5333815" y="4542480"/>
            <a:ext cx="766521" cy="323138"/>
          </a:xfrm>
          <a:prstGeom prst="round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3232" y="2990113"/>
            <a:ext cx="3044209" cy="320443"/>
          </a:xfrm>
          <a:prstGeom prst="rect">
            <a:avLst/>
          </a:prstGeom>
          <a:ln w="38100">
            <a:solidFill>
              <a:srgbClr val="FFFF00"/>
            </a:solidFill>
          </a:ln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028F8A1C-3B0A-7896-7D63-7EB951EA6C8C}"/>
              </a:ext>
            </a:extLst>
          </p:cNvPr>
          <p:cNvSpPr txBox="1"/>
          <p:nvPr/>
        </p:nvSpPr>
        <p:spPr>
          <a:xfrm>
            <a:off x="5625437" y="5767919"/>
            <a:ext cx="5088677" cy="1015663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rgbClr val="FF0000"/>
                </a:solidFill>
              </a:rPr>
              <a:t>WDE-WRAP UP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zh-TW" altLang="en-US" dirty="0"/>
              <a:t>以登記人的電話號碼，</a:t>
            </a:r>
            <a:r>
              <a:rPr lang="en-US" altLang="zh-TW" dirty="0"/>
              <a:t>[Create New Contact] </a:t>
            </a:r>
            <a:r>
              <a:rPr lang="zh-TW" altLang="en-US" dirty="0"/>
              <a:t>或</a:t>
            </a:r>
            <a:r>
              <a:rPr lang="en-US" altLang="zh-TW" dirty="0"/>
              <a:t>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zh-TW" altLang="en-US" dirty="0"/>
              <a:t>利用</a:t>
            </a:r>
            <a:r>
              <a:rPr lang="en-US" altLang="zh-TW" dirty="0"/>
              <a:t>Siebel</a:t>
            </a:r>
            <a:r>
              <a:rPr lang="zh-TW" altLang="en-US" dirty="0"/>
              <a:t>內的</a:t>
            </a:r>
            <a:r>
              <a:rPr lang="en-US" altLang="zh-TW" dirty="0"/>
              <a:t>Pending A/C (</a:t>
            </a:r>
            <a:r>
              <a:rPr lang="zh-TW" altLang="en-US" dirty="0"/>
              <a:t>如有</a:t>
            </a:r>
            <a:r>
              <a:rPr lang="en-US" altLang="zh-TW" dirty="0"/>
              <a:t>) [Quick Search]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09415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160" y="742950"/>
            <a:ext cx="8336212" cy="6115050"/>
          </a:xfrm>
          <a:prstGeom prst="rect">
            <a:avLst/>
          </a:prstGeom>
        </p:spPr>
      </p:pic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220200" y="6394450"/>
            <a:ext cx="2743200" cy="365125"/>
          </a:xfrm>
        </p:spPr>
        <p:txBody>
          <a:bodyPr/>
          <a:lstStyle/>
          <a:p>
            <a:r>
              <a:rPr lang="en-US" altLang="zh-TW" dirty="0"/>
              <a:t>18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36FA1C-D5F7-24B3-3917-645EA00F050B}"/>
              </a:ext>
            </a:extLst>
          </p:cNvPr>
          <p:cNvSpPr txBox="1"/>
          <p:nvPr/>
        </p:nvSpPr>
        <p:spPr>
          <a:xfrm>
            <a:off x="220180" y="378292"/>
            <a:ext cx="5440272" cy="400110"/>
          </a:xfrm>
          <a:prstGeom prst="rect">
            <a:avLst/>
          </a:prstGeom>
          <a:solidFill>
            <a:srgbClr val="FFFF65"/>
          </a:solidFill>
        </p:spPr>
        <p:txBody>
          <a:bodyPr wrap="none" rtlCol="0">
            <a:spAutoFit/>
          </a:bodyPr>
          <a:lstStyle/>
          <a:p>
            <a:r>
              <a:rPr lang="zh-TW" altLang="en-US" sz="2000" b="1" dirty="0"/>
              <a:t>由 </a:t>
            </a:r>
            <a:r>
              <a:rPr lang="en-US" altLang="zh-TW" sz="2000" b="1" dirty="0"/>
              <a:t>Meter Reading Case </a:t>
            </a:r>
            <a:r>
              <a:rPr lang="zh-TW" altLang="en-US" sz="2000" b="1" dirty="0"/>
              <a:t>轉為 抄錶開氣單 </a:t>
            </a:r>
            <a:r>
              <a:rPr lang="en-US" altLang="zh-TW" sz="2000" b="1" dirty="0"/>
              <a:t>(X11RX)</a:t>
            </a:r>
            <a:endParaRPr lang="en-US" sz="2000" b="1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180" y="5607049"/>
            <a:ext cx="3704120" cy="268415"/>
          </a:xfrm>
          <a:prstGeom prst="rect">
            <a:avLst/>
          </a:prstGeom>
          <a:ln w="19050">
            <a:solidFill>
              <a:srgbClr val="FFC000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4908550" y="5456364"/>
            <a:ext cx="3479303" cy="903766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908550" y="4018863"/>
            <a:ext cx="3479303" cy="914400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urved Left Arrow 9"/>
          <p:cNvSpPr/>
          <p:nvPr/>
        </p:nvSpPr>
        <p:spPr>
          <a:xfrm rot="10800000">
            <a:off x="4318000" y="4584699"/>
            <a:ext cx="565150" cy="1075766"/>
          </a:xfrm>
          <a:prstGeom prst="curvedLeftArrow">
            <a:avLst/>
          </a:prstGeom>
          <a:solidFill>
            <a:srgbClr val="FFF7E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1" name="Straight Arrow Connector 10"/>
          <p:cNvCxnSpPr/>
          <p:nvPr/>
        </p:nvCxnSpPr>
        <p:spPr>
          <a:xfrm flipH="1">
            <a:off x="7745012" y="4687788"/>
            <a:ext cx="731741" cy="104972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411072" y="803862"/>
            <a:ext cx="3526928" cy="2862322"/>
          </a:xfrm>
          <a:prstGeom prst="rect">
            <a:avLst/>
          </a:prstGeom>
          <a:solidFill>
            <a:srgbClr val="F8F3FB"/>
          </a:solidFill>
        </p:spPr>
        <p:txBody>
          <a:bodyPr wrap="none" rtlCol="0">
            <a:spAutoFit/>
          </a:bodyPr>
          <a:lstStyle/>
          <a:p>
            <a:r>
              <a:rPr lang="zh-TW" altLang="en-US" dirty="0"/>
              <a:t>如遇以下情況，同事可為</a:t>
            </a:r>
            <a:endParaRPr lang="en-US" altLang="zh-TW" dirty="0"/>
          </a:p>
          <a:p>
            <a:r>
              <a:rPr lang="zh-TW" altLang="en-US" dirty="0"/>
              <a:t>客人可沿用舊方法，預約</a:t>
            </a:r>
            <a:endParaRPr lang="en-US" altLang="zh-TW" dirty="0"/>
          </a:p>
          <a:p>
            <a:r>
              <a:rPr lang="zh-TW" altLang="en-US" dirty="0"/>
              <a:t>技術人員於指定日期到單位</a:t>
            </a:r>
            <a:endParaRPr lang="en-US" altLang="zh-TW" dirty="0"/>
          </a:p>
          <a:p>
            <a:r>
              <a:rPr lang="zh-TW" altLang="en-US" dirty="0"/>
              <a:t>開</a:t>
            </a:r>
            <a:r>
              <a:rPr lang="en-US" altLang="zh-TW" dirty="0"/>
              <a:t>/</a:t>
            </a:r>
            <a:r>
              <a:rPr lang="zh-TW" altLang="en-US" dirty="0"/>
              <a:t>抄錶生效戶口 </a:t>
            </a:r>
            <a:r>
              <a:rPr lang="en-US" altLang="zh-TW" dirty="0"/>
              <a:t>(X11RX)</a:t>
            </a:r>
            <a:r>
              <a:rPr lang="zh-TW" altLang="en-US" dirty="0"/>
              <a:t>。</a:t>
            </a:r>
            <a:endParaRPr lang="en-US" altLang="zh-TW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/>
              <a:t>單位煤氣供應已終止 或 </a:t>
            </a:r>
            <a:endParaRPr lang="en-US" altLang="zh-TW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/>
              <a:t>未能提供煤氣錶相 或 </a:t>
            </a:r>
            <a:endParaRPr lang="en-US" altLang="zh-TW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/>
              <a:t>相片度數有異 或</a:t>
            </a:r>
            <a:endParaRPr lang="en-US" altLang="zh-TW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/>
              <a:t>煤氣錶編號與記錄不符 或</a:t>
            </a:r>
            <a:endParaRPr lang="en-US" altLang="zh-TW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/>
              <a:t>不願意即時生效煤氣戶口 等等</a:t>
            </a:r>
            <a:endParaRPr lang="en-US" altLang="zh-TW" dirty="0"/>
          </a:p>
        </p:txBody>
      </p:sp>
      <p:sp>
        <p:nvSpPr>
          <p:cNvPr id="13" name="TextBox 12"/>
          <p:cNvSpPr txBox="1"/>
          <p:nvPr/>
        </p:nvSpPr>
        <p:spPr>
          <a:xfrm>
            <a:off x="8411072" y="3866821"/>
            <a:ext cx="3755528" cy="2585323"/>
          </a:xfrm>
          <a:prstGeom prst="rect">
            <a:avLst/>
          </a:prstGeom>
          <a:solidFill>
            <a:srgbClr val="ECDFF5"/>
          </a:solidFill>
        </p:spPr>
        <p:txBody>
          <a:bodyPr wrap="square" rtlCol="0">
            <a:spAutoFit/>
          </a:bodyPr>
          <a:lstStyle/>
          <a:p>
            <a:r>
              <a:rPr lang="zh-TW" altLang="en-US" dirty="0"/>
              <a:t>處理方法：</a:t>
            </a:r>
            <a:endParaRPr lang="en-US" altLang="zh-TW" dirty="0"/>
          </a:p>
          <a:p>
            <a:r>
              <a:rPr lang="zh-TW" altLang="en-US" dirty="0"/>
              <a:t>於個案右方的</a:t>
            </a:r>
            <a:r>
              <a:rPr lang="en-US" altLang="zh-TW" dirty="0"/>
              <a:t>Appointment Date Time</a:t>
            </a:r>
          </a:p>
          <a:p>
            <a:r>
              <a:rPr lang="zh-TW" altLang="en-US" dirty="0"/>
              <a:t>為客人修改</a:t>
            </a:r>
            <a:r>
              <a:rPr lang="en-US" altLang="zh-TW" dirty="0"/>
              <a:t>(Edit)</a:t>
            </a:r>
            <a:r>
              <a:rPr lang="zh-TW" altLang="en-US" dirty="0"/>
              <a:t>所需要的時間</a:t>
            </a:r>
            <a:r>
              <a:rPr lang="en-US" altLang="zh-TW" dirty="0"/>
              <a:t>(</a:t>
            </a:r>
            <a:r>
              <a:rPr lang="zh-TW" altLang="en-US" dirty="0"/>
              <a:t>請</a:t>
            </a:r>
            <a:endParaRPr lang="en-US" altLang="zh-TW" dirty="0"/>
          </a:p>
          <a:p>
            <a:r>
              <a:rPr lang="zh-TW" altLang="en-US" dirty="0"/>
              <a:t>根據</a:t>
            </a:r>
            <a:r>
              <a:rPr lang="en-US" altLang="zh-TW" dirty="0"/>
              <a:t>Siebel</a:t>
            </a:r>
            <a:r>
              <a:rPr lang="zh-TW" altLang="en-US" dirty="0"/>
              <a:t>配額</a:t>
            </a:r>
            <a:r>
              <a:rPr lang="en-US" altLang="zh-TW" dirty="0"/>
              <a:t>)</a:t>
            </a:r>
            <a:r>
              <a:rPr lang="zh-TW" altLang="en-US" dirty="0"/>
              <a:t>及</a:t>
            </a:r>
            <a:r>
              <a:rPr lang="en-US" altLang="zh-TW" dirty="0"/>
              <a:t>/</a:t>
            </a:r>
            <a:r>
              <a:rPr lang="zh-TW" altLang="en-US" dirty="0"/>
              <a:t>或聯絡資料。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修改後，                                                 </a:t>
            </a:r>
            <a:endParaRPr lang="en-US" altLang="zh-TW" dirty="0"/>
          </a:p>
          <a:p>
            <a:r>
              <a:rPr lang="zh-TW" altLang="en-US" dirty="0"/>
              <a:t>按鈕便會亮起，同事可把個案交予</a:t>
            </a:r>
            <a:endParaRPr lang="en-US" altLang="zh-TW" dirty="0"/>
          </a:p>
          <a:p>
            <a:r>
              <a:rPr lang="en-US" altLang="zh-TW" dirty="0"/>
              <a:t>RPA</a:t>
            </a:r>
            <a:r>
              <a:rPr lang="zh-TW" altLang="en-US" dirty="0"/>
              <a:t>落單及回覆確認電郵。</a:t>
            </a:r>
            <a:endParaRPr lang="en-US" altLang="zh-TW" dirty="0"/>
          </a:p>
        </p:txBody>
      </p:sp>
      <p:cxnSp>
        <p:nvCxnSpPr>
          <p:cNvPr id="14" name="Straight Arrow Connector 13"/>
          <p:cNvCxnSpPr/>
          <p:nvPr/>
        </p:nvCxnSpPr>
        <p:spPr>
          <a:xfrm flipH="1" flipV="1">
            <a:off x="8098184" y="4613806"/>
            <a:ext cx="391269" cy="73982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 flipV="1">
            <a:off x="8060085" y="4388504"/>
            <a:ext cx="429368" cy="314779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9082" y="5558867"/>
            <a:ext cx="2544318" cy="28270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936FA1C-D5F7-24B3-3917-645EA00F050B}"/>
              </a:ext>
            </a:extLst>
          </p:cNvPr>
          <p:cNvSpPr txBox="1"/>
          <p:nvPr/>
        </p:nvSpPr>
        <p:spPr>
          <a:xfrm>
            <a:off x="220180" y="29042"/>
            <a:ext cx="58755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e-Service &gt; Open Account </a:t>
            </a:r>
            <a:r>
              <a:rPr lang="en-US" altLang="zh-TW" sz="2000" b="1" dirty="0"/>
              <a:t>– Accept Reading </a:t>
            </a:r>
            <a:r>
              <a:rPr lang="zh-TW" altLang="en-US" sz="2000" b="1" dirty="0"/>
              <a:t>處理方法</a:t>
            </a:r>
            <a:endParaRPr lang="en-US" altLang="zh-TW" sz="2000" b="1" dirty="0"/>
          </a:p>
        </p:txBody>
      </p:sp>
    </p:spTree>
    <p:extLst>
      <p:ext uri="{BB962C8B-B14F-4D97-AF65-F5344CB8AC3E}">
        <p14:creationId xmlns:p14="http://schemas.microsoft.com/office/powerpoint/2010/main" val="1810873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936FA1C-D5F7-24B3-3917-645EA00F050B}"/>
              </a:ext>
            </a:extLst>
          </p:cNvPr>
          <p:cNvSpPr txBox="1"/>
          <p:nvPr/>
        </p:nvSpPr>
        <p:spPr>
          <a:xfrm>
            <a:off x="425885" y="150312"/>
            <a:ext cx="52743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e-Service &gt; Open Account </a:t>
            </a:r>
            <a:r>
              <a:rPr lang="zh-TW" altLang="en-US" sz="2000" b="1" dirty="0"/>
              <a:t>介面認識及處理方法</a:t>
            </a:r>
            <a:endParaRPr lang="en-US" sz="2000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BFC855-CA01-A973-266D-A14E44DB6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r>
              <a:rPr lang="en-US" dirty="0"/>
              <a:t>19</a:t>
            </a:r>
          </a:p>
        </p:txBody>
      </p:sp>
      <p:sp>
        <p:nvSpPr>
          <p:cNvPr id="6" name="Rectangle 5"/>
          <p:cNvSpPr/>
          <p:nvPr/>
        </p:nvSpPr>
        <p:spPr>
          <a:xfrm>
            <a:off x="371363" y="611702"/>
            <a:ext cx="112643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如個案屬以下情況，同事便需要“自行落單”，不可交予</a:t>
            </a:r>
            <a:r>
              <a:rPr lang="en-US" altLang="zh-HK" sz="2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RPA</a:t>
            </a:r>
            <a:r>
              <a:rPr lang="zh-HK" altLang="en-US" sz="2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處理 </a:t>
            </a:r>
            <a:r>
              <a:rPr lang="en-US" altLang="zh-HK" sz="2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!!</a:t>
            </a:r>
            <a:endParaRPr lang="zh-HK" altLang="en-US" sz="2400" dirty="0">
              <a:solidFill>
                <a:srgbClr val="FF0000"/>
              </a:solidFill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43FBA4-884C-0D6F-E973-8D85882A6BD5}"/>
              </a:ext>
            </a:extLst>
          </p:cNvPr>
          <p:cNvSpPr txBox="1"/>
          <p:nvPr/>
        </p:nvSpPr>
        <p:spPr>
          <a:xfrm>
            <a:off x="350025" y="989368"/>
            <a:ext cx="10700505" cy="5632311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zh-TW" altLang="en-US" strike="sngStrike" dirty="0"/>
              <a:t>申請屬 </a:t>
            </a:r>
            <a:r>
              <a:rPr lang="en-US" strike="sngStrike" dirty="0"/>
              <a:t>Accept Reading X6600 (New) </a:t>
            </a:r>
          </a:p>
          <a:p>
            <a:endParaRPr lang="en-US" strike="sngStrike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zh-TW" altLang="en-US" dirty="0"/>
              <a:t>已有</a:t>
            </a:r>
            <a:r>
              <a:rPr lang="en-US" altLang="zh-TW" dirty="0"/>
              <a:t>Pending to Active </a:t>
            </a:r>
            <a:r>
              <a:rPr lang="zh-TW" altLang="en-US" dirty="0"/>
              <a:t>戶口</a:t>
            </a:r>
            <a:endParaRPr lang="en-US" strike="sngStrike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altLang="zh-TW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zh-TW" altLang="en-US" dirty="0"/>
              <a:t>登記人姓名屬公司名</a:t>
            </a:r>
            <a:endParaRPr lang="en-US" altLang="zh-TW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altLang="zh-TW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zh-TW" altLang="en-US" dirty="0"/>
              <a:t>登記人姓名的字數多於</a:t>
            </a:r>
            <a:r>
              <a:rPr lang="en-US" altLang="zh-TW" dirty="0"/>
              <a:t>30</a:t>
            </a:r>
            <a:r>
              <a:rPr lang="zh-TW" altLang="en-US" dirty="0"/>
              <a:t>個字 </a:t>
            </a:r>
            <a:r>
              <a:rPr lang="en-US" altLang="zh-TW" dirty="0"/>
              <a:t>(</a:t>
            </a:r>
            <a:r>
              <a:rPr lang="zh-TW" altLang="en-US" dirty="0"/>
              <a:t>連空格</a:t>
            </a:r>
            <a:r>
              <a:rPr lang="en-US" altLang="zh-TW" dirty="0"/>
              <a:t>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zh-TW" altLang="en-US" dirty="0"/>
              <a:t>按金豁免 </a:t>
            </a:r>
            <a:endParaRPr lang="en-US" altLang="zh-TW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zh-TW" altLang="en-US" dirty="0"/>
              <a:t>預約日期</a:t>
            </a:r>
            <a:r>
              <a:rPr lang="en-US" altLang="zh-TW" dirty="0"/>
              <a:t> = </a:t>
            </a:r>
            <a:r>
              <a:rPr lang="zh-TW" altLang="en-US" dirty="0"/>
              <a:t>即日 </a:t>
            </a:r>
            <a:r>
              <a:rPr lang="en-US" altLang="zh-TW" dirty="0"/>
              <a:t>/ </a:t>
            </a:r>
            <a:r>
              <a:rPr lang="zh-TW" altLang="en-US" dirty="0"/>
              <a:t>已過去日子</a:t>
            </a:r>
            <a:endParaRPr lang="en-US" altLang="zh-TW" dirty="0"/>
          </a:p>
          <a:p>
            <a:endParaRPr lang="en-US" altLang="zh-TW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zh-TW" altLang="en-US" dirty="0"/>
              <a:t>購買</a:t>
            </a:r>
            <a:r>
              <a:rPr lang="en-US" altLang="zh-TW" dirty="0"/>
              <a:t>/</a:t>
            </a:r>
            <a:r>
              <a:rPr lang="zh-TW" altLang="en-US" dirty="0"/>
              <a:t>更換新爐具 </a:t>
            </a:r>
            <a:r>
              <a:rPr lang="en-US" altLang="zh-TW" dirty="0"/>
              <a:t>= </a:t>
            </a:r>
            <a:r>
              <a:rPr lang="zh-TW" altLang="en-US" dirty="0"/>
              <a:t>是 </a:t>
            </a:r>
            <a:endParaRPr lang="en-US" altLang="zh-TW" dirty="0"/>
          </a:p>
          <a:p>
            <a:endParaRPr lang="en-US" altLang="zh-TW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altLang="zh-TW" dirty="0"/>
              <a:t>Premise </a:t>
            </a:r>
            <a:r>
              <a:rPr lang="zh-TW" altLang="en-US" dirty="0"/>
              <a:t>內的</a:t>
            </a:r>
            <a:r>
              <a:rPr lang="en-US" altLang="zh-TW" dirty="0"/>
              <a:t>Comments </a:t>
            </a:r>
            <a:r>
              <a:rPr lang="zh-TW" altLang="en-US" dirty="0"/>
              <a:t>註明 </a:t>
            </a:r>
            <a:r>
              <a:rPr lang="en-US" altLang="zh-TW" dirty="0"/>
              <a:t>“Gas leak was found when cap off…, raise work order DGPL and send </a:t>
            </a:r>
            <a:r>
              <a:rPr lang="en-US" altLang="zh-TW" dirty="0" err="1"/>
              <a:t>msg</a:t>
            </a:r>
            <a:r>
              <a:rPr lang="en-US" altLang="zh-TW" dirty="0"/>
              <a:t> …”</a:t>
            </a:r>
          </a:p>
          <a:p>
            <a:endParaRPr lang="en-US" altLang="zh-TW" dirty="0"/>
          </a:p>
          <a:p>
            <a:r>
              <a:rPr lang="en-US" altLang="zh-TW" dirty="0"/>
              <a:t> (</a:t>
            </a:r>
            <a:r>
              <a:rPr lang="zh-TW" altLang="en-US" dirty="0"/>
              <a:t>交予</a:t>
            </a:r>
            <a:r>
              <a:rPr lang="en-US" altLang="zh-TW" dirty="0"/>
              <a:t>RPA</a:t>
            </a:r>
            <a:r>
              <a:rPr lang="zh-TW" altLang="en-US" dirty="0"/>
              <a:t>處理的個案，系統除了為客戶開單外，還會發送確認電郵給客人，但所發出的確認電郵，是按該個案的首次遞交資訊來回覆，故此，與客人辦理申請時，如申請資料曾作出修改，一律需要 </a:t>
            </a:r>
            <a:r>
              <a:rPr lang="en-US" altLang="zh-TW" dirty="0"/>
              <a:t>“</a:t>
            </a:r>
            <a:r>
              <a:rPr lang="zh-TW" altLang="en-US" dirty="0"/>
              <a:t>自行落單</a:t>
            </a:r>
            <a:r>
              <a:rPr lang="en-US" altLang="zh-TW" dirty="0"/>
              <a:t>”</a:t>
            </a:r>
            <a:r>
              <a:rPr lang="zh-TW" altLang="en-US" dirty="0"/>
              <a:t>，落單步驟不變，但在回覆確認電郵時，請留意需自行撰寫電郵</a:t>
            </a:r>
            <a:r>
              <a:rPr lang="en-US" altLang="zh-TW" dirty="0"/>
              <a:t>[Send Email]</a:t>
            </a:r>
            <a:r>
              <a:rPr lang="zh-TW" altLang="en-US" dirty="0"/>
              <a:t>，並按</a:t>
            </a:r>
            <a:r>
              <a:rPr lang="en-US" altLang="zh-TW" dirty="0"/>
              <a:t>[Complete Case]</a:t>
            </a:r>
            <a:r>
              <a:rPr lang="en-US" altLang="zh-TW" dirty="0">
                <a:sym typeface="Wingdings" panose="05000000000000000000" pitchFamily="2" charset="2"/>
              </a:rPr>
              <a:t>[Not Send Email]</a:t>
            </a:r>
            <a:r>
              <a:rPr lang="zh-TW" altLang="en-US" dirty="0">
                <a:sym typeface="Wingdings" panose="05000000000000000000" pitchFamily="2" charset="2"/>
              </a:rPr>
              <a:t>。</a:t>
            </a:r>
            <a:r>
              <a:rPr lang="en-US" altLang="zh-TW" dirty="0"/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43FBA4-884C-0D6F-E973-8D85882A6BD5}"/>
              </a:ext>
            </a:extLst>
          </p:cNvPr>
          <p:cNvSpPr txBox="1"/>
          <p:nvPr/>
        </p:nvSpPr>
        <p:spPr>
          <a:xfrm>
            <a:off x="4971332" y="1073367"/>
            <a:ext cx="7024536" cy="3139321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zh-TW" altLang="en-US" strike="sngStrike" dirty="0"/>
              <a:t>人客遞交申請 </a:t>
            </a:r>
            <a:r>
              <a:rPr lang="en-US" strike="sngStrike" dirty="0"/>
              <a:t>Accept Reading </a:t>
            </a:r>
            <a:r>
              <a:rPr lang="zh-TW" altLang="en-US" strike="sngStrike" dirty="0"/>
              <a:t>轉為預約上門抄錶 </a:t>
            </a:r>
            <a:r>
              <a:rPr lang="en-US" altLang="zh-TW" strike="sngStrike" dirty="0"/>
              <a:t>(</a:t>
            </a:r>
            <a:r>
              <a:rPr lang="en-US" strike="sngStrike" dirty="0"/>
              <a:t>New) </a:t>
            </a:r>
            <a:endParaRPr lang="en-US" altLang="zh-TW" strike="sngStrike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Postal Address </a:t>
            </a:r>
            <a:r>
              <a:rPr lang="zh-TW" altLang="en-US" dirty="0"/>
              <a:t>並沒有</a:t>
            </a:r>
            <a:r>
              <a:rPr lang="en-US" altLang="zh-TW" dirty="0" err="1"/>
              <a:t>PremiseID</a:t>
            </a:r>
            <a:endParaRPr lang="en-US" dirty="0"/>
          </a:p>
          <a:p>
            <a:endParaRPr lang="en-US" altLang="zh-TW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zh-TW" altLang="en-US" dirty="0"/>
              <a:t>沒有煤氣錶位 </a:t>
            </a:r>
            <a:r>
              <a:rPr lang="en-US" altLang="zh-TW" dirty="0"/>
              <a:t>(No Meter Point)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altLang="zh-TW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altLang="zh-TW" dirty="0"/>
              <a:t>Premise</a:t>
            </a:r>
            <a:r>
              <a:rPr lang="zh-TW" altLang="en-US" dirty="0"/>
              <a:t>內的煤氣錶 </a:t>
            </a:r>
            <a:r>
              <a:rPr lang="en-US" dirty="0"/>
              <a:t>Service Point Status = Removed (Confirm)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zh-TW" altLang="en-US" dirty="0"/>
              <a:t>戶口類別 </a:t>
            </a:r>
            <a:r>
              <a:rPr lang="en-US" dirty="0"/>
              <a:t>= </a:t>
            </a:r>
            <a:r>
              <a:rPr lang="zh-TW" altLang="en-US" dirty="0"/>
              <a:t>工商業</a:t>
            </a:r>
            <a:endParaRPr lang="en-US" altLang="zh-TW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altLang="zh-TW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zh-TW" altLang="en-US" dirty="0"/>
              <a:t>個案內的資料經編輯 </a:t>
            </a:r>
            <a:r>
              <a:rPr lang="en-US" altLang="zh-TW" dirty="0"/>
              <a:t>(</a:t>
            </a:r>
            <a:r>
              <a:rPr lang="zh-TW" altLang="en-US" dirty="0"/>
              <a:t>如：聯絡電話、</a:t>
            </a:r>
            <a:r>
              <a:rPr lang="zh-TW" altLang="en-US" strike="sngStrike" dirty="0"/>
              <a:t>預約日期</a:t>
            </a:r>
            <a:r>
              <a:rPr lang="zh-TW" altLang="en-US" dirty="0"/>
              <a:t>、物業</a:t>
            </a:r>
            <a:r>
              <a:rPr lang="en-US" altLang="zh-TW" dirty="0"/>
              <a:t>/</a:t>
            </a:r>
            <a:r>
              <a:rPr lang="zh-TW" altLang="en-US" dirty="0"/>
              <a:t>通訊地址</a:t>
            </a:r>
            <a:r>
              <a:rPr lang="en-US" altLang="zh-TW" dirty="0"/>
              <a:t>…)</a:t>
            </a:r>
          </a:p>
        </p:txBody>
      </p:sp>
    </p:spTree>
    <p:extLst>
      <p:ext uri="{BB962C8B-B14F-4D97-AF65-F5344CB8AC3E}">
        <p14:creationId xmlns:p14="http://schemas.microsoft.com/office/powerpoint/2010/main" val="9521664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936FA1C-D5F7-24B3-3917-645EA00F050B}"/>
              </a:ext>
            </a:extLst>
          </p:cNvPr>
          <p:cNvSpPr txBox="1"/>
          <p:nvPr/>
        </p:nvSpPr>
        <p:spPr>
          <a:xfrm>
            <a:off x="425885" y="150312"/>
            <a:ext cx="527439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e-Service &gt; Open Account </a:t>
            </a:r>
            <a:r>
              <a:rPr lang="zh-TW" altLang="en-US" sz="2000" b="1" dirty="0"/>
              <a:t>介面認識及處理方法</a:t>
            </a:r>
            <a:endParaRPr lang="en-US" altLang="zh-TW" sz="2000" b="1" dirty="0"/>
          </a:p>
          <a:p>
            <a:r>
              <a:rPr lang="zh-TW" altLang="en-US" sz="2000" b="1" dirty="0">
                <a:solidFill>
                  <a:schemeClr val="tx1"/>
                </a:solidFill>
              </a:rPr>
              <a:t>自行落單</a:t>
            </a:r>
            <a:endParaRPr lang="en-US" sz="2000" b="1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522DB80-D9D5-37B6-02A2-B6C988700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B04AD-5EB0-49DF-9047-5419DE7250E3}" type="slidenum">
              <a:rPr lang="en-US" smtClean="0"/>
              <a:t>20</a:t>
            </a:fld>
            <a:endParaRPr lang="en-US"/>
          </a:p>
        </p:txBody>
      </p:sp>
      <p:sp>
        <p:nvSpPr>
          <p:cNvPr id="5" name="Scroll: Horizontal 4">
            <a:extLst>
              <a:ext uri="{FF2B5EF4-FFF2-40B4-BE49-F238E27FC236}">
                <a16:creationId xmlns:a16="http://schemas.microsoft.com/office/drawing/2014/main" id="{6744913E-E0BC-39DF-B819-32CC2448A7C8}"/>
              </a:ext>
            </a:extLst>
          </p:cNvPr>
          <p:cNvSpPr/>
          <p:nvPr/>
        </p:nvSpPr>
        <p:spPr>
          <a:xfrm>
            <a:off x="933435" y="517067"/>
            <a:ext cx="10011229" cy="5839283"/>
          </a:xfrm>
          <a:prstGeom prst="horizontalScroll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49F3AF-02B9-3472-D54D-B738AAF1A393}"/>
              </a:ext>
            </a:extLst>
          </p:cNvPr>
          <p:cNvSpPr txBox="1"/>
          <p:nvPr/>
        </p:nvSpPr>
        <p:spPr>
          <a:xfrm>
            <a:off x="1744625" y="2074998"/>
            <a:ext cx="436615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>
              <a:solidFill>
                <a:srgbClr val="0070C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zh-TW" altLang="en-US" sz="2000" dirty="0">
                <a:solidFill>
                  <a:srgbClr val="0070C0"/>
                </a:solidFill>
              </a:rPr>
              <a:t>賬單通訊地址</a:t>
            </a:r>
            <a:endParaRPr lang="en-US" altLang="zh-TW" sz="2000" dirty="0">
              <a:solidFill>
                <a:srgbClr val="0070C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2000" dirty="0">
              <a:solidFill>
                <a:srgbClr val="0070C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zh-TW" altLang="en-US" sz="2000" dirty="0">
                <a:solidFill>
                  <a:srgbClr val="0070C0"/>
                </a:solidFill>
              </a:rPr>
              <a:t>賬單語文</a:t>
            </a:r>
            <a:endParaRPr lang="en-US" altLang="zh-TW" sz="2000" dirty="0">
              <a:solidFill>
                <a:srgbClr val="0070C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2000" dirty="0">
              <a:solidFill>
                <a:srgbClr val="0070C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zh-TW" altLang="en-US" sz="2000" dirty="0">
                <a:solidFill>
                  <a:srgbClr val="0070C0"/>
                </a:solidFill>
              </a:rPr>
              <a:t>申請人與聯絡人的姓名及電話號碼</a:t>
            </a:r>
            <a:endParaRPr lang="en-US" altLang="zh-TW" sz="2000" dirty="0">
              <a:solidFill>
                <a:srgbClr val="0070C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49F3AF-02B9-3472-D54D-B738AAF1A393}"/>
              </a:ext>
            </a:extLst>
          </p:cNvPr>
          <p:cNvSpPr txBox="1"/>
          <p:nvPr/>
        </p:nvSpPr>
        <p:spPr>
          <a:xfrm>
            <a:off x="6110777" y="2074998"/>
            <a:ext cx="411643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TW" sz="2000" dirty="0">
              <a:solidFill>
                <a:srgbClr val="0070C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zh-TW" altLang="en-US" sz="2000" dirty="0">
                <a:solidFill>
                  <a:srgbClr val="0070C0"/>
                </a:solidFill>
              </a:rPr>
              <a:t>申請電子賬單 </a:t>
            </a:r>
            <a:r>
              <a:rPr lang="en-US" altLang="zh-TW" sz="2000" dirty="0">
                <a:solidFill>
                  <a:srgbClr val="0070C0"/>
                </a:solidFill>
              </a:rPr>
              <a:t>pg. 21-23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2000" dirty="0">
              <a:solidFill>
                <a:srgbClr val="0070C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zh-TW" altLang="en-US" sz="2000" dirty="0">
                <a:solidFill>
                  <a:srgbClr val="0070C0"/>
                </a:solidFill>
              </a:rPr>
              <a:t>連結原有網上賬戶 </a:t>
            </a:r>
            <a:r>
              <a:rPr lang="en-US" altLang="zh-TW" sz="2000" dirty="0">
                <a:solidFill>
                  <a:srgbClr val="0070C0"/>
                </a:solidFill>
              </a:rPr>
              <a:t>pg. 25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altLang="zh-TW" sz="2000" dirty="0">
              <a:solidFill>
                <a:srgbClr val="0070C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zh-TW" altLang="en-US" sz="2000" dirty="0">
                <a:solidFill>
                  <a:srgbClr val="0070C0"/>
                </a:solidFill>
              </a:rPr>
              <a:t>開氣連同申請自動轉賬 </a:t>
            </a:r>
            <a:r>
              <a:rPr lang="en-US" altLang="zh-TW" sz="2000" dirty="0">
                <a:solidFill>
                  <a:srgbClr val="0070C0"/>
                </a:solidFill>
              </a:rPr>
              <a:t>pg. 27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2000" dirty="0">
              <a:solidFill>
                <a:srgbClr val="0070C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zh-TW" altLang="en-US" sz="2000" dirty="0">
                <a:solidFill>
                  <a:srgbClr val="0070C0"/>
                </a:solidFill>
              </a:rPr>
              <a:t>直接促銷 </a:t>
            </a:r>
            <a:r>
              <a:rPr lang="en-US" altLang="zh-TW" sz="2000" dirty="0">
                <a:solidFill>
                  <a:srgbClr val="0070C0"/>
                </a:solidFill>
              </a:rPr>
              <a:t>pg. 28-33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2000" dirty="0">
              <a:solidFill>
                <a:srgbClr val="0070C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zh-TW" altLang="en-US" sz="2000" dirty="0">
                <a:solidFill>
                  <a:srgbClr val="0070C0"/>
                </a:solidFill>
              </a:rPr>
              <a:t>按金豁免 </a:t>
            </a:r>
            <a:r>
              <a:rPr lang="en-US" altLang="zh-TW" sz="2000" dirty="0">
                <a:solidFill>
                  <a:srgbClr val="0070C0"/>
                </a:solidFill>
              </a:rPr>
              <a:t>pg. 38-39 </a:t>
            </a:r>
            <a:endParaRPr lang="en-US" sz="2000" dirty="0">
              <a:solidFill>
                <a:srgbClr val="0070C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49F3AF-02B9-3472-D54D-B738AAF1A393}"/>
              </a:ext>
            </a:extLst>
          </p:cNvPr>
          <p:cNvSpPr txBox="1"/>
          <p:nvPr/>
        </p:nvSpPr>
        <p:spPr>
          <a:xfrm>
            <a:off x="3927701" y="1257279"/>
            <a:ext cx="43661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b="1" u="sng" dirty="0">
                <a:solidFill>
                  <a:srgbClr val="002060"/>
                </a:solidFill>
              </a:rPr>
              <a:t>自行落單需要注意的事項</a:t>
            </a:r>
            <a:endParaRPr lang="en-US" altLang="zh-TW" sz="1900" u="sng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97737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B04AD-5EB0-49DF-9047-5419DE7250E3}" type="slidenum">
              <a:rPr lang="en-US" smtClean="0"/>
              <a:t>21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36FA1C-D5F7-24B3-3917-645EA00F050B}"/>
              </a:ext>
            </a:extLst>
          </p:cNvPr>
          <p:cNvSpPr txBox="1"/>
          <p:nvPr/>
        </p:nvSpPr>
        <p:spPr>
          <a:xfrm>
            <a:off x="477401" y="2095022"/>
            <a:ext cx="10356168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/>
              <a:t>e-Service &gt; Open Account </a:t>
            </a:r>
            <a:r>
              <a:rPr lang="zh-TW" altLang="en-US" sz="4000" b="1" dirty="0"/>
              <a:t>介面認識及處理方法</a:t>
            </a:r>
            <a:endParaRPr lang="en-US" altLang="zh-TW" sz="4000" b="1" dirty="0"/>
          </a:p>
          <a:p>
            <a:r>
              <a:rPr lang="zh-TW" altLang="en-US" sz="4000" b="1" dirty="0"/>
              <a:t>增值服務 </a:t>
            </a:r>
            <a:r>
              <a:rPr lang="en-US" altLang="zh-TW" sz="4000" b="1" dirty="0"/>
              <a:t>–</a:t>
            </a:r>
            <a:r>
              <a:rPr lang="zh-TW" altLang="en-US" sz="4000" b="1" dirty="0">
                <a:solidFill>
                  <a:schemeClr val="tx1"/>
                </a:solidFill>
              </a:rPr>
              <a:t>自行落單</a:t>
            </a:r>
            <a:endParaRPr lang="en-US" altLang="zh-TW" sz="4000" b="1" dirty="0">
              <a:solidFill>
                <a:schemeClr val="tx1"/>
              </a:solidFill>
            </a:endParaRPr>
          </a:p>
          <a:p>
            <a:endParaRPr lang="en-US" sz="4000" b="1" dirty="0"/>
          </a:p>
          <a:p>
            <a:r>
              <a:rPr lang="zh-TW" altLang="en-US" sz="4000" dirty="0">
                <a:solidFill>
                  <a:srgbClr val="FF0000"/>
                </a:solidFill>
              </a:rPr>
              <a:t>申請電子賬戶</a:t>
            </a:r>
            <a:r>
              <a:rPr lang="en-US" altLang="zh-TW" sz="4000" dirty="0">
                <a:solidFill>
                  <a:srgbClr val="FF0000"/>
                </a:solidFill>
              </a:rPr>
              <a:t>/</a:t>
            </a:r>
            <a:r>
              <a:rPr lang="zh-TW" altLang="en-US" sz="4000" dirty="0">
                <a:solidFill>
                  <a:srgbClr val="FF0000"/>
                </a:solidFill>
              </a:rPr>
              <a:t>賬單服務 </a:t>
            </a:r>
            <a:r>
              <a:rPr lang="en-US" altLang="zh-TW" sz="4000" dirty="0">
                <a:solidFill>
                  <a:srgbClr val="FF0000"/>
                </a:solidFill>
              </a:rPr>
              <a:t>-</a:t>
            </a:r>
            <a:r>
              <a:rPr lang="zh-TW" altLang="en-US" sz="4000" dirty="0">
                <a:solidFill>
                  <a:srgbClr val="FF0000"/>
                </a:solidFill>
              </a:rPr>
              <a:t>新增電郵</a:t>
            </a:r>
            <a:endParaRPr lang="en-US" sz="4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83972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936FA1C-D5F7-24B3-3917-645EA00F050B}"/>
              </a:ext>
            </a:extLst>
          </p:cNvPr>
          <p:cNvSpPr txBox="1"/>
          <p:nvPr/>
        </p:nvSpPr>
        <p:spPr>
          <a:xfrm>
            <a:off x="425885" y="150312"/>
            <a:ext cx="527439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e-Service &gt; Open Account </a:t>
            </a:r>
            <a:r>
              <a:rPr lang="zh-TW" altLang="en-US" sz="2000" b="1" dirty="0"/>
              <a:t>介面認識及處理方法</a:t>
            </a:r>
            <a:endParaRPr lang="en-US" altLang="zh-TW" sz="2000" b="1" dirty="0"/>
          </a:p>
          <a:p>
            <a:r>
              <a:rPr lang="zh-TW" altLang="en-US" sz="2000" b="1" dirty="0"/>
              <a:t>增值服務 </a:t>
            </a:r>
            <a:r>
              <a:rPr lang="en-US" altLang="zh-TW" sz="2000" b="1" dirty="0"/>
              <a:t>–</a:t>
            </a:r>
            <a:r>
              <a:rPr lang="zh-TW" altLang="en-US" sz="2000" b="1" dirty="0">
                <a:solidFill>
                  <a:schemeClr val="tx1"/>
                </a:solidFill>
              </a:rPr>
              <a:t>自行落單</a:t>
            </a:r>
            <a:endParaRPr lang="en-US" sz="2000" b="1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522DB80-D9D5-37B6-02A2-B6C988700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9134" y="6393437"/>
            <a:ext cx="2743200" cy="365125"/>
          </a:xfrm>
        </p:spPr>
        <p:txBody>
          <a:bodyPr/>
          <a:lstStyle/>
          <a:p>
            <a:fld id="{941B04AD-5EB0-49DF-9047-5419DE7250E3}" type="slidenum">
              <a:rPr lang="en-US" smtClean="0"/>
              <a:t>22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A18E8E3-B8B6-1CFA-81AD-76791FE3B38C}"/>
              </a:ext>
            </a:extLst>
          </p:cNvPr>
          <p:cNvSpPr txBox="1"/>
          <p:nvPr/>
        </p:nvSpPr>
        <p:spPr>
          <a:xfrm>
            <a:off x="203459" y="906293"/>
            <a:ext cx="4931158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sz="2400" dirty="0"/>
              <a:t>申請電子賬戶</a:t>
            </a:r>
            <a:r>
              <a:rPr lang="en-US" altLang="zh-TW" sz="2400" dirty="0"/>
              <a:t>/</a:t>
            </a:r>
            <a:r>
              <a:rPr lang="zh-TW" altLang="en-US" sz="2400" dirty="0"/>
              <a:t>賬單服務</a:t>
            </a:r>
            <a:r>
              <a:rPr lang="en-US" altLang="zh-TW" sz="2400" dirty="0"/>
              <a:t>-</a:t>
            </a:r>
            <a:r>
              <a:rPr lang="zh-TW" altLang="en-US" sz="2400" dirty="0"/>
              <a:t>新增電郵 </a:t>
            </a:r>
            <a:r>
              <a:rPr lang="en-US" altLang="zh-TW" sz="2400" dirty="0"/>
              <a:t>1</a:t>
            </a:r>
            <a:endParaRPr lang="en-US" sz="24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6CBA126-DBCF-F71E-D632-D0CC8DC71AB0}"/>
              </a:ext>
            </a:extLst>
          </p:cNvPr>
          <p:cNvSpPr txBox="1"/>
          <p:nvPr/>
        </p:nvSpPr>
        <p:spPr>
          <a:xfrm>
            <a:off x="5342597" y="858198"/>
            <a:ext cx="6431171" cy="5632311"/>
          </a:xfrm>
          <a:prstGeom prst="rect">
            <a:avLst/>
          </a:prstGeom>
          <a:solidFill>
            <a:srgbClr val="E2CFF1"/>
          </a:solidFill>
          <a:ln w="38100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b="1" dirty="0"/>
              <a:t>申請電子賬單 </a:t>
            </a:r>
            <a:r>
              <a:rPr lang="en-US" altLang="zh-TW" b="1" dirty="0"/>
              <a:t>= 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TW" altLang="en-US" dirty="0"/>
              <a:t>把此欄電郵地址加至</a:t>
            </a:r>
            <a:r>
              <a:rPr lang="en-US" altLang="zh-TW" dirty="0"/>
              <a:t>Siebel Contact</a:t>
            </a:r>
            <a:r>
              <a:rPr lang="zh-TW" altLang="en-US" dirty="0"/>
              <a:t>的</a:t>
            </a:r>
            <a:r>
              <a:rPr lang="en-US" altLang="zh-TW" dirty="0"/>
              <a:t>Email Source</a:t>
            </a:r>
            <a:r>
              <a:rPr lang="zh-TW" altLang="en-US" dirty="0"/>
              <a:t>。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TW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TW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FA7EAD1C-06C5-E6B4-B56B-855C1FBF985D}"/>
              </a:ext>
            </a:extLst>
          </p:cNvPr>
          <p:cNvGrpSpPr/>
          <p:nvPr/>
        </p:nvGrpSpPr>
        <p:grpSpPr>
          <a:xfrm>
            <a:off x="203459" y="1367958"/>
            <a:ext cx="4808409" cy="5159841"/>
            <a:chOff x="51198" y="855864"/>
            <a:chExt cx="5658524" cy="5683048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45C16FEF-E839-5FEB-8DA3-40B4E96F991B}"/>
                </a:ext>
              </a:extLst>
            </p:cNvPr>
            <p:cNvGrpSpPr/>
            <p:nvPr/>
          </p:nvGrpSpPr>
          <p:grpSpPr>
            <a:xfrm>
              <a:off x="425885" y="1524473"/>
              <a:ext cx="4375239" cy="5014439"/>
              <a:chOff x="-2179411" y="879188"/>
              <a:chExt cx="4307570" cy="5455772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A65BCC97-0331-DFE2-7039-E40F88E11F1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r="48878"/>
              <a:stretch/>
            </p:blipFill>
            <p:spPr>
              <a:xfrm>
                <a:off x="-2179411" y="879188"/>
                <a:ext cx="4307570" cy="5455772"/>
              </a:xfrm>
              <a:prstGeom prst="rect">
                <a:avLst/>
              </a:prstGeom>
              <a:ln w="38100">
                <a:solidFill>
                  <a:srgbClr val="15C2FF"/>
                </a:solidFill>
              </a:ln>
            </p:spPr>
          </p:pic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E89900E5-E162-34B8-1D13-2141D14BF141}"/>
                  </a:ext>
                </a:extLst>
              </p:cNvPr>
              <p:cNvSpPr/>
              <p:nvPr/>
            </p:nvSpPr>
            <p:spPr>
              <a:xfrm>
                <a:off x="-2157650" y="2007398"/>
                <a:ext cx="3975070" cy="1002167"/>
              </a:xfrm>
              <a:prstGeom prst="roundRect">
                <a:avLst/>
              </a:prstGeom>
              <a:noFill/>
              <a:ln w="1905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14CA123A-6FF8-AB5C-513A-CD180610CF6C}"/>
                </a:ext>
              </a:extLst>
            </p:cNvPr>
            <p:cNvCxnSpPr>
              <a:cxnSpLocks/>
              <a:endCxn id="11" idx="0"/>
            </p:cNvCxnSpPr>
            <p:nvPr/>
          </p:nvCxnSpPr>
          <p:spPr>
            <a:xfrm flipH="1">
              <a:off x="2466746" y="855864"/>
              <a:ext cx="3242976" cy="1705555"/>
            </a:xfrm>
            <a:prstGeom prst="straightConnector1">
              <a:avLst/>
            </a:prstGeom>
            <a:ln w="1905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796B116-5A3C-0686-4882-F411048AA8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198" y="2798469"/>
              <a:ext cx="2584414" cy="416841"/>
            </a:xfrm>
            <a:prstGeom prst="rect">
              <a:avLst/>
            </a:prstGeom>
            <a:ln w="38100">
              <a:solidFill>
                <a:srgbClr val="99FF33"/>
              </a:solidFill>
            </a:ln>
          </p:spPr>
        </p:pic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24C556D8-BDBC-67AA-5708-50EBC8B19BC9}"/>
              </a:ext>
            </a:extLst>
          </p:cNvPr>
          <p:cNvSpPr txBox="1"/>
          <p:nvPr/>
        </p:nvSpPr>
        <p:spPr>
          <a:xfrm>
            <a:off x="8641718" y="5333820"/>
            <a:ext cx="30168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3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3DEB2A6-9F88-569D-C7F4-11FD6A064A86}"/>
              </a:ext>
            </a:extLst>
          </p:cNvPr>
          <p:cNvCxnSpPr>
            <a:cxnSpLocks/>
            <a:endCxn id="5" idx="3"/>
          </p:cNvCxnSpPr>
          <p:nvPr/>
        </p:nvCxnSpPr>
        <p:spPr>
          <a:xfrm flipH="1">
            <a:off x="2399601" y="1386427"/>
            <a:ext cx="2636343" cy="193452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A95B9EB-4769-F9B6-81A8-E99DE996B5B0}"/>
              </a:ext>
            </a:extLst>
          </p:cNvPr>
          <p:cNvGrpSpPr/>
          <p:nvPr/>
        </p:nvGrpSpPr>
        <p:grpSpPr>
          <a:xfrm>
            <a:off x="4660671" y="1566084"/>
            <a:ext cx="7009475" cy="4683422"/>
            <a:chOff x="4814249" y="2141329"/>
            <a:chExt cx="7009475" cy="4683422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D963672F-B8E6-4E97-6699-072FEA7B1C05}"/>
                </a:ext>
              </a:extLst>
            </p:cNvPr>
            <p:cNvGrpSpPr/>
            <p:nvPr/>
          </p:nvGrpSpPr>
          <p:grpSpPr>
            <a:xfrm>
              <a:off x="4814249" y="2141329"/>
              <a:ext cx="7009475" cy="4683422"/>
              <a:chOff x="4814249" y="2141329"/>
              <a:chExt cx="7009475" cy="4683422"/>
            </a:xfrm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C99C63D4-D9B4-C8D4-337E-5E231B574B17}"/>
                  </a:ext>
                </a:extLst>
              </p:cNvPr>
              <p:cNvGrpSpPr/>
              <p:nvPr/>
            </p:nvGrpSpPr>
            <p:grpSpPr>
              <a:xfrm>
                <a:off x="5277802" y="2141329"/>
                <a:ext cx="6545922" cy="1306056"/>
                <a:chOff x="4952975" y="2607316"/>
                <a:chExt cx="6545922" cy="1306056"/>
              </a:xfrm>
            </p:grpSpPr>
            <p:pic>
              <p:nvPicPr>
                <p:cNvPr id="28" name="Picture 27">
                  <a:extLst>
                    <a:ext uri="{FF2B5EF4-FFF2-40B4-BE49-F238E27FC236}">
                      <a16:creationId xmlns:a16="http://schemas.microsoft.com/office/drawing/2014/main" id="{4360BEDE-2F5D-A9DA-A806-1D4BBA2B2BB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952975" y="2607316"/>
                  <a:ext cx="6545922" cy="1306056"/>
                </a:xfrm>
                <a:prstGeom prst="rect">
                  <a:avLst/>
                </a:prstGeom>
                <a:ln>
                  <a:solidFill>
                    <a:srgbClr val="9751CB"/>
                  </a:solidFill>
                </a:ln>
              </p:spPr>
            </p:pic>
            <p:sp>
              <p:nvSpPr>
                <p:cNvPr id="29" name="Rectangle: Rounded Corners 28">
                  <a:extLst>
                    <a:ext uri="{FF2B5EF4-FFF2-40B4-BE49-F238E27FC236}">
                      <a16:creationId xmlns:a16="http://schemas.microsoft.com/office/drawing/2014/main" id="{9FF2CD65-4E8E-CB3D-2491-4BA57DD377C9}"/>
                    </a:ext>
                  </a:extLst>
                </p:cNvPr>
                <p:cNvSpPr/>
                <p:nvPr/>
              </p:nvSpPr>
              <p:spPr>
                <a:xfrm>
                  <a:off x="10210362" y="2695238"/>
                  <a:ext cx="721591" cy="342513"/>
                </a:xfrm>
                <a:prstGeom prst="roundRect">
                  <a:avLst/>
                </a:prstGeom>
                <a:noFill/>
                <a:ln w="28575">
                  <a:solidFill>
                    <a:schemeClr val="accent4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7" name="Rectangle: Rounded Corners 36">
                  <a:extLst>
                    <a:ext uri="{FF2B5EF4-FFF2-40B4-BE49-F238E27FC236}">
                      <a16:creationId xmlns:a16="http://schemas.microsoft.com/office/drawing/2014/main" id="{8D096657-6C73-2F7F-E69C-EBAD53E15752}"/>
                    </a:ext>
                  </a:extLst>
                </p:cNvPr>
                <p:cNvSpPr/>
                <p:nvPr/>
              </p:nvSpPr>
              <p:spPr>
                <a:xfrm>
                  <a:off x="5972202" y="3054420"/>
                  <a:ext cx="243016" cy="199447"/>
                </a:xfrm>
                <a:prstGeom prst="roundRect">
                  <a:avLst/>
                </a:prstGeom>
                <a:noFill/>
                <a:ln w="28575">
                  <a:solidFill>
                    <a:schemeClr val="accent4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99BCE9B4-05D4-0800-3304-936F240BEB9F}"/>
                    </a:ext>
                  </a:extLst>
                </p:cNvPr>
                <p:cNvSpPr txBox="1"/>
                <p:nvPr/>
              </p:nvSpPr>
              <p:spPr>
                <a:xfrm>
                  <a:off x="5728038" y="2905977"/>
                  <a:ext cx="301686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FF0000"/>
                      </a:solidFill>
                    </a:rPr>
                    <a:t>1</a:t>
                  </a:r>
                </a:p>
              </p:txBody>
            </p:sp>
          </p:grpSp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2ECD5E95-ED54-6E31-0526-67FF6B146E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814249" y="3567201"/>
                <a:ext cx="4438650" cy="3257550"/>
              </a:xfrm>
              <a:prstGeom prst="rect">
                <a:avLst/>
              </a:prstGeom>
              <a:ln>
                <a:solidFill>
                  <a:srgbClr val="9751CB"/>
                </a:solidFill>
              </a:ln>
            </p:spPr>
          </p:pic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C3AD336C-F147-7B4A-5EAB-43A7F05CC729}"/>
                  </a:ext>
                </a:extLst>
              </p:cNvPr>
              <p:cNvCxnSpPr>
                <a:cxnSpLocks/>
                <a:stCxn id="37" idx="2"/>
                <a:endCxn id="26" idx="0"/>
              </p:cNvCxnSpPr>
              <p:nvPr/>
            </p:nvCxnSpPr>
            <p:spPr>
              <a:xfrm flipH="1">
                <a:off x="5074251" y="2787880"/>
                <a:ext cx="1344286" cy="1269600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693C5BB2-0007-39D5-30B8-0C35EF74009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822030" y="5033688"/>
                <a:ext cx="3298694" cy="1195941"/>
              </a:xfrm>
              <a:prstGeom prst="rect">
                <a:avLst/>
              </a:prstGeom>
              <a:ln>
                <a:solidFill>
                  <a:srgbClr val="9751CB"/>
                </a:solidFill>
              </a:ln>
            </p:spPr>
          </p:pic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224620A3-D80A-4655-EED2-6CF623FA6EC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10889" y="3869152"/>
                <a:ext cx="3477506" cy="1691129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DD6B575B-3C4D-7223-5807-AE3230FF8018}"/>
                  </a:ext>
                </a:extLst>
              </p:cNvPr>
              <p:cNvSpPr/>
              <p:nvPr/>
            </p:nvSpPr>
            <p:spPr>
              <a:xfrm>
                <a:off x="4952743" y="4057480"/>
                <a:ext cx="243016" cy="199447"/>
              </a:xfrm>
              <a:prstGeom prst="roundRect">
                <a:avLst/>
              </a:prstGeom>
              <a:noFill/>
              <a:ln w="28575">
                <a:solidFill>
                  <a:schemeClr val="accent4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FD42A9D-5334-18BF-5931-5F8761AB4013}"/>
                </a:ext>
              </a:extLst>
            </p:cNvPr>
            <p:cNvSpPr txBox="1"/>
            <p:nvPr/>
          </p:nvSpPr>
          <p:spPr>
            <a:xfrm>
              <a:off x="4840657" y="3761649"/>
              <a:ext cx="3016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2</a:t>
              </a:r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93A603BA-AB2B-127C-0E6C-ED97174F1A51}"/>
              </a:ext>
            </a:extLst>
          </p:cNvPr>
          <p:cNvSpPr txBox="1"/>
          <p:nvPr/>
        </p:nvSpPr>
        <p:spPr>
          <a:xfrm>
            <a:off x="10965772" y="454349"/>
            <a:ext cx="813043" cy="400110"/>
          </a:xfrm>
          <a:prstGeom prst="rect">
            <a:avLst/>
          </a:prstGeom>
          <a:solidFill>
            <a:srgbClr val="E2CFF1"/>
          </a:solidFill>
          <a:ln w="38100">
            <a:solidFill>
              <a:srgbClr val="7030A0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/>
              <a:t>Siebel</a:t>
            </a:r>
          </a:p>
        </p:txBody>
      </p:sp>
    </p:spTree>
    <p:extLst>
      <p:ext uri="{BB962C8B-B14F-4D97-AF65-F5344CB8AC3E}">
        <p14:creationId xmlns:p14="http://schemas.microsoft.com/office/powerpoint/2010/main" val="19105972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936FA1C-D5F7-24B3-3917-645EA00F050B}"/>
              </a:ext>
            </a:extLst>
          </p:cNvPr>
          <p:cNvSpPr txBox="1"/>
          <p:nvPr/>
        </p:nvSpPr>
        <p:spPr>
          <a:xfrm>
            <a:off x="425885" y="150312"/>
            <a:ext cx="527439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e-Service &gt; Open Account </a:t>
            </a:r>
            <a:r>
              <a:rPr lang="zh-TW" altLang="en-US" sz="2000" b="1" dirty="0"/>
              <a:t>介面認識及處理方法</a:t>
            </a:r>
            <a:endParaRPr lang="en-US" altLang="zh-TW" sz="2000" b="1" dirty="0"/>
          </a:p>
          <a:p>
            <a:r>
              <a:rPr lang="zh-TW" altLang="en-US" sz="2000" b="1" dirty="0"/>
              <a:t>增值服務 </a:t>
            </a:r>
            <a:r>
              <a:rPr lang="en-US" altLang="zh-TW" sz="2000" b="1" dirty="0"/>
              <a:t>–</a:t>
            </a:r>
            <a:r>
              <a:rPr lang="zh-TW" altLang="en-US" sz="2000" b="1" dirty="0">
                <a:solidFill>
                  <a:schemeClr val="tx1"/>
                </a:solidFill>
              </a:rPr>
              <a:t>自行落單</a:t>
            </a:r>
            <a:endParaRPr lang="en-US" sz="2000" b="1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522DB80-D9D5-37B6-02A2-B6C988700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B04AD-5EB0-49DF-9047-5419DE7250E3}" type="slidenum">
              <a:rPr lang="en-US" smtClean="0"/>
              <a:t>23</a:t>
            </a:fld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AAB84EC-9B8D-7A6E-E767-590FC70BE4F8}"/>
              </a:ext>
            </a:extLst>
          </p:cNvPr>
          <p:cNvGrpSpPr/>
          <p:nvPr/>
        </p:nvGrpSpPr>
        <p:grpSpPr>
          <a:xfrm>
            <a:off x="1058994" y="1070294"/>
            <a:ext cx="9318946" cy="5356880"/>
            <a:chOff x="425885" y="906293"/>
            <a:chExt cx="9318946" cy="5356880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A18E8E3-B8B6-1CFA-81AD-76791FE3B38C}"/>
                </a:ext>
              </a:extLst>
            </p:cNvPr>
            <p:cNvSpPr txBox="1"/>
            <p:nvPr/>
          </p:nvSpPr>
          <p:spPr>
            <a:xfrm>
              <a:off x="425885" y="906293"/>
              <a:ext cx="4931158" cy="46166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zh-TW" altLang="en-US" sz="2400" dirty="0"/>
                <a:t>申請電子賬戶</a:t>
              </a:r>
              <a:r>
                <a:rPr lang="en-US" altLang="zh-TW" sz="2400" dirty="0"/>
                <a:t>/</a:t>
              </a:r>
              <a:r>
                <a:rPr lang="zh-TW" altLang="en-US" sz="2400" dirty="0"/>
                <a:t>賬單服務</a:t>
              </a:r>
              <a:r>
                <a:rPr lang="en-US" altLang="zh-TW" sz="2400" dirty="0"/>
                <a:t>-</a:t>
              </a:r>
              <a:r>
                <a:rPr lang="zh-TW" altLang="en-US" sz="2400" dirty="0"/>
                <a:t>新增電郵 </a:t>
              </a:r>
              <a:r>
                <a:rPr lang="en-US" altLang="zh-TW" sz="2400" dirty="0"/>
                <a:t>2</a:t>
              </a:r>
              <a:endParaRPr lang="en-US" sz="2400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6CBA126-DBCF-F71E-D632-D0CC8DC71AB0}"/>
                </a:ext>
              </a:extLst>
            </p:cNvPr>
            <p:cNvSpPr txBox="1"/>
            <p:nvPr/>
          </p:nvSpPr>
          <p:spPr>
            <a:xfrm>
              <a:off x="984685" y="1688422"/>
              <a:ext cx="4283981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b="1" dirty="0"/>
                <a:t>申請電子賬單 </a:t>
              </a:r>
              <a:r>
                <a:rPr lang="en-US" altLang="zh-TW" b="1" dirty="0"/>
                <a:t>= Y</a:t>
              </a:r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zh-TW" altLang="en-US" dirty="0"/>
                <a:t>於</a:t>
              </a:r>
              <a:r>
                <a:rPr lang="en-US" altLang="zh-TW" dirty="0"/>
                <a:t>e-Account Info</a:t>
              </a:r>
              <a:r>
                <a:rPr lang="zh-TW" altLang="en-US" dirty="0"/>
                <a:t>內拉出新增電郵</a:t>
              </a:r>
              <a:endParaRPr lang="en-US" altLang="zh-TW" dirty="0"/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zh-TW" altLang="en-US" dirty="0">
                  <a:sym typeface="Wingdings 2" panose="05020102010507070707" pitchFamily="18" charset="2"/>
                </a:rPr>
                <a:t></a:t>
              </a:r>
              <a:r>
                <a:rPr lang="zh-TW" altLang="en-US" dirty="0"/>
                <a:t> </a:t>
              </a:r>
              <a:r>
                <a:rPr lang="en-US" altLang="zh-TW" dirty="0" err="1"/>
                <a:t>eBill</a:t>
              </a:r>
              <a:endParaRPr lang="en-US" altLang="zh-TW" dirty="0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EB3DCF55-33A8-793A-445F-F14F1305277D}"/>
                </a:ext>
              </a:extLst>
            </p:cNvPr>
            <p:cNvGrpSpPr/>
            <p:nvPr/>
          </p:nvGrpSpPr>
          <p:grpSpPr>
            <a:xfrm>
              <a:off x="984685" y="2729566"/>
              <a:ext cx="4120584" cy="3533607"/>
              <a:chOff x="3091967" y="2671353"/>
              <a:chExt cx="4120584" cy="3533607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70E15A4A-4F2E-11C9-3A61-68457E22E0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091967" y="2671353"/>
                <a:ext cx="3060708" cy="3533607"/>
              </a:xfrm>
              <a:prstGeom prst="rect">
                <a:avLst/>
              </a:prstGeom>
              <a:ln w="38100">
                <a:solidFill>
                  <a:srgbClr val="7030A0"/>
                </a:solidFill>
              </a:ln>
            </p:spPr>
          </p:pic>
          <p:cxnSp>
            <p:nvCxnSpPr>
              <p:cNvPr id="8" name="Straight Arrow Connector 7">
                <a:extLst>
                  <a:ext uri="{FF2B5EF4-FFF2-40B4-BE49-F238E27FC236}">
                    <a16:creationId xmlns:a16="http://schemas.microsoft.com/office/drawing/2014/main" id="{22D0B5D3-5021-2E3B-DB25-3A9BDB12C80E}"/>
                  </a:ext>
                </a:extLst>
              </p:cNvPr>
              <p:cNvCxnSpPr>
                <a:cxnSpLocks/>
                <a:stCxn id="15" idx="1"/>
              </p:cNvCxnSpPr>
              <p:nvPr/>
            </p:nvCxnSpPr>
            <p:spPr>
              <a:xfrm flipH="1" flipV="1">
                <a:off x="5568984" y="5178230"/>
                <a:ext cx="535571" cy="13271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DBD065E9-538C-902E-ED99-0F37BAFC4DBB}"/>
                  </a:ext>
                </a:extLst>
              </p:cNvPr>
              <p:cNvSpPr/>
              <p:nvPr/>
            </p:nvSpPr>
            <p:spPr>
              <a:xfrm>
                <a:off x="3331630" y="5500258"/>
                <a:ext cx="585472" cy="369332"/>
              </a:xfrm>
              <a:prstGeom prst="roundRect">
                <a:avLst/>
              </a:prstGeom>
              <a:noFill/>
              <a:ln w="19050">
                <a:solidFill>
                  <a:srgbClr val="9751C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09DEBED-935A-A08D-C695-F8FC74CCE06F}"/>
                  </a:ext>
                </a:extLst>
              </p:cNvPr>
              <p:cNvSpPr txBox="1"/>
              <p:nvPr/>
            </p:nvSpPr>
            <p:spPr>
              <a:xfrm>
                <a:off x="6104555" y="5006835"/>
                <a:ext cx="1107996" cy="369332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9751CB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zh-TW" altLang="en-US" dirty="0"/>
                  <a:t>拉出電郵</a:t>
                </a:r>
                <a:endParaRPr lang="en-US" dirty="0"/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12E5A09-A2B1-81C2-EB7E-9868B09D9753}"/>
                </a:ext>
              </a:extLst>
            </p:cNvPr>
            <p:cNvSpPr txBox="1"/>
            <p:nvPr/>
          </p:nvSpPr>
          <p:spPr>
            <a:xfrm>
              <a:off x="4015951" y="4290769"/>
              <a:ext cx="5728880" cy="64633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9751CB"/>
              </a:solidFill>
            </a:ln>
          </p:spPr>
          <p:txBody>
            <a:bodyPr wrap="square">
              <a:spAutoFit/>
            </a:bodyPr>
            <a:lstStyle/>
            <a:p>
              <a:r>
                <a:rPr lang="zh-TW" altLang="en-US" dirty="0">
                  <a:solidFill>
                    <a:srgbClr val="FF0000"/>
                  </a:solidFill>
                </a:rPr>
                <a:t>注意：任何情況下，只要申請個案是透過網上客戶中心</a:t>
              </a:r>
              <a:endParaRPr lang="en-US" altLang="zh-TW" dirty="0">
                <a:solidFill>
                  <a:srgbClr val="FF0000"/>
                </a:solidFill>
              </a:endParaRPr>
            </a:p>
            <a:p>
              <a:r>
                <a:rPr lang="zh-TW" altLang="en-US" dirty="0">
                  <a:solidFill>
                    <a:srgbClr val="FF0000"/>
                  </a:solidFill>
                </a:rPr>
                <a:t>申請，</a:t>
              </a:r>
              <a:r>
                <a:rPr lang="en-US" altLang="zh-TW" dirty="0">
                  <a:solidFill>
                    <a:srgbClr val="FF0000"/>
                  </a:solidFill>
                </a:rPr>
                <a:t>Case ID</a:t>
              </a:r>
              <a:r>
                <a:rPr lang="zh-TW" altLang="en-US" dirty="0">
                  <a:solidFill>
                    <a:srgbClr val="FF0000"/>
                  </a:solidFill>
                </a:rPr>
                <a:t>都必須輸入</a:t>
              </a:r>
              <a:r>
                <a:rPr lang="en-US" altLang="zh-TW" dirty="0" err="1">
                  <a:solidFill>
                    <a:srgbClr val="FF0000"/>
                  </a:solidFill>
                </a:rPr>
                <a:t>eAccount</a:t>
              </a:r>
              <a:r>
                <a:rPr lang="en-US" altLang="zh-TW" dirty="0">
                  <a:solidFill>
                    <a:srgbClr val="FF0000"/>
                  </a:solidFill>
                </a:rPr>
                <a:t> Info</a:t>
              </a:r>
              <a:r>
                <a:rPr lang="zh-TW" altLang="en-US" dirty="0">
                  <a:solidFill>
                    <a:srgbClr val="FF0000"/>
                  </a:solidFill>
                </a:rPr>
                <a:t>內。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953E6F07-9CF3-8698-0A10-558FB7BFDACF}"/>
                </a:ext>
              </a:extLst>
            </p:cNvPr>
            <p:cNvCxnSpPr>
              <a:cxnSpLocks/>
              <a:stCxn id="19" idx="1"/>
            </p:cNvCxnSpPr>
            <p:nvPr/>
          </p:nvCxnSpPr>
          <p:spPr>
            <a:xfrm flipH="1">
              <a:off x="2932854" y="4613935"/>
              <a:ext cx="1083097" cy="158864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C874052F-D701-0EA8-E570-D253D4F9C197}"/>
              </a:ext>
            </a:extLst>
          </p:cNvPr>
          <p:cNvSpPr txBox="1"/>
          <p:nvPr/>
        </p:nvSpPr>
        <p:spPr>
          <a:xfrm>
            <a:off x="7132506" y="1056178"/>
            <a:ext cx="3827594" cy="2554545"/>
          </a:xfrm>
          <a:prstGeom prst="rect">
            <a:avLst/>
          </a:prstGeom>
          <a:noFill/>
          <a:ln w="38100">
            <a:solidFill>
              <a:srgbClr val="00B050"/>
            </a:solidFill>
            <a:prstDash val="lgDashDotDot"/>
          </a:ln>
        </p:spPr>
        <p:txBody>
          <a:bodyPr wrap="square" rtlCol="0">
            <a:spAutoFit/>
          </a:bodyPr>
          <a:lstStyle/>
          <a:p>
            <a:pPr marL="285750" marR="0" indent="-285750" algn="ctr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zh-TW" altLang="en-US" sz="2000" b="1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注意</a:t>
            </a:r>
            <a:endParaRPr lang="en-US" altLang="zh-TW" sz="2000" b="1" kern="100" dirty="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altLang="zh-TW" sz="2000" kern="100" dirty="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285750" marR="0" indent="-28575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zh-TW" sz="20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當煤氣戶口生效後</a:t>
            </a:r>
            <a:r>
              <a:rPr lang="en-US" sz="20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(</a:t>
            </a:r>
            <a:r>
              <a:rPr lang="en-US" altLang="zh-TW" sz="20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Account status = </a:t>
            </a:r>
            <a:r>
              <a:rPr lang="en-US" sz="20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Active)</a:t>
            </a:r>
            <a:r>
              <a:rPr lang="zh-TW" sz="20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，客</a:t>
            </a:r>
            <a:r>
              <a:rPr lang="zh-TW" altLang="en-US" sz="2000" kern="100" dirty="0"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人</a:t>
            </a:r>
            <a:r>
              <a:rPr lang="zh-TW" sz="20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會收到</a:t>
            </a:r>
            <a:r>
              <a:rPr lang="zh-TW" altLang="en-US" sz="20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電子賬戶的</a:t>
            </a:r>
            <a:r>
              <a:rPr lang="zh-TW" sz="20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確認電郵。</a:t>
            </a:r>
            <a:endParaRPr lang="en-US" sz="2000" kern="100" dirty="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285750" marR="0" indent="-28575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zh-TW" sz="20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客</a:t>
            </a:r>
            <a:r>
              <a:rPr lang="zh-TW" altLang="en-US" sz="20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戶</a:t>
            </a:r>
            <a:r>
              <a:rPr lang="zh-TW" sz="20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需按照電郵上的指示，於</a:t>
            </a:r>
            <a:r>
              <a:rPr lang="en-US" sz="20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7</a:t>
            </a:r>
            <a:r>
              <a:rPr lang="zh-TW" sz="20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天內進行確認</a:t>
            </a:r>
            <a:r>
              <a:rPr lang="zh-TW" altLang="en-US" sz="20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、</a:t>
            </a:r>
            <a:r>
              <a:rPr lang="zh-TW" sz="20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設立登入名稱</a:t>
            </a:r>
            <a:r>
              <a:rPr lang="zh-TW" altLang="en-US" sz="20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及</a:t>
            </a:r>
            <a:r>
              <a:rPr lang="zh-TW" sz="20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密碼。</a:t>
            </a:r>
            <a:endParaRPr lang="en-US" sz="2000" kern="100" dirty="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69192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B04AD-5EB0-49DF-9047-5419DE7250E3}" type="slidenum">
              <a:rPr lang="en-US" smtClean="0"/>
              <a:t>24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36FA1C-D5F7-24B3-3917-645EA00F050B}"/>
              </a:ext>
            </a:extLst>
          </p:cNvPr>
          <p:cNvSpPr txBox="1"/>
          <p:nvPr/>
        </p:nvSpPr>
        <p:spPr>
          <a:xfrm>
            <a:off x="477401" y="2095022"/>
            <a:ext cx="10356168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/>
              <a:t>e-Service &gt; Open Account </a:t>
            </a:r>
            <a:r>
              <a:rPr lang="zh-TW" altLang="en-US" sz="4000" b="1" dirty="0"/>
              <a:t>介面認識及處理方法</a:t>
            </a:r>
            <a:endParaRPr lang="en-US" altLang="zh-TW" sz="4000" b="1" dirty="0"/>
          </a:p>
          <a:p>
            <a:r>
              <a:rPr lang="zh-TW" altLang="en-US" sz="4000" b="1" dirty="0"/>
              <a:t>增值服務 </a:t>
            </a:r>
            <a:r>
              <a:rPr lang="en-US" altLang="zh-TW" sz="4000" b="1" dirty="0"/>
              <a:t>–</a:t>
            </a:r>
            <a:r>
              <a:rPr lang="zh-TW" altLang="en-US" sz="4000" b="1" dirty="0">
                <a:solidFill>
                  <a:schemeClr val="tx1"/>
                </a:solidFill>
              </a:rPr>
              <a:t>自行落單</a:t>
            </a:r>
            <a:endParaRPr lang="en-US" altLang="zh-TW" sz="4000" b="1" dirty="0">
              <a:solidFill>
                <a:schemeClr val="tx1"/>
              </a:solidFill>
            </a:endParaRPr>
          </a:p>
          <a:p>
            <a:endParaRPr lang="en-US" sz="4000" b="1" dirty="0"/>
          </a:p>
          <a:p>
            <a:r>
              <a:rPr lang="zh-TW" altLang="en-US" sz="4000" dirty="0">
                <a:solidFill>
                  <a:srgbClr val="FF0000"/>
                </a:solidFill>
              </a:rPr>
              <a:t>申請電子賬戶</a:t>
            </a:r>
            <a:r>
              <a:rPr lang="en-US" altLang="zh-TW" sz="4000" dirty="0">
                <a:solidFill>
                  <a:srgbClr val="FF0000"/>
                </a:solidFill>
              </a:rPr>
              <a:t>/</a:t>
            </a:r>
            <a:r>
              <a:rPr lang="zh-TW" altLang="en-US" sz="4000" dirty="0">
                <a:solidFill>
                  <a:srgbClr val="FF0000"/>
                </a:solidFill>
              </a:rPr>
              <a:t>賬單服務 </a:t>
            </a:r>
            <a:r>
              <a:rPr lang="en-US" altLang="zh-TW" sz="4000" dirty="0">
                <a:solidFill>
                  <a:srgbClr val="FF0000"/>
                </a:solidFill>
              </a:rPr>
              <a:t>-</a:t>
            </a:r>
            <a:r>
              <a:rPr lang="zh-TW" altLang="en-US" sz="4000" dirty="0">
                <a:solidFill>
                  <a:srgbClr val="FF0000"/>
                </a:solidFill>
              </a:rPr>
              <a:t>連結現有網上賬戶</a:t>
            </a:r>
            <a:endParaRPr lang="en-US" sz="4000" dirty="0">
              <a:solidFill>
                <a:srgbClr val="FF0000"/>
              </a:solidFill>
            </a:endParaRPr>
          </a:p>
          <a:p>
            <a:endParaRPr lang="en-US" sz="4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07454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936FA1C-D5F7-24B3-3917-645EA00F050B}"/>
              </a:ext>
            </a:extLst>
          </p:cNvPr>
          <p:cNvSpPr txBox="1"/>
          <p:nvPr/>
        </p:nvSpPr>
        <p:spPr>
          <a:xfrm>
            <a:off x="425885" y="150312"/>
            <a:ext cx="527439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e-Service &gt; Open Account </a:t>
            </a:r>
            <a:r>
              <a:rPr lang="zh-TW" altLang="en-US" sz="2000" b="1" dirty="0"/>
              <a:t>介面認識及處理方法</a:t>
            </a:r>
            <a:endParaRPr lang="en-US" altLang="zh-TW" sz="2000" b="1" dirty="0"/>
          </a:p>
          <a:p>
            <a:r>
              <a:rPr lang="zh-TW" altLang="en-US" sz="2000" b="1" dirty="0"/>
              <a:t>增值服務 </a:t>
            </a:r>
            <a:r>
              <a:rPr lang="en-US" altLang="zh-TW" sz="2000" b="1" dirty="0"/>
              <a:t>–</a:t>
            </a:r>
            <a:r>
              <a:rPr lang="zh-TW" altLang="en-US" sz="2000" b="1" dirty="0">
                <a:solidFill>
                  <a:schemeClr val="tx1"/>
                </a:solidFill>
              </a:rPr>
              <a:t>自行落單</a:t>
            </a:r>
            <a:endParaRPr lang="en-US" sz="2000" b="1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522DB80-D9D5-37B6-02A2-B6C988700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81765" y="6314044"/>
            <a:ext cx="2743200" cy="365125"/>
          </a:xfrm>
        </p:spPr>
        <p:txBody>
          <a:bodyPr/>
          <a:lstStyle/>
          <a:p>
            <a:fld id="{941B04AD-5EB0-49DF-9047-5419DE7250E3}" type="slidenum">
              <a:rPr lang="en-US" smtClean="0"/>
              <a:t>25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A18E8E3-B8B6-1CFA-81AD-76791FE3B38C}"/>
              </a:ext>
            </a:extLst>
          </p:cNvPr>
          <p:cNvSpPr txBox="1"/>
          <p:nvPr/>
        </p:nvSpPr>
        <p:spPr>
          <a:xfrm>
            <a:off x="425885" y="906293"/>
            <a:ext cx="5937844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sz="2400" dirty="0"/>
              <a:t>申請電子賬戶</a:t>
            </a:r>
            <a:r>
              <a:rPr lang="en-US" altLang="zh-TW" sz="2400" dirty="0"/>
              <a:t>/</a:t>
            </a:r>
            <a:r>
              <a:rPr lang="zh-TW" altLang="en-US" sz="2400" dirty="0"/>
              <a:t>賬單服務</a:t>
            </a:r>
            <a:r>
              <a:rPr lang="en-US" altLang="zh-TW" sz="2400" dirty="0"/>
              <a:t>-</a:t>
            </a:r>
            <a:r>
              <a:rPr lang="zh-TW" altLang="en-US" sz="2400" dirty="0"/>
              <a:t>連結現有網上賬戶</a:t>
            </a: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12F44E-D33E-A595-C72C-B34392CA11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098" y="347502"/>
            <a:ext cx="4514850" cy="6229350"/>
          </a:xfrm>
          <a:prstGeom prst="rect">
            <a:avLst/>
          </a:prstGeom>
          <a:ln w="38100">
            <a:solidFill>
              <a:srgbClr val="15C2FF"/>
            </a:solidFill>
          </a:ln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B2B34AF-8CE1-C79F-EB0E-D1FDAE63F0C4}"/>
              </a:ext>
            </a:extLst>
          </p:cNvPr>
          <p:cNvSpPr/>
          <p:nvPr/>
        </p:nvSpPr>
        <p:spPr>
          <a:xfrm>
            <a:off x="6674098" y="5462519"/>
            <a:ext cx="3059116" cy="544573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190A39A-3D7C-B319-2FEA-07FE8048C0D9}"/>
              </a:ext>
            </a:extLst>
          </p:cNvPr>
          <p:cNvSpPr/>
          <p:nvPr/>
        </p:nvSpPr>
        <p:spPr>
          <a:xfrm>
            <a:off x="6674098" y="1395481"/>
            <a:ext cx="2590587" cy="252083"/>
          </a:xfrm>
          <a:prstGeom prst="round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CE793F-45A2-0347-95B2-C662AA08156E}"/>
              </a:ext>
            </a:extLst>
          </p:cNvPr>
          <p:cNvSpPr txBox="1"/>
          <p:nvPr/>
        </p:nvSpPr>
        <p:spPr>
          <a:xfrm>
            <a:off x="309446" y="1547199"/>
            <a:ext cx="55051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TW" dirty="0"/>
              <a:t>Siebel </a:t>
            </a:r>
            <a:r>
              <a:rPr lang="zh-TW" altLang="en-US" dirty="0"/>
              <a:t>的</a:t>
            </a:r>
            <a:r>
              <a:rPr lang="en-US" altLang="zh-TW" dirty="0"/>
              <a:t> </a:t>
            </a:r>
            <a:r>
              <a:rPr lang="en-US" altLang="zh-TW" dirty="0" err="1"/>
              <a:t>eAccount</a:t>
            </a:r>
            <a:r>
              <a:rPr lang="en-US" altLang="zh-TW" dirty="0"/>
              <a:t> Info</a:t>
            </a:r>
            <a:r>
              <a:rPr lang="zh-TW" altLang="en-US" dirty="0"/>
              <a:t>內，輸入客人提供的</a:t>
            </a:r>
            <a:r>
              <a:rPr lang="en-US" altLang="zh-TW" dirty="0">
                <a:solidFill>
                  <a:srgbClr val="FF0000"/>
                </a:solidFill>
              </a:rPr>
              <a:t>Login ID</a:t>
            </a:r>
            <a:endParaRPr lang="en-US" dirty="0"/>
          </a:p>
          <a:p>
            <a:endParaRPr lang="en-US" altLang="zh-TW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TW" altLang="en-US" dirty="0"/>
              <a:t>按 </a:t>
            </a:r>
            <a:r>
              <a:rPr lang="en-US" altLang="zh-TW" dirty="0"/>
              <a:t>“Apply for </a:t>
            </a:r>
            <a:r>
              <a:rPr lang="en-US" altLang="zh-TW" dirty="0" err="1"/>
              <a:t>eBilling</a:t>
            </a:r>
            <a:r>
              <a:rPr lang="en-US" altLang="zh-TW" dirty="0"/>
              <a:t> Service”</a:t>
            </a:r>
            <a:r>
              <a:rPr lang="zh-TW" altLang="en-US" dirty="0"/>
              <a:t> </a:t>
            </a:r>
            <a:r>
              <a:rPr lang="en-US" altLang="zh-TW" dirty="0"/>
              <a:t>= Y / N</a:t>
            </a:r>
            <a:r>
              <a:rPr lang="zh-TW" altLang="en-US" dirty="0"/>
              <a:t>，來為客人選取電子賬單服務。</a:t>
            </a:r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FBB12DB-9658-0355-5987-497CF5DCA8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7083" y="3332332"/>
            <a:ext cx="2748993" cy="3244520"/>
          </a:xfrm>
          <a:prstGeom prst="rect">
            <a:avLst/>
          </a:prstGeom>
          <a:ln w="38100">
            <a:solidFill>
              <a:srgbClr val="7030A0"/>
            </a:solidFill>
          </a:ln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CA75C0C-CE1A-4822-F334-6706F8F717CE}"/>
              </a:ext>
            </a:extLst>
          </p:cNvPr>
          <p:cNvCxnSpPr>
            <a:cxnSpLocks/>
            <a:stCxn id="9" idx="1"/>
          </p:cNvCxnSpPr>
          <p:nvPr/>
        </p:nvCxnSpPr>
        <p:spPr>
          <a:xfrm flipH="1" flipV="1">
            <a:off x="3999679" y="4429977"/>
            <a:ext cx="2674419" cy="13048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Picture 22">
            <a:extLst>
              <a:ext uri="{FF2B5EF4-FFF2-40B4-BE49-F238E27FC236}">
                <a16:creationId xmlns:a16="http://schemas.microsoft.com/office/drawing/2014/main" id="{90237ADD-26DF-15D0-7E55-F386B4EC44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1466" y="1254330"/>
            <a:ext cx="336104" cy="403325"/>
          </a:xfrm>
          <a:prstGeom prst="rect">
            <a:avLst/>
          </a:prstGeom>
          <a:ln w="28575">
            <a:solidFill>
              <a:srgbClr val="002060"/>
            </a:solidFill>
          </a:ln>
        </p:spPr>
      </p:pic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DB3BA2AC-6AD5-03D0-8AA1-BDBCC022D6CA}"/>
              </a:ext>
            </a:extLst>
          </p:cNvPr>
          <p:cNvSpPr/>
          <p:nvPr/>
        </p:nvSpPr>
        <p:spPr>
          <a:xfrm>
            <a:off x="1842381" y="5788972"/>
            <a:ext cx="690741" cy="327621"/>
          </a:xfrm>
          <a:prstGeom prst="roundRect">
            <a:avLst/>
          </a:prstGeom>
          <a:noFill/>
          <a:ln w="19050">
            <a:solidFill>
              <a:srgbClr val="99FF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F9FC903-A3DA-9766-0AEA-7D96E7AD5321}"/>
              </a:ext>
            </a:extLst>
          </p:cNvPr>
          <p:cNvCxnSpPr>
            <a:cxnSpLocks/>
            <a:endCxn id="26" idx="0"/>
          </p:cNvCxnSpPr>
          <p:nvPr/>
        </p:nvCxnSpPr>
        <p:spPr>
          <a:xfrm flipH="1">
            <a:off x="2187752" y="1510521"/>
            <a:ext cx="4469874" cy="4278451"/>
          </a:xfrm>
          <a:prstGeom prst="straightConnector1">
            <a:avLst/>
          </a:prstGeom>
          <a:ln w="38100">
            <a:solidFill>
              <a:srgbClr val="00206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Picture 33">
            <a:extLst>
              <a:ext uri="{FF2B5EF4-FFF2-40B4-BE49-F238E27FC236}">
                <a16:creationId xmlns:a16="http://schemas.microsoft.com/office/drawing/2014/main" id="{02BA2B7F-9C11-42B6-AA8A-4F08F801FB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7631" y="1988613"/>
            <a:ext cx="2686765" cy="402210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8DD719EB-F93B-32FC-A07B-7D61D83FF5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0868" y="1987498"/>
            <a:ext cx="336104" cy="403325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BC9D64B-3801-8BB3-8994-3C625CE47B93}"/>
              </a:ext>
            </a:extLst>
          </p:cNvPr>
          <p:cNvSpPr txBox="1"/>
          <p:nvPr/>
        </p:nvSpPr>
        <p:spPr>
          <a:xfrm>
            <a:off x="1661683" y="2877391"/>
            <a:ext cx="813043" cy="400110"/>
          </a:xfrm>
          <a:prstGeom prst="rect">
            <a:avLst/>
          </a:prstGeom>
          <a:solidFill>
            <a:srgbClr val="E2CFF1"/>
          </a:solidFill>
          <a:ln w="38100">
            <a:solidFill>
              <a:srgbClr val="7030A0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/>
              <a:t>Siebel</a:t>
            </a:r>
          </a:p>
        </p:txBody>
      </p:sp>
    </p:spTree>
    <p:extLst>
      <p:ext uri="{BB962C8B-B14F-4D97-AF65-F5344CB8AC3E}">
        <p14:creationId xmlns:p14="http://schemas.microsoft.com/office/powerpoint/2010/main" val="20731943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B04AD-5EB0-49DF-9047-5419DE7250E3}" type="slidenum">
              <a:rPr lang="en-US" smtClean="0"/>
              <a:t>26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36FA1C-D5F7-24B3-3917-645EA00F050B}"/>
              </a:ext>
            </a:extLst>
          </p:cNvPr>
          <p:cNvSpPr txBox="1"/>
          <p:nvPr/>
        </p:nvSpPr>
        <p:spPr>
          <a:xfrm>
            <a:off x="477401" y="2095022"/>
            <a:ext cx="10356168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/>
              <a:t>e-Service &gt; Open Account </a:t>
            </a:r>
            <a:r>
              <a:rPr lang="zh-TW" altLang="en-US" sz="4000" b="1" dirty="0"/>
              <a:t>介面認識及處理方法</a:t>
            </a:r>
            <a:endParaRPr lang="en-US" altLang="zh-TW" sz="4000" b="1" dirty="0"/>
          </a:p>
          <a:p>
            <a:r>
              <a:rPr lang="zh-TW" altLang="en-US" sz="4000" b="1" dirty="0"/>
              <a:t>增值服務 </a:t>
            </a:r>
            <a:r>
              <a:rPr lang="en-US" altLang="zh-TW" sz="4000" b="1" dirty="0"/>
              <a:t>–</a:t>
            </a:r>
            <a:r>
              <a:rPr lang="zh-TW" altLang="en-US" sz="4000" b="1" dirty="0">
                <a:solidFill>
                  <a:schemeClr val="tx1"/>
                </a:solidFill>
              </a:rPr>
              <a:t>自行落單</a:t>
            </a:r>
            <a:endParaRPr lang="en-US" altLang="zh-TW" sz="4000" b="1" dirty="0">
              <a:solidFill>
                <a:schemeClr val="tx1"/>
              </a:solidFill>
            </a:endParaRPr>
          </a:p>
          <a:p>
            <a:endParaRPr lang="en-US" sz="4000" b="1" dirty="0"/>
          </a:p>
          <a:p>
            <a:r>
              <a:rPr lang="zh-TW" altLang="en-US" sz="4000" dirty="0">
                <a:solidFill>
                  <a:srgbClr val="FF0000"/>
                </a:solidFill>
              </a:rPr>
              <a:t>申請自動轉賬服務</a:t>
            </a:r>
            <a:endParaRPr lang="en-US" sz="4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52461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522DB80-D9D5-37B6-02A2-B6C988700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B04AD-5EB0-49DF-9047-5419DE7250E3}" type="slidenum">
              <a:rPr lang="en-US" smtClean="0"/>
              <a:t>27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A18E8E3-B8B6-1CFA-81AD-76791FE3B38C}"/>
              </a:ext>
            </a:extLst>
          </p:cNvPr>
          <p:cNvSpPr txBox="1"/>
          <p:nvPr/>
        </p:nvSpPr>
        <p:spPr>
          <a:xfrm>
            <a:off x="425885" y="906293"/>
            <a:ext cx="2646878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sz="2400" dirty="0"/>
              <a:t>申請自動轉賬服務</a:t>
            </a:r>
            <a:endParaRPr lang="en-US" sz="2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9D6024E-F8F9-19A4-BE1E-54AC300DC9E3}"/>
              </a:ext>
            </a:extLst>
          </p:cNvPr>
          <p:cNvSpPr txBox="1"/>
          <p:nvPr/>
        </p:nvSpPr>
        <p:spPr>
          <a:xfrm>
            <a:off x="318900" y="1603412"/>
            <a:ext cx="2826415" cy="3970318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dirty="0"/>
              <a:t>客人在網上開戶時，同時</a:t>
            </a:r>
            <a:endParaRPr lang="en-US" altLang="zh-TW" dirty="0"/>
          </a:p>
          <a:p>
            <a:r>
              <a:rPr lang="zh-TW" altLang="en-US" dirty="0"/>
              <a:t>選用</a:t>
            </a:r>
            <a:r>
              <a:rPr lang="zh-TW" altLang="en-US" dirty="0">
                <a:solidFill>
                  <a:srgbClr val="FF0000"/>
                </a:solidFill>
              </a:rPr>
              <a:t>自動轉賬服務</a:t>
            </a:r>
            <a:r>
              <a:rPr lang="en-US" altLang="zh-TW" dirty="0"/>
              <a:t>(</a:t>
            </a:r>
            <a:r>
              <a:rPr lang="zh-TW" altLang="en-US" dirty="0"/>
              <a:t>只限</a:t>
            </a:r>
            <a:endParaRPr lang="en-US" altLang="zh-TW" dirty="0"/>
          </a:p>
          <a:p>
            <a:r>
              <a:rPr lang="zh-TW" altLang="en-US" dirty="0"/>
              <a:t>銀行戶口</a:t>
            </a:r>
            <a:r>
              <a:rPr lang="en-US" altLang="zh-TW" dirty="0"/>
              <a:t>)</a:t>
            </a:r>
            <a:r>
              <a:rPr lang="zh-TW" altLang="en-US" dirty="0"/>
              <a:t>，客人需在網站</a:t>
            </a:r>
            <a:endParaRPr lang="en-US" altLang="zh-TW" dirty="0"/>
          </a:p>
          <a:p>
            <a:r>
              <a:rPr lang="zh-TW" altLang="en-US" dirty="0"/>
              <a:t>提供戶口資料，同事在處</a:t>
            </a:r>
            <a:endParaRPr lang="en-US" altLang="zh-TW" dirty="0"/>
          </a:p>
          <a:p>
            <a:r>
              <a:rPr lang="zh-TW" altLang="en-US" dirty="0"/>
              <a:t>理個案時，</a:t>
            </a:r>
            <a:r>
              <a:rPr lang="zh-TW" altLang="en-US" dirty="0">
                <a:solidFill>
                  <a:srgbClr val="FF0000"/>
                </a:solidFill>
              </a:rPr>
              <a:t>無需</a:t>
            </a:r>
            <a:r>
              <a:rPr lang="zh-TW" altLang="en-US" dirty="0"/>
              <a:t>為自動轉</a:t>
            </a:r>
            <a:endParaRPr lang="en-US" altLang="zh-TW" dirty="0"/>
          </a:p>
          <a:p>
            <a:r>
              <a:rPr lang="zh-TW" altLang="en-US" dirty="0"/>
              <a:t>賬的申請</a:t>
            </a:r>
            <a:r>
              <a:rPr lang="zh-TW" altLang="en-US" dirty="0">
                <a:solidFill>
                  <a:srgbClr val="FF0000"/>
                </a:solidFill>
              </a:rPr>
              <a:t>進行任何登記</a:t>
            </a:r>
            <a:r>
              <a:rPr lang="zh-TW" altLang="en-US" dirty="0"/>
              <a:t>，</a:t>
            </a:r>
            <a:endParaRPr lang="en-US" altLang="zh-TW" dirty="0"/>
          </a:p>
          <a:p>
            <a:r>
              <a:rPr lang="zh-TW" altLang="en-US" dirty="0"/>
              <a:t>只按一般開戶手續進行，</a:t>
            </a:r>
            <a:endParaRPr lang="en-US" altLang="zh-TW" dirty="0"/>
          </a:p>
          <a:p>
            <a:r>
              <a:rPr lang="zh-TW" altLang="en-US" dirty="0"/>
              <a:t>並</a:t>
            </a:r>
            <a:r>
              <a:rPr lang="zh-TW" altLang="en-US" b="1" dirty="0">
                <a:solidFill>
                  <a:schemeClr val="accent2"/>
                </a:solidFill>
              </a:rPr>
              <a:t>緊記把</a:t>
            </a:r>
            <a:r>
              <a:rPr lang="en-US" altLang="zh-TW" b="1" dirty="0">
                <a:solidFill>
                  <a:schemeClr val="accent2"/>
                </a:solidFill>
              </a:rPr>
              <a:t>CaseID</a:t>
            </a:r>
            <a:r>
              <a:rPr lang="zh-TW" altLang="en-US" b="1" dirty="0">
                <a:solidFill>
                  <a:schemeClr val="accent2"/>
                </a:solidFill>
              </a:rPr>
              <a:t>輸入在</a:t>
            </a:r>
            <a:endParaRPr lang="en-US" altLang="zh-TW" b="1" dirty="0">
              <a:solidFill>
                <a:schemeClr val="accent2"/>
              </a:solidFill>
            </a:endParaRPr>
          </a:p>
          <a:p>
            <a:r>
              <a:rPr lang="en-US" altLang="zh-TW" b="1" dirty="0" err="1">
                <a:solidFill>
                  <a:schemeClr val="accent2"/>
                </a:solidFill>
              </a:rPr>
              <a:t>eAccount</a:t>
            </a:r>
            <a:r>
              <a:rPr lang="en-US" altLang="zh-TW" b="1" dirty="0">
                <a:solidFill>
                  <a:schemeClr val="accent2"/>
                </a:solidFill>
              </a:rPr>
              <a:t> </a:t>
            </a:r>
            <a:r>
              <a:rPr lang="en-US" b="1" dirty="0">
                <a:solidFill>
                  <a:schemeClr val="accent2"/>
                </a:solidFill>
              </a:rPr>
              <a:t>Info</a:t>
            </a:r>
            <a:r>
              <a:rPr lang="zh-TW" altLang="en-US" b="1" dirty="0">
                <a:solidFill>
                  <a:schemeClr val="accent2"/>
                </a:solidFill>
              </a:rPr>
              <a:t>內的 </a:t>
            </a:r>
            <a:r>
              <a:rPr lang="en-US" altLang="zh-TW" b="1" dirty="0">
                <a:solidFill>
                  <a:schemeClr val="accent2"/>
                </a:solidFill>
              </a:rPr>
              <a:t>eService</a:t>
            </a:r>
          </a:p>
          <a:p>
            <a:r>
              <a:rPr lang="en-US" altLang="zh-TW" b="1" dirty="0">
                <a:solidFill>
                  <a:schemeClr val="accent2"/>
                </a:solidFill>
              </a:rPr>
              <a:t>Case ID</a:t>
            </a:r>
            <a:r>
              <a:rPr lang="zh-TW" altLang="en-US" b="1" dirty="0">
                <a:solidFill>
                  <a:schemeClr val="accent2"/>
                </a:solidFill>
              </a:rPr>
              <a:t>欄內</a:t>
            </a:r>
            <a:r>
              <a:rPr lang="zh-TW" altLang="en-US" dirty="0"/>
              <a:t>，當戶口的供</a:t>
            </a:r>
            <a:endParaRPr lang="en-US" altLang="zh-TW" dirty="0"/>
          </a:p>
          <a:p>
            <a:r>
              <a:rPr lang="zh-TW" altLang="en-US" dirty="0"/>
              <a:t>氣成功開通後，系統便會</a:t>
            </a:r>
            <a:endParaRPr lang="en-US" altLang="zh-TW" dirty="0"/>
          </a:p>
          <a:p>
            <a:r>
              <a:rPr lang="zh-TW" altLang="en-US" dirty="0"/>
              <a:t>把銀行戶口資料自動連結</a:t>
            </a:r>
            <a:endParaRPr lang="en-US" altLang="zh-TW" dirty="0"/>
          </a:p>
          <a:p>
            <a:r>
              <a:rPr lang="zh-TW" altLang="en-US" dirty="0"/>
              <a:t>至</a:t>
            </a:r>
            <a:r>
              <a:rPr lang="en-US" altLang="zh-TW" dirty="0"/>
              <a:t>Siebel</a:t>
            </a:r>
            <a:r>
              <a:rPr lang="zh-TW" altLang="en-US" dirty="0"/>
              <a:t>戶口內為客人辦理</a:t>
            </a:r>
            <a:endParaRPr lang="en-US" altLang="zh-TW" dirty="0"/>
          </a:p>
          <a:p>
            <a:r>
              <a:rPr lang="zh-TW" altLang="en-US" dirty="0"/>
              <a:t>手續。</a:t>
            </a:r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2B479EB-6872-6772-8695-E56933CBBC00}"/>
              </a:ext>
            </a:extLst>
          </p:cNvPr>
          <p:cNvGrpSpPr/>
          <p:nvPr/>
        </p:nvGrpSpPr>
        <p:grpSpPr>
          <a:xfrm>
            <a:off x="2413000" y="401231"/>
            <a:ext cx="9549859" cy="6456769"/>
            <a:chOff x="2209800" y="380555"/>
            <a:chExt cx="9549859" cy="6456769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3C035FCE-703A-3798-A8B9-5552B90BFE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01332" y="380555"/>
              <a:ext cx="8158327" cy="717482"/>
            </a:xfrm>
            <a:prstGeom prst="rect">
              <a:avLst/>
            </a:prstGeom>
          </p:spPr>
        </p:pic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14FCBF4E-7861-9EF9-0C9B-8971F3B404DF}"/>
                </a:ext>
              </a:extLst>
            </p:cNvPr>
            <p:cNvGrpSpPr/>
            <p:nvPr/>
          </p:nvGrpSpPr>
          <p:grpSpPr>
            <a:xfrm>
              <a:off x="2209800" y="1066800"/>
              <a:ext cx="9549859" cy="5770524"/>
              <a:chOff x="1749324" y="1144422"/>
              <a:chExt cx="10010335" cy="5692902"/>
            </a:xfrm>
          </p:grpSpPr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0E8B9C18-36C7-77C9-8D5E-C59AE40D0DA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207953" y="1169822"/>
                <a:ext cx="8551706" cy="5667502"/>
              </a:xfrm>
              <a:prstGeom prst="rect">
                <a:avLst/>
              </a:prstGeom>
            </p:spPr>
          </p:pic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45C16FEF-E839-5FEB-8DA3-40B4E96F991B}"/>
                  </a:ext>
                </a:extLst>
              </p:cNvPr>
              <p:cNvGrpSpPr/>
              <p:nvPr/>
            </p:nvGrpSpPr>
            <p:grpSpPr>
              <a:xfrm>
                <a:off x="1749324" y="6460782"/>
                <a:ext cx="5688763" cy="338554"/>
                <a:chOff x="-695583" y="3576899"/>
                <a:chExt cx="5600778" cy="368351"/>
              </a:xfrm>
            </p:grpSpPr>
            <p:sp>
              <p:nvSpPr>
                <p:cNvPr id="3" name="Rectangle: Rounded Corners 2">
                  <a:extLst>
                    <a:ext uri="{FF2B5EF4-FFF2-40B4-BE49-F238E27FC236}">
                      <a16:creationId xmlns:a16="http://schemas.microsoft.com/office/drawing/2014/main" id="{680E6310-BFF1-7427-A1BE-75F8351962B7}"/>
                    </a:ext>
                  </a:extLst>
                </p:cNvPr>
                <p:cNvSpPr/>
                <p:nvPr/>
              </p:nvSpPr>
              <p:spPr>
                <a:xfrm>
                  <a:off x="740487" y="3685999"/>
                  <a:ext cx="4164708" cy="205626"/>
                </a:xfrm>
                <a:prstGeom prst="roundRect">
                  <a:avLst/>
                </a:prstGeom>
                <a:noFill/>
                <a:ln w="28575">
                  <a:solidFill>
                    <a:srgbClr val="CC00FF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rgbClr val="FFC000"/>
                    </a:solidFill>
                  </a:endParaRPr>
                </a:p>
              </p:txBody>
            </p:sp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9C0806E7-C53C-A41E-ADF4-850392AAECA8}"/>
                    </a:ext>
                  </a:extLst>
                </p:cNvPr>
                <p:cNvSpPr txBox="1"/>
                <p:nvPr/>
              </p:nvSpPr>
              <p:spPr>
                <a:xfrm>
                  <a:off x="-695583" y="3576899"/>
                  <a:ext cx="1393875" cy="368351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zh-TW" altLang="en-US" sz="1600" dirty="0"/>
                    <a:t>申請自動轉賬</a:t>
                  </a:r>
                  <a:endParaRPr lang="en-US" sz="1600" dirty="0"/>
                </a:p>
              </p:txBody>
            </p:sp>
          </p:grpSp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49500E3B-6CB1-CE11-E21A-EA77B659F2B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364174" y="6318150"/>
                <a:ext cx="336104" cy="403325"/>
              </a:xfrm>
              <a:prstGeom prst="rect">
                <a:avLst/>
              </a:prstGeom>
              <a:ln w="28575">
                <a:solidFill>
                  <a:srgbClr val="CC00FF"/>
                </a:solidFill>
              </a:ln>
            </p:spPr>
          </p:pic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33B40AD9-C832-4677-BBC2-3393257CAA36}"/>
                  </a:ext>
                </a:extLst>
              </p:cNvPr>
              <p:cNvSpPr/>
              <p:nvPr/>
            </p:nvSpPr>
            <p:spPr>
              <a:xfrm>
                <a:off x="7438085" y="1144422"/>
                <a:ext cx="4321574" cy="2575474"/>
              </a:xfrm>
              <a:prstGeom prst="roundRect">
                <a:avLst/>
              </a:prstGeom>
              <a:noFill/>
              <a:ln w="28575">
                <a:solidFill>
                  <a:srgbClr val="CC00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FFC000"/>
                  </a:solidFill>
                </a:endParaRPr>
              </a:p>
            </p:txBody>
          </p:sp>
        </p:grp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0936FA1C-D5F7-24B3-3917-645EA00F050B}"/>
              </a:ext>
            </a:extLst>
          </p:cNvPr>
          <p:cNvSpPr txBox="1"/>
          <p:nvPr/>
        </p:nvSpPr>
        <p:spPr>
          <a:xfrm>
            <a:off x="425885" y="75298"/>
            <a:ext cx="527439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e-Service &gt; Open Account </a:t>
            </a:r>
            <a:r>
              <a:rPr lang="zh-TW" altLang="en-US" sz="2000" b="1" dirty="0"/>
              <a:t>介面認識及處理方法</a:t>
            </a:r>
            <a:endParaRPr lang="en-US" altLang="zh-TW" sz="2000" b="1" dirty="0"/>
          </a:p>
          <a:p>
            <a:r>
              <a:rPr lang="zh-TW" altLang="en-US" sz="2000" b="1" dirty="0"/>
              <a:t>增值服務 </a:t>
            </a:r>
            <a:r>
              <a:rPr lang="en-US" altLang="zh-TW" sz="2000" b="1" dirty="0"/>
              <a:t>–</a:t>
            </a:r>
            <a:r>
              <a:rPr lang="zh-TW" altLang="en-US" sz="2000" b="1" dirty="0">
                <a:solidFill>
                  <a:schemeClr val="tx1"/>
                </a:solidFill>
              </a:rPr>
              <a:t>自行落單</a:t>
            </a:r>
            <a:endParaRPr lang="en-US" sz="2000" b="1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FD09724-BF0F-7111-1323-D73C322ADA78}"/>
              </a:ext>
            </a:extLst>
          </p:cNvPr>
          <p:cNvSpPr/>
          <p:nvPr/>
        </p:nvSpPr>
        <p:spPr>
          <a:xfrm>
            <a:off x="3706580" y="496385"/>
            <a:ext cx="3278420" cy="51150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0585DDA-5A12-11B1-2EB5-3B55ACF3222E}"/>
              </a:ext>
            </a:extLst>
          </p:cNvPr>
          <p:cNvSpPr/>
          <p:nvPr/>
        </p:nvSpPr>
        <p:spPr>
          <a:xfrm>
            <a:off x="6121400" y="2679701"/>
            <a:ext cx="348887" cy="1915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3F64DC4-6117-4AB4-84D7-53E656E83DF3}"/>
              </a:ext>
            </a:extLst>
          </p:cNvPr>
          <p:cNvSpPr/>
          <p:nvPr/>
        </p:nvSpPr>
        <p:spPr>
          <a:xfrm>
            <a:off x="10172700" y="4737101"/>
            <a:ext cx="348887" cy="1915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FAB42D4-3462-6900-475B-79140C127FB2}"/>
              </a:ext>
            </a:extLst>
          </p:cNvPr>
          <p:cNvSpPr/>
          <p:nvPr/>
        </p:nvSpPr>
        <p:spPr>
          <a:xfrm>
            <a:off x="6121400" y="5118101"/>
            <a:ext cx="348887" cy="1915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/>
          <p:cNvGrpSpPr/>
          <p:nvPr/>
        </p:nvGrpSpPr>
        <p:grpSpPr>
          <a:xfrm>
            <a:off x="4652148" y="1607411"/>
            <a:ext cx="2381250" cy="2695575"/>
            <a:chOff x="4652148" y="1607411"/>
            <a:chExt cx="2381250" cy="2695575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52148" y="1607411"/>
              <a:ext cx="2381250" cy="2695575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</p:pic>
        <p:sp>
          <p:nvSpPr>
            <p:cNvPr id="8" name="TextBox 7"/>
            <p:cNvSpPr txBox="1"/>
            <p:nvPr/>
          </p:nvSpPr>
          <p:spPr>
            <a:xfrm>
              <a:off x="4724862" y="3257809"/>
              <a:ext cx="1123825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TW" sz="14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22691038</a:t>
              </a:r>
              <a:endParaRPr lang="en-US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3D15961-44BC-F026-B345-27D3F9068A4E}"/>
              </a:ext>
            </a:extLst>
          </p:cNvPr>
          <p:cNvCxnSpPr>
            <a:cxnSpLocks/>
          </p:cNvCxnSpPr>
          <p:nvPr/>
        </p:nvCxnSpPr>
        <p:spPr>
          <a:xfrm flipH="1">
            <a:off x="5700279" y="1007893"/>
            <a:ext cx="421120" cy="226279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22481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B04AD-5EB0-49DF-9047-5419DE7250E3}" type="slidenum">
              <a:rPr lang="en-US" smtClean="0"/>
              <a:t>28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36FA1C-D5F7-24B3-3917-645EA00F050B}"/>
              </a:ext>
            </a:extLst>
          </p:cNvPr>
          <p:cNvSpPr txBox="1"/>
          <p:nvPr/>
        </p:nvSpPr>
        <p:spPr>
          <a:xfrm>
            <a:off x="477401" y="2095022"/>
            <a:ext cx="10356168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/>
              <a:t>e-Service &gt; Open Account </a:t>
            </a:r>
            <a:r>
              <a:rPr lang="zh-TW" altLang="en-US" sz="4000" b="1" dirty="0"/>
              <a:t>介面認識及處理方法</a:t>
            </a:r>
            <a:endParaRPr lang="en-US" altLang="zh-TW" sz="4000" b="1" dirty="0"/>
          </a:p>
          <a:p>
            <a:r>
              <a:rPr lang="zh-TW" altLang="en-US" sz="4000" b="1" dirty="0"/>
              <a:t>增值服務 </a:t>
            </a:r>
            <a:r>
              <a:rPr lang="en-US" altLang="zh-TW" sz="4000" b="1" dirty="0"/>
              <a:t>–</a:t>
            </a:r>
            <a:r>
              <a:rPr lang="zh-TW" altLang="en-US" sz="4000" b="1" dirty="0">
                <a:solidFill>
                  <a:schemeClr val="tx1"/>
                </a:solidFill>
              </a:rPr>
              <a:t>自行落單</a:t>
            </a:r>
            <a:endParaRPr lang="en-US" altLang="zh-TW" sz="4000" b="1" dirty="0">
              <a:solidFill>
                <a:schemeClr val="tx1"/>
              </a:solidFill>
            </a:endParaRPr>
          </a:p>
          <a:p>
            <a:endParaRPr lang="en-US" sz="4000" b="1" dirty="0"/>
          </a:p>
          <a:p>
            <a:r>
              <a:rPr lang="zh-TW" altLang="en-US" sz="4000" dirty="0">
                <a:solidFill>
                  <a:srgbClr val="FF0000"/>
                </a:solidFill>
              </a:rPr>
              <a:t>直接促銷 </a:t>
            </a:r>
            <a:r>
              <a:rPr lang="en-US" altLang="zh-TW" sz="4000" dirty="0">
                <a:solidFill>
                  <a:srgbClr val="FF0000"/>
                </a:solidFill>
              </a:rPr>
              <a:t>= N</a:t>
            </a:r>
            <a:r>
              <a:rPr lang="zh-TW" altLang="en-US" sz="4000" dirty="0"/>
              <a:t>不接收促銷資訊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7400441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821395" y="6363413"/>
            <a:ext cx="2743200" cy="365125"/>
          </a:xfrm>
        </p:spPr>
        <p:txBody>
          <a:bodyPr/>
          <a:lstStyle/>
          <a:p>
            <a:fld id="{941B04AD-5EB0-49DF-9047-5419DE7250E3}" type="slidenum">
              <a:rPr lang="en-US" smtClean="0"/>
              <a:t>29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36FA1C-D5F7-24B3-3917-645EA00F050B}"/>
              </a:ext>
            </a:extLst>
          </p:cNvPr>
          <p:cNvSpPr txBox="1"/>
          <p:nvPr/>
        </p:nvSpPr>
        <p:spPr>
          <a:xfrm>
            <a:off x="425885" y="150312"/>
            <a:ext cx="527439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e-Service &gt; Open Account </a:t>
            </a:r>
            <a:r>
              <a:rPr lang="zh-TW" altLang="en-US" sz="2000" b="1" dirty="0"/>
              <a:t>介面認識及處理方法</a:t>
            </a:r>
            <a:endParaRPr lang="en-US" altLang="zh-TW" sz="2000" b="1" dirty="0"/>
          </a:p>
          <a:p>
            <a:r>
              <a:rPr lang="zh-TW" altLang="en-US" sz="2000" b="1" dirty="0"/>
              <a:t>增值服務 </a:t>
            </a:r>
            <a:r>
              <a:rPr lang="en-US" altLang="zh-TW" sz="2000" b="1" dirty="0"/>
              <a:t>–</a:t>
            </a:r>
            <a:r>
              <a:rPr lang="zh-TW" altLang="en-US" sz="2000" b="1" dirty="0">
                <a:solidFill>
                  <a:schemeClr val="tx1"/>
                </a:solidFill>
              </a:rPr>
              <a:t>自行落單</a:t>
            </a:r>
            <a:endParaRPr lang="en-US" sz="20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18E8E3-B8B6-1CFA-81AD-76791FE3B38C}"/>
              </a:ext>
            </a:extLst>
          </p:cNvPr>
          <p:cNvSpPr txBox="1"/>
          <p:nvPr/>
        </p:nvSpPr>
        <p:spPr>
          <a:xfrm>
            <a:off x="450599" y="858198"/>
            <a:ext cx="2561920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sz="2400" dirty="0"/>
              <a:t>直接促銷 </a:t>
            </a:r>
            <a:r>
              <a:rPr lang="en-US" altLang="zh-TW" sz="2400" dirty="0"/>
              <a:t>–</a:t>
            </a:r>
            <a:r>
              <a:rPr lang="zh-TW" altLang="en-US" sz="2400" dirty="0"/>
              <a:t>不收取</a:t>
            </a:r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CA3EE4-2057-03E5-356D-52A94E5921C7}"/>
              </a:ext>
            </a:extLst>
          </p:cNvPr>
          <p:cNvSpPr txBox="1"/>
          <p:nvPr/>
        </p:nvSpPr>
        <p:spPr>
          <a:xfrm>
            <a:off x="425886" y="1388493"/>
            <a:ext cx="66783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200" dirty="0">
                <a:solidFill>
                  <a:srgbClr val="0070C0"/>
                </a:solidFill>
              </a:rPr>
              <a:t>注意：所有</a:t>
            </a:r>
            <a:r>
              <a:rPr lang="zh-TW" altLang="en-US" sz="2200" dirty="0">
                <a:solidFill>
                  <a:srgbClr val="FF0000"/>
                </a:solidFill>
              </a:rPr>
              <a:t>全新客戶</a:t>
            </a:r>
            <a:r>
              <a:rPr lang="zh-TW" altLang="en-US" sz="2200" dirty="0">
                <a:solidFill>
                  <a:srgbClr val="0070C0"/>
                </a:solidFill>
              </a:rPr>
              <a:t>，直接促銷已設定為</a:t>
            </a:r>
            <a:r>
              <a:rPr lang="zh-TW" altLang="en-US" sz="2200" dirty="0">
                <a:solidFill>
                  <a:srgbClr val="FF0000"/>
                </a:solidFill>
              </a:rPr>
              <a:t>不接收</a:t>
            </a:r>
            <a:r>
              <a:rPr lang="zh-TW" altLang="en-US" sz="2200" dirty="0">
                <a:solidFill>
                  <a:srgbClr val="0070C0"/>
                </a:solidFill>
              </a:rPr>
              <a:t>。</a:t>
            </a:r>
            <a:endParaRPr lang="en-US" altLang="zh-TW" sz="2200" dirty="0">
              <a:solidFill>
                <a:srgbClr val="0070C0"/>
              </a:solidFill>
            </a:endParaRPr>
          </a:p>
          <a:p>
            <a:r>
              <a:rPr lang="zh-TW" altLang="en-US" sz="2200" dirty="0">
                <a:solidFill>
                  <a:srgbClr val="0070C0"/>
                </a:solidFill>
              </a:rPr>
              <a:t>同事只需於</a:t>
            </a:r>
            <a:r>
              <a:rPr lang="en-US" altLang="zh-TW" sz="2200" dirty="0">
                <a:solidFill>
                  <a:srgbClr val="0070C0"/>
                </a:solidFill>
              </a:rPr>
              <a:t>Siebel</a:t>
            </a:r>
            <a:r>
              <a:rPr lang="zh-TW" altLang="en-US" sz="2200" dirty="0">
                <a:solidFill>
                  <a:srgbClr val="0070C0"/>
                </a:solidFill>
              </a:rPr>
              <a:t>作記錄便可。</a:t>
            </a:r>
            <a:endParaRPr lang="en-US" altLang="zh-TW" sz="2200" dirty="0">
              <a:solidFill>
                <a:srgbClr val="0070C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045B8DF-B712-B05C-B8DB-8C8DA60F16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505" y="1166645"/>
            <a:ext cx="5396612" cy="5037916"/>
          </a:xfrm>
          <a:prstGeom prst="rect">
            <a:avLst/>
          </a:prstGeom>
          <a:ln w="38100">
            <a:solidFill>
              <a:srgbClr val="5BD4FF"/>
            </a:solidFill>
          </a:ln>
        </p:spPr>
      </p:pic>
      <p:sp>
        <p:nvSpPr>
          <p:cNvPr id="9" name="Rectangle: Rounded Corners 6">
            <a:extLst>
              <a:ext uri="{FF2B5EF4-FFF2-40B4-BE49-F238E27FC236}">
                <a16:creationId xmlns:a16="http://schemas.microsoft.com/office/drawing/2014/main" id="{6B5A46A8-A0D2-0FC7-9A9E-483B8B93AEEB}"/>
              </a:ext>
            </a:extLst>
          </p:cNvPr>
          <p:cNvSpPr/>
          <p:nvPr/>
        </p:nvSpPr>
        <p:spPr>
          <a:xfrm>
            <a:off x="6635261" y="5849246"/>
            <a:ext cx="3720845" cy="342569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87DD8D-CC70-D473-25AE-0A6C863C7F5A}"/>
              </a:ext>
            </a:extLst>
          </p:cNvPr>
          <p:cNvSpPr txBox="1"/>
          <p:nvPr/>
        </p:nvSpPr>
        <p:spPr>
          <a:xfrm>
            <a:off x="10192995" y="5507831"/>
            <a:ext cx="1620957" cy="34921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sz="1600" dirty="0"/>
              <a:t>不接收促銷資訊</a:t>
            </a:r>
            <a:endParaRPr lang="en-US" sz="160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5A548B1-2628-B909-D5C8-F7D4B71FF007}"/>
              </a:ext>
            </a:extLst>
          </p:cNvPr>
          <p:cNvGrpSpPr/>
          <p:nvPr/>
        </p:nvGrpSpPr>
        <p:grpSpPr>
          <a:xfrm>
            <a:off x="425885" y="2393509"/>
            <a:ext cx="5965724" cy="3811052"/>
            <a:chOff x="6093127" y="1725245"/>
            <a:chExt cx="5965724" cy="3811052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105BFE4B-3313-CD4C-A171-08772D4DE144}"/>
                </a:ext>
              </a:extLst>
            </p:cNvPr>
            <p:cNvGrpSpPr/>
            <p:nvPr/>
          </p:nvGrpSpPr>
          <p:grpSpPr>
            <a:xfrm>
              <a:off x="6096000" y="2119977"/>
              <a:ext cx="5962851" cy="3416320"/>
              <a:chOff x="6096000" y="2119977"/>
              <a:chExt cx="5962851" cy="3416320"/>
            </a:xfrm>
          </p:grpSpPr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9E584DE8-B1EC-A66A-5F3F-EBF7F2F2BEE2}"/>
                  </a:ext>
                </a:extLst>
              </p:cNvPr>
              <p:cNvGrpSpPr/>
              <p:nvPr/>
            </p:nvGrpSpPr>
            <p:grpSpPr>
              <a:xfrm>
                <a:off x="6096000" y="2119977"/>
                <a:ext cx="5962851" cy="3416320"/>
                <a:chOff x="6136282" y="1690536"/>
                <a:chExt cx="5962851" cy="3416320"/>
              </a:xfrm>
            </p:grpSpPr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DE09B17C-2712-1EB1-8C55-328F96764207}"/>
                    </a:ext>
                  </a:extLst>
                </p:cNvPr>
                <p:cNvSpPr txBox="1"/>
                <p:nvPr/>
              </p:nvSpPr>
              <p:spPr>
                <a:xfrm>
                  <a:off x="6136282" y="1690536"/>
                  <a:ext cx="5962851" cy="3416320"/>
                </a:xfrm>
                <a:prstGeom prst="rect">
                  <a:avLst/>
                </a:prstGeom>
                <a:solidFill>
                  <a:srgbClr val="EDE2F6"/>
                </a:solidFill>
                <a:ln w="38100">
                  <a:solidFill>
                    <a:srgbClr val="7030A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zh-TW" altLang="en-US" sz="1800" dirty="0"/>
                    <a:t>於</a:t>
                  </a:r>
                  <a:r>
                    <a:rPr lang="en-US" altLang="zh-TW" sz="1800" dirty="0"/>
                    <a:t>Contact</a:t>
                  </a:r>
                  <a:r>
                    <a:rPr lang="zh-TW" altLang="en-US" sz="1800" dirty="0"/>
                    <a:t>下的</a:t>
                  </a:r>
                  <a:r>
                    <a:rPr lang="en-US" altLang="zh-TW" sz="1800" dirty="0"/>
                    <a:t>Activity </a:t>
                  </a:r>
                  <a:r>
                    <a:rPr lang="en-US" altLang="zh-TW" sz="1800" dirty="0">
                      <a:sym typeface="Wingdings" panose="05000000000000000000" pitchFamily="2" charset="2"/>
                    </a:rPr>
                    <a:t> Comment</a:t>
                  </a:r>
                  <a:r>
                    <a:rPr lang="zh-TW" altLang="en-US" sz="1800" dirty="0">
                      <a:sym typeface="Wingdings" panose="05000000000000000000" pitchFamily="2" charset="2"/>
                    </a:rPr>
                    <a:t>內輸入：                            </a:t>
                  </a:r>
                  <a:endParaRPr lang="en-US" altLang="zh-TW" sz="1800" dirty="0">
                    <a:sym typeface="Wingdings" panose="05000000000000000000" pitchFamily="2" charset="2"/>
                  </a:endParaRPr>
                </a:p>
                <a:p>
                  <a:pPr marL="285750" indent="-285750">
                    <a:buFont typeface="Wingdings" panose="05000000000000000000" pitchFamily="2" charset="2"/>
                    <a:buChar char="q"/>
                  </a:pPr>
                  <a:r>
                    <a:rPr lang="en-US" altLang="zh-TW" sz="1800" dirty="0">
                      <a:solidFill>
                        <a:srgbClr val="FF0000"/>
                      </a:solidFill>
                      <a:sym typeface="Wingdings" panose="05000000000000000000" pitchFamily="2" charset="2"/>
                    </a:rPr>
                    <a:t>Case ID XXXXXXXX – DM Refused</a:t>
                  </a:r>
                </a:p>
                <a:p>
                  <a:r>
                    <a:rPr lang="zh-TW" altLang="en-US" sz="1800" dirty="0">
                      <a:sym typeface="Wingdings" panose="05000000000000000000" pitchFamily="2" charset="2"/>
                    </a:rPr>
                    <a:t>然後 </a:t>
                  </a:r>
                  <a:r>
                    <a:rPr lang="en-US" altLang="zh-TW" sz="1800" dirty="0">
                      <a:sym typeface="Wingdings" panose="05000000000000000000" pitchFamily="2" charset="2"/>
                    </a:rPr>
                    <a:t>[Close] Status</a:t>
                  </a:r>
                </a:p>
                <a:p>
                  <a:endParaRPr lang="en-US" altLang="zh-TW" dirty="0">
                    <a:sym typeface="Wingdings" panose="05000000000000000000" pitchFamily="2" charset="2"/>
                  </a:endParaRPr>
                </a:p>
                <a:p>
                  <a:r>
                    <a:rPr lang="en-US" sz="1800" b="1" dirty="0"/>
                    <a:t>Contact </a:t>
                  </a:r>
                  <a:r>
                    <a:rPr lang="zh-TW" altLang="en-US" sz="1800" b="1" dirty="0"/>
                    <a:t>下的 </a:t>
                  </a:r>
                  <a:r>
                    <a:rPr lang="en-US" altLang="zh-TW" sz="1800" b="1" dirty="0"/>
                    <a:t>Activity</a:t>
                  </a:r>
                </a:p>
                <a:p>
                  <a:endParaRPr lang="en-US" b="1" dirty="0"/>
                </a:p>
                <a:p>
                  <a:endParaRPr lang="en-US" sz="1800" b="1" dirty="0"/>
                </a:p>
                <a:p>
                  <a:endParaRPr lang="en-US" b="1" dirty="0"/>
                </a:p>
                <a:p>
                  <a:endParaRPr lang="en-US" sz="1800" b="1" dirty="0"/>
                </a:p>
                <a:p>
                  <a:endParaRPr lang="en-US" sz="1800" b="1" dirty="0"/>
                </a:p>
                <a:p>
                  <a:endParaRPr lang="en-US" altLang="zh-TW" sz="1800" dirty="0">
                    <a:sym typeface="Wingdings" panose="05000000000000000000" pitchFamily="2" charset="2"/>
                  </a:endParaRPr>
                </a:p>
                <a:p>
                  <a:endParaRPr lang="en-US" dirty="0"/>
                </a:p>
              </p:txBody>
            </p:sp>
            <p:pic>
              <p:nvPicPr>
                <p:cNvPr id="19" name="Picture 18">
                  <a:extLst>
                    <a:ext uri="{FF2B5EF4-FFF2-40B4-BE49-F238E27FC236}">
                      <a16:creationId xmlns:a16="http://schemas.microsoft.com/office/drawing/2014/main" id="{495EC648-DC5A-71D0-EDD0-2B20C73D208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259466" y="3190622"/>
                  <a:ext cx="5690722" cy="1551022"/>
                </a:xfrm>
                <a:prstGeom prst="rect">
                  <a:avLst/>
                </a:prstGeom>
                <a:ln w="19050">
                  <a:solidFill>
                    <a:srgbClr val="9751CB"/>
                  </a:solidFill>
                </a:ln>
              </p:spPr>
            </p:pic>
          </p:grpSp>
          <p:sp>
            <p:nvSpPr>
              <p:cNvPr id="15" name="Rectangle: Rounded Corners 33">
                <a:extLst>
                  <a:ext uri="{FF2B5EF4-FFF2-40B4-BE49-F238E27FC236}">
                    <a16:creationId xmlns:a16="http://schemas.microsoft.com/office/drawing/2014/main" id="{6CEA7FB4-4448-E746-6EB1-DC026311B486}"/>
                  </a:ext>
                </a:extLst>
              </p:cNvPr>
              <p:cNvSpPr/>
              <p:nvPr/>
            </p:nvSpPr>
            <p:spPr>
              <a:xfrm>
                <a:off x="7357341" y="3685955"/>
                <a:ext cx="348887" cy="281232"/>
              </a:xfrm>
              <a:prstGeom prst="roundRect">
                <a:avLst/>
              </a:prstGeom>
              <a:noFill/>
              <a:ln w="1905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Rectangle: Rounded Corners 37">
                <a:extLst>
                  <a:ext uri="{FF2B5EF4-FFF2-40B4-BE49-F238E27FC236}">
                    <a16:creationId xmlns:a16="http://schemas.microsoft.com/office/drawing/2014/main" id="{475D91ED-40D0-469B-80F5-AA698DD649CF}"/>
                  </a:ext>
                </a:extLst>
              </p:cNvPr>
              <p:cNvSpPr/>
              <p:nvPr/>
            </p:nvSpPr>
            <p:spPr>
              <a:xfrm>
                <a:off x="8736956" y="4295597"/>
                <a:ext cx="1664344" cy="501316"/>
              </a:xfrm>
              <a:prstGeom prst="roundRect">
                <a:avLst/>
              </a:prstGeom>
              <a:noFill/>
              <a:ln w="1905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: Rounded Corners 38">
                <a:extLst>
                  <a:ext uri="{FF2B5EF4-FFF2-40B4-BE49-F238E27FC236}">
                    <a16:creationId xmlns:a16="http://schemas.microsoft.com/office/drawing/2014/main" id="{0032CAB8-7063-033F-9BAB-548F64B8BAE8}"/>
                  </a:ext>
                </a:extLst>
              </p:cNvPr>
              <p:cNvSpPr/>
              <p:nvPr/>
            </p:nvSpPr>
            <p:spPr>
              <a:xfrm>
                <a:off x="11005882" y="4322787"/>
                <a:ext cx="880806" cy="749056"/>
              </a:xfrm>
              <a:prstGeom prst="roundRect">
                <a:avLst/>
              </a:prstGeom>
              <a:noFill/>
              <a:ln w="1905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FCC246E-9975-38CA-E8D4-3F73EA649766}"/>
                </a:ext>
              </a:extLst>
            </p:cNvPr>
            <p:cNvSpPr txBox="1"/>
            <p:nvPr/>
          </p:nvSpPr>
          <p:spPr>
            <a:xfrm>
              <a:off x="6093127" y="1725245"/>
              <a:ext cx="813043" cy="400110"/>
            </a:xfrm>
            <a:prstGeom prst="rect">
              <a:avLst/>
            </a:prstGeom>
            <a:solidFill>
              <a:srgbClr val="EDE2F6"/>
            </a:solidFill>
            <a:ln w="38100">
              <a:solidFill>
                <a:srgbClr val="7030A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Siebel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028515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B04AD-5EB0-49DF-9047-5419DE7250E3}" type="slidenum">
              <a:rPr lang="en-US" smtClean="0"/>
              <a:t>30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36FA1C-D5F7-24B3-3917-645EA00F050B}"/>
              </a:ext>
            </a:extLst>
          </p:cNvPr>
          <p:cNvSpPr txBox="1"/>
          <p:nvPr/>
        </p:nvSpPr>
        <p:spPr>
          <a:xfrm>
            <a:off x="477401" y="2095022"/>
            <a:ext cx="10356168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/>
              <a:t>e-Service &gt; Open Account </a:t>
            </a:r>
            <a:r>
              <a:rPr lang="zh-TW" altLang="en-US" sz="4000" b="1" dirty="0"/>
              <a:t>介面認識及處理方法</a:t>
            </a:r>
            <a:endParaRPr lang="en-US" altLang="zh-TW" sz="4000" b="1" dirty="0"/>
          </a:p>
          <a:p>
            <a:r>
              <a:rPr lang="zh-TW" altLang="en-US" sz="4000" b="1" dirty="0"/>
              <a:t>增值服務 </a:t>
            </a:r>
            <a:r>
              <a:rPr lang="en-US" altLang="zh-TW" sz="4000" b="1" dirty="0"/>
              <a:t>–</a:t>
            </a:r>
            <a:r>
              <a:rPr lang="zh-TW" altLang="en-US" sz="4000" b="1" dirty="0">
                <a:solidFill>
                  <a:schemeClr val="tx1"/>
                </a:solidFill>
              </a:rPr>
              <a:t>自行落單</a:t>
            </a:r>
            <a:endParaRPr lang="en-US" altLang="zh-TW" sz="4000" b="1" dirty="0">
              <a:solidFill>
                <a:schemeClr val="tx1"/>
              </a:solidFill>
            </a:endParaRPr>
          </a:p>
          <a:p>
            <a:endParaRPr lang="en-US" sz="4000" b="1" dirty="0"/>
          </a:p>
          <a:p>
            <a:r>
              <a:rPr lang="zh-TW" altLang="en-US" sz="4000" dirty="0">
                <a:solidFill>
                  <a:srgbClr val="FF0000"/>
                </a:solidFill>
              </a:rPr>
              <a:t>直接促銷 </a:t>
            </a:r>
            <a:r>
              <a:rPr lang="en-US" altLang="zh-TW" sz="4000" dirty="0">
                <a:solidFill>
                  <a:srgbClr val="FF0000"/>
                </a:solidFill>
              </a:rPr>
              <a:t>= Y </a:t>
            </a:r>
            <a:r>
              <a:rPr lang="zh-TW" altLang="en-US" sz="4000" dirty="0"/>
              <a:t>接收促銷資訊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6517627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B04AD-5EB0-49DF-9047-5419DE7250E3}" type="slidenum">
              <a:rPr lang="en-US" smtClean="0"/>
              <a:t>31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36FA1C-D5F7-24B3-3917-645EA00F050B}"/>
              </a:ext>
            </a:extLst>
          </p:cNvPr>
          <p:cNvSpPr txBox="1"/>
          <p:nvPr/>
        </p:nvSpPr>
        <p:spPr>
          <a:xfrm>
            <a:off x="279097" y="166376"/>
            <a:ext cx="527439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e-Service &gt; Open Account </a:t>
            </a:r>
            <a:r>
              <a:rPr lang="zh-TW" altLang="en-US" sz="2000" b="1" dirty="0"/>
              <a:t>介面認識及處理方法</a:t>
            </a:r>
            <a:endParaRPr lang="en-US" altLang="zh-TW" sz="2000" b="1" dirty="0"/>
          </a:p>
          <a:p>
            <a:r>
              <a:rPr lang="zh-TW" altLang="en-US" sz="2000" b="1" dirty="0"/>
              <a:t>增值服務 </a:t>
            </a:r>
            <a:r>
              <a:rPr lang="en-US" altLang="zh-TW" sz="2000" b="1" dirty="0"/>
              <a:t>–</a:t>
            </a:r>
            <a:r>
              <a:rPr lang="zh-TW" altLang="en-US" sz="2000" b="1" dirty="0">
                <a:solidFill>
                  <a:schemeClr val="tx1"/>
                </a:solidFill>
              </a:rPr>
              <a:t>自行落單</a:t>
            </a:r>
            <a:endParaRPr lang="en-US" sz="20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18E8E3-B8B6-1CFA-81AD-76791FE3B38C}"/>
              </a:ext>
            </a:extLst>
          </p:cNvPr>
          <p:cNvSpPr txBox="1"/>
          <p:nvPr/>
        </p:nvSpPr>
        <p:spPr>
          <a:xfrm>
            <a:off x="336240" y="959124"/>
            <a:ext cx="2254143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sz="2400" dirty="0"/>
              <a:t>直接促銷 </a:t>
            </a:r>
            <a:r>
              <a:rPr lang="en-US" altLang="zh-TW" sz="2400" dirty="0"/>
              <a:t>–</a:t>
            </a:r>
            <a:r>
              <a:rPr lang="zh-TW" altLang="en-US" sz="2400" dirty="0"/>
              <a:t>收取</a:t>
            </a:r>
            <a:endParaRPr lang="en-US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CB173A-8A98-1BA3-DBF2-951B8FADDE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7623" y="874262"/>
            <a:ext cx="5624322" cy="5482088"/>
          </a:xfrm>
          <a:prstGeom prst="rect">
            <a:avLst/>
          </a:prstGeom>
          <a:ln w="38100">
            <a:solidFill>
              <a:srgbClr val="15C2FF"/>
            </a:solidFill>
          </a:ln>
        </p:spPr>
      </p:pic>
      <p:sp>
        <p:nvSpPr>
          <p:cNvPr id="9" name="Rectangle: Rounded Corners 6">
            <a:extLst>
              <a:ext uri="{FF2B5EF4-FFF2-40B4-BE49-F238E27FC236}">
                <a16:creationId xmlns:a16="http://schemas.microsoft.com/office/drawing/2014/main" id="{6B5A46A8-A0D2-0FC7-9A9E-483B8B93AEEB}"/>
              </a:ext>
            </a:extLst>
          </p:cNvPr>
          <p:cNvSpPr/>
          <p:nvPr/>
        </p:nvSpPr>
        <p:spPr>
          <a:xfrm>
            <a:off x="5981605" y="6013781"/>
            <a:ext cx="3720845" cy="342569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87DD8D-CC70-D473-25AE-0A6C863C7F5A}"/>
              </a:ext>
            </a:extLst>
          </p:cNvPr>
          <p:cNvSpPr txBox="1"/>
          <p:nvPr/>
        </p:nvSpPr>
        <p:spPr>
          <a:xfrm>
            <a:off x="9702450" y="5675227"/>
            <a:ext cx="1415772" cy="3385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sz="1600" dirty="0"/>
              <a:t>接收促銷資訊</a:t>
            </a:r>
            <a:endParaRPr lang="en-US" sz="1600" dirty="0"/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D522DB80-D9D5-37B6-02A2-B6C988700F3A}"/>
              </a:ext>
            </a:extLst>
          </p:cNvPr>
          <p:cNvSpPr txBox="1">
            <a:spLocks/>
          </p:cNvSpPr>
          <p:nvPr/>
        </p:nvSpPr>
        <p:spPr>
          <a:xfrm>
            <a:off x="3251994" y="653891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41B04AD-5EB0-49DF-9047-5419DE7250E3}" type="slidenum">
              <a:rPr lang="en-US" smtClean="0"/>
              <a:pPr/>
              <a:t>31</a:t>
            </a:fld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2F2628E-0711-C12B-2B32-3D5E91A8277F}"/>
              </a:ext>
            </a:extLst>
          </p:cNvPr>
          <p:cNvGrpSpPr/>
          <p:nvPr/>
        </p:nvGrpSpPr>
        <p:grpSpPr>
          <a:xfrm>
            <a:off x="336240" y="2548187"/>
            <a:ext cx="5349970" cy="3693319"/>
            <a:chOff x="5708914" y="540260"/>
            <a:chExt cx="5349970" cy="3693319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6BB0A32-5F21-A678-BE64-3C8DF475FB3A}"/>
                </a:ext>
              </a:extLst>
            </p:cNvPr>
            <p:cNvSpPr txBox="1"/>
            <p:nvPr/>
          </p:nvSpPr>
          <p:spPr>
            <a:xfrm>
              <a:off x="5708914" y="540260"/>
              <a:ext cx="5349970" cy="3693319"/>
            </a:xfrm>
            <a:prstGeom prst="rect">
              <a:avLst/>
            </a:prstGeom>
            <a:solidFill>
              <a:srgbClr val="EDE2F6"/>
            </a:solidFill>
            <a:ln w="38100">
              <a:solidFill>
                <a:srgbClr val="7030A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zh-TW" sz="1800" dirty="0"/>
                <a:t>1. </a:t>
              </a:r>
              <a:r>
                <a:rPr lang="zh-TW" altLang="en-US" sz="1800" dirty="0"/>
                <a:t>於</a:t>
              </a:r>
              <a:r>
                <a:rPr lang="en-US" altLang="zh-TW" sz="1800" dirty="0"/>
                <a:t>Contact</a:t>
              </a:r>
              <a:r>
                <a:rPr lang="zh-TW" altLang="en-US" sz="1800" dirty="0"/>
                <a:t>下的</a:t>
              </a:r>
              <a:r>
                <a:rPr lang="en-US" altLang="zh-TW" sz="1800" dirty="0"/>
                <a:t>Activity </a:t>
              </a:r>
              <a:r>
                <a:rPr lang="en-US" altLang="zh-TW" sz="1800" dirty="0">
                  <a:sym typeface="Wingdings" panose="05000000000000000000" pitchFamily="2" charset="2"/>
                </a:rPr>
                <a:t> Comment</a:t>
              </a:r>
              <a:r>
                <a:rPr lang="zh-TW" altLang="en-US" sz="1800" dirty="0">
                  <a:sym typeface="Wingdings" panose="05000000000000000000" pitchFamily="2" charset="2"/>
                </a:rPr>
                <a:t>內輸入：</a:t>
              </a:r>
              <a:endParaRPr lang="en-US" altLang="zh-TW" sz="1800" dirty="0">
                <a:sym typeface="Wingdings" panose="05000000000000000000" pitchFamily="2" charset="2"/>
              </a:endParaRPr>
            </a:p>
            <a:p>
              <a:pPr marL="285750" indent="-285750">
                <a:buFont typeface="Wingdings" panose="05000000000000000000" pitchFamily="2" charset="2"/>
                <a:buChar char="q"/>
              </a:pPr>
              <a:r>
                <a:rPr lang="en-US" altLang="zh-TW" sz="1800" dirty="0">
                  <a:solidFill>
                    <a:srgbClr val="FF0000"/>
                  </a:solidFill>
                  <a:sym typeface="Wingdings" panose="05000000000000000000" pitchFamily="2" charset="2"/>
                </a:rPr>
                <a:t>Case ID XXXXXXXX – DM Agreed</a:t>
              </a:r>
            </a:p>
            <a:p>
              <a:r>
                <a:rPr lang="zh-TW" altLang="en-US" sz="1800" dirty="0">
                  <a:sym typeface="Wingdings" panose="05000000000000000000" pitchFamily="2" charset="2"/>
                </a:rPr>
                <a:t>然後 </a:t>
              </a:r>
              <a:r>
                <a:rPr lang="en-US" altLang="zh-TW" sz="1800" dirty="0">
                  <a:sym typeface="Wingdings" panose="05000000000000000000" pitchFamily="2" charset="2"/>
                </a:rPr>
                <a:t>[Close] Status</a:t>
              </a:r>
            </a:p>
            <a:p>
              <a:endParaRPr lang="en-US" altLang="zh-TW" dirty="0">
                <a:sym typeface="Wingdings" panose="05000000000000000000" pitchFamily="2" charset="2"/>
              </a:endParaRPr>
            </a:p>
            <a:p>
              <a:r>
                <a:rPr lang="en-US" sz="1800" b="1" dirty="0"/>
                <a:t>Contact </a:t>
              </a:r>
              <a:r>
                <a:rPr lang="zh-TW" altLang="en-US" sz="1800" b="1" dirty="0"/>
                <a:t>下的 </a:t>
              </a:r>
              <a:r>
                <a:rPr lang="en-US" altLang="zh-TW" sz="1800" b="1" dirty="0"/>
                <a:t>Activity</a:t>
              </a:r>
            </a:p>
            <a:p>
              <a:endParaRPr lang="en-US" sz="1800" b="1" dirty="0"/>
            </a:p>
            <a:p>
              <a:endParaRPr lang="en-US" altLang="zh-TW" sz="1800" dirty="0">
                <a:sym typeface="Wingdings" panose="05000000000000000000" pitchFamily="2" charset="2"/>
              </a:endParaRPr>
            </a:p>
            <a:p>
              <a:endParaRPr lang="en-US" dirty="0"/>
            </a:p>
            <a:p>
              <a:endParaRPr lang="en-US" dirty="0"/>
            </a:p>
            <a:p>
              <a:endParaRPr lang="en-US" dirty="0"/>
            </a:p>
            <a:p>
              <a:endParaRPr lang="en-US" dirty="0"/>
            </a:p>
            <a:p>
              <a:endParaRPr lang="en-US" dirty="0"/>
            </a:p>
            <a:p>
              <a:endParaRPr lang="en-US" dirty="0"/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92EF1379-6227-8EE2-1080-A282C32C418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84491" y="2061663"/>
              <a:ext cx="5008954" cy="1676073"/>
            </a:xfrm>
            <a:prstGeom prst="rect">
              <a:avLst/>
            </a:prstGeom>
            <a:ln w="19050">
              <a:solidFill>
                <a:srgbClr val="9751CB"/>
              </a:solidFill>
            </a:ln>
          </p:spPr>
        </p:pic>
      </p:grpSp>
      <p:sp>
        <p:nvSpPr>
          <p:cNvPr id="20" name="Rectangle: Rounded Corners 38">
            <a:extLst>
              <a:ext uri="{FF2B5EF4-FFF2-40B4-BE49-F238E27FC236}">
                <a16:creationId xmlns:a16="http://schemas.microsoft.com/office/drawing/2014/main" id="{BC9F87F5-E2CF-F7DE-C866-D7556D222C66}"/>
              </a:ext>
            </a:extLst>
          </p:cNvPr>
          <p:cNvSpPr/>
          <p:nvPr/>
        </p:nvSpPr>
        <p:spPr>
          <a:xfrm>
            <a:off x="1393085" y="4385285"/>
            <a:ext cx="329913" cy="289203"/>
          </a:xfrm>
          <a:prstGeom prst="round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45">
            <a:extLst>
              <a:ext uri="{FF2B5EF4-FFF2-40B4-BE49-F238E27FC236}">
                <a16:creationId xmlns:a16="http://schemas.microsoft.com/office/drawing/2014/main" id="{0ED08108-3BD7-F200-E1F9-2C0D0BDCE0C1}"/>
              </a:ext>
            </a:extLst>
          </p:cNvPr>
          <p:cNvSpPr/>
          <p:nvPr/>
        </p:nvSpPr>
        <p:spPr>
          <a:xfrm>
            <a:off x="4673026" y="4907627"/>
            <a:ext cx="748622" cy="756715"/>
          </a:xfrm>
          <a:prstGeom prst="round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46">
            <a:extLst>
              <a:ext uri="{FF2B5EF4-FFF2-40B4-BE49-F238E27FC236}">
                <a16:creationId xmlns:a16="http://schemas.microsoft.com/office/drawing/2014/main" id="{AC4F493C-05EA-92E8-7D32-5CD011CF3EC3}"/>
              </a:ext>
            </a:extLst>
          </p:cNvPr>
          <p:cNvSpPr/>
          <p:nvPr/>
        </p:nvSpPr>
        <p:spPr>
          <a:xfrm>
            <a:off x="2665722" y="4968901"/>
            <a:ext cx="1467167" cy="486079"/>
          </a:xfrm>
          <a:prstGeom prst="round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D8063DD-7CB5-95BD-99FF-7B37839B4356}"/>
              </a:ext>
            </a:extLst>
          </p:cNvPr>
          <p:cNvSpPr txBox="1"/>
          <p:nvPr/>
        </p:nvSpPr>
        <p:spPr>
          <a:xfrm>
            <a:off x="336240" y="1963412"/>
            <a:ext cx="2329482" cy="584775"/>
          </a:xfrm>
          <a:prstGeom prst="rect">
            <a:avLst/>
          </a:prstGeom>
          <a:solidFill>
            <a:srgbClr val="EDE2F6"/>
          </a:solidFill>
          <a:ln w="38100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Siebel </a:t>
            </a:r>
            <a:r>
              <a:rPr lang="en-US" altLang="zh-TW" sz="2000" dirty="0"/>
              <a:t>: </a:t>
            </a:r>
            <a:r>
              <a:rPr lang="zh-TW" altLang="en-US" sz="3200" dirty="0">
                <a:solidFill>
                  <a:srgbClr val="FF0000"/>
                </a:solidFill>
              </a:rPr>
              <a:t>步驟</a:t>
            </a:r>
            <a:r>
              <a:rPr lang="en-US" altLang="zh-TW" sz="3200" dirty="0">
                <a:solidFill>
                  <a:srgbClr val="FF0000"/>
                </a:solidFill>
              </a:rPr>
              <a:t> 1</a:t>
            </a:r>
            <a:r>
              <a:rPr lang="en-US" altLang="zh-TW" sz="2000" dirty="0"/>
              <a:t>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0844245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936FA1C-D5F7-24B3-3917-645EA00F050B}"/>
              </a:ext>
            </a:extLst>
          </p:cNvPr>
          <p:cNvSpPr txBox="1"/>
          <p:nvPr/>
        </p:nvSpPr>
        <p:spPr>
          <a:xfrm>
            <a:off x="180623" y="96383"/>
            <a:ext cx="527439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e-Service &gt; Open Account </a:t>
            </a:r>
            <a:r>
              <a:rPr lang="zh-TW" altLang="en-US" sz="2000" b="1" dirty="0"/>
              <a:t>介面認識及處理方法</a:t>
            </a:r>
            <a:endParaRPr lang="en-US" altLang="zh-TW" sz="2000" b="1" dirty="0"/>
          </a:p>
          <a:p>
            <a:r>
              <a:rPr lang="zh-TW" altLang="en-US" sz="2000" b="1" dirty="0"/>
              <a:t>增值服務 </a:t>
            </a:r>
            <a:r>
              <a:rPr lang="en-US" altLang="zh-TW" sz="2000" b="1" dirty="0"/>
              <a:t>–</a:t>
            </a:r>
            <a:r>
              <a:rPr lang="zh-TW" altLang="en-US" sz="2000" b="1" dirty="0">
                <a:solidFill>
                  <a:schemeClr val="tx1"/>
                </a:solidFill>
              </a:rPr>
              <a:t>自行落單</a:t>
            </a:r>
            <a:endParaRPr lang="en-US" sz="20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18E8E3-B8B6-1CFA-81AD-76791FE3B38C}"/>
              </a:ext>
            </a:extLst>
          </p:cNvPr>
          <p:cNvSpPr txBox="1"/>
          <p:nvPr/>
        </p:nvSpPr>
        <p:spPr>
          <a:xfrm>
            <a:off x="336240" y="959124"/>
            <a:ext cx="2254143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sz="2400" dirty="0"/>
              <a:t>直接促銷 </a:t>
            </a:r>
            <a:r>
              <a:rPr lang="en-US" altLang="zh-TW" sz="2400" dirty="0"/>
              <a:t>–</a:t>
            </a:r>
            <a:r>
              <a:rPr lang="zh-TW" altLang="en-US" sz="2400" dirty="0"/>
              <a:t>收取</a:t>
            </a:r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8063DD-7CB5-95BD-99FF-7B37839B4356}"/>
              </a:ext>
            </a:extLst>
          </p:cNvPr>
          <p:cNvSpPr txBox="1"/>
          <p:nvPr/>
        </p:nvSpPr>
        <p:spPr>
          <a:xfrm>
            <a:off x="355255" y="1565609"/>
            <a:ext cx="9490194" cy="584775"/>
          </a:xfrm>
          <a:prstGeom prst="rect">
            <a:avLst/>
          </a:prstGeom>
          <a:solidFill>
            <a:srgbClr val="EDE2F6"/>
          </a:solidFill>
          <a:ln w="38100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Siebel </a:t>
            </a:r>
            <a:r>
              <a:rPr lang="en-US" altLang="zh-TW" sz="2000" dirty="0"/>
              <a:t>: </a:t>
            </a:r>
            <a:r>
              <a:rPr lang="zh-TW" altLang="en-US" sz="3200" dirty="0">
                <a:solidFill>
                  <a:srgbClr val="FF0000"/>
                </a:solidFill>
              </a:rPr>
              <a:t>步驟</a:t>
            </a:r>
            <a:r>
              <a:rPr lang="en-US" altLang="zh-TW" sz="3200" dirty="0">
                <a:solidFill>
                  <a:srgbClr val="FF0000"/>
                </a:solidFill>
              </a:rPr>
              <a:t> 2</a:t>
            </a:r>
            <a:endParaRPr lang="en-US" altLang="zh-TW" sz="2400" dirty="0">
              <a:solidFill>
                <a:srgbClr val="FF0000"/>
              </a:solidFill>
            </a:endParaRPr>
          </a:p>
        </p:txBody>
      </p:sp>
      <p:sp>
        <p:nvSpPr>
          <p:cNvPr id="9" name="Rectangle: Rounded Corners 23">
            <a:extLst>
              <a:ext uri="{FF2B5EF4-FFF2-40B4-BE49-F238E27FC236}">
                <a16:creationId xmlns:a16="http://schemas.microsoft.com/office/drawing/2014/main" id="{CD932714-94F6-5948-3146-79D19E220542}"/>
              </a:ext>
            </a:extLst>
          </p:cNvPr>
          <p:cNvSpPr/>
          <p:nvPr/>
        </p:nvSpPr>
        <p:spPr>
          <a:xfrm>
            <a:off x="7060965" y="2618624"/>
            <a:ext cx="3361515" cy="32189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6BB0A32-5F21-A678-BE64-3C8DF475FB3A}"/>
              </a:ext>
            </a:extLst>
          </p:cNvPr>
          <p:cNvSpPr txBox="1"/>
          <p:nvPr/>
        </p:nvSpPr>
        <p:spPr>
          <a:xfrm>
            <a:off x="355354" y="2161411"/>
            <a:ext cx="9490095" cy="369332"/>
          </a:xfrm>
          <a:prstGeom prst="rect">
            <a:avLst/>
          </a:prstGeom>
          <a:solidFill>
            <a:srgbClr val="EDE2F6"/>
          </a:solidFill>
          <a:ln w="38100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sz="1800" dirty="0"/>
              <a:t>2. </a:t>
            </a:r>
            <a:r>
              <a:rPr lang="zh-TW" altLang="en-US" sz="1800" dirty="0"/>
              <a:t>於</a:t>
            </a:r>
            <a:r>
              <a:rPr lang="en-US" altLang="zh-TW" sz="1800" dirty="0"/>
              <a:t>Siebel “Contact”</a:t>
            </a:r>
            <a:r>
              <a:rPr lang="zh-TW" altLang="en-US" sz="1800" dirty="0"/>
              <a:t>下的 </a:t>
            </a:r>
            <a:r>
              <a:rPr lang="en-US" altLang="zh-TW" sz="1800" dirty="0"/>
              <a:t>“Email Source”</a:t>
            </a:r>
            <a:r>
              <a:rPr lang="zh-TW" altLang="en-US" sz="1800" dirty="0"/>
              <a:t>，</a:t>
            </a:r>
            <a:r>
              <a:rPr lang="zh-TW" altLang="en-US" dirty="0"/>
              <a:t>按</a:t>
            </a:r>
            <a:r>
              <a:rPr lang="en-US" altLang="zh-TW" dirty="0"/>
              <a:t> “Opt-in Mail”</a:t>
            </a:r>
            <a:r>
              <a:rPr lang="zh-TW" altLang="en-US" dirty="0"/>
              <a:t>，然後</a:t>
            </a:r>
            <a:r>
              <a:rPr lang="en-US" altLang="zh-TW" dirty="0"/>
              <a:t>Save [</a:t>
            </a:r>
            <a:r>
              <a:rPr lang="en-US" altLang="zh-TW" dirty="0" err="1"/>
              <a:t>Ctrl+S</a:t>
            </a:r>
            <a:r>
              <a:rPr lang="en-US" altLang="zh-TW" dirty="0"/>
              <a:t>]</a:t>
            </a:r>
          </a:p>
        </p:txBody>
      </p:sp>
      <p:grpSp>
        <p:nvGrpSpPr>
          <p:cNvPr id="28" name="Group 27"/>
          <p:cNvGrpSpPr/>
          <p:nvPr/>
        </p:nvGrpSpPr>
        <p:grpSpPr>
          <a:xfrm>
            <a:off x="336240" y="2601750"/>
            <a:ext cx="11157065" cy="3269147"/>
            <a:chOff x="1364654" y="166688"/>
            <a:chExt cx="9455746" cy="2129966"/>
          </a:xfrm>
        </p:grpSpPr>
        <p:pic>
          <p:nvPicPr>
            <p:cNvPr id="26" name="Picture 25"/>
            <p:cNvPicPr>
              <a:picLocks noChangeAspect="1"/>
            </p:cNvPicPr>
            <p:nvPr/>
          </p:nvPicPr>
          <p:blipFill rotWithShape="1">
            <a:blip r:embed="rId2"/>
            <a:srcRect b="77760"/>
            <a:stretch/>
          </p:blipFill>
          <p:spPr>
            <a:xfrm>
              <a:off x="1371600" y="166688"/>
              <a:ext cx="9448800" cy="1451098"/>
            </a:xfrm>
            <a:prstGeom prst="rect">
              <a:avLst/>
            </a:prstGeom>
          </p:spPr>
        </p:pic>
        <p:pic>
          <p:nvPicPr>
            <p:cNvPr id="27" name="Picture 26"/>
            <p:cNvPicPr>
              <a:picLocks noChangeAspect="1"/>
            </p:cNvPicPr>
            <p:nvPr/>
          </p:nvPicPr>
          <p:blipFill rotWithShape="1">
            <a:blip r:embed="rId2"/>
            <a:srcRect t="90840"/>
            <a:stretch/>
          </p:blipFill>
          <p:spPr>
            <a:xfrm>
              <a:off x="1364654" y="1698997"/>
              <a:ext cx="9448800" cy="597657"/>
            </a:xfrm>
            <a:prstGeom prst="rect">
              <a:avLst/>
            </a:prstGeom>
          </p:spPr>
        </p:pic>
      </p:grp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197557" y="3964275"/>
            <a:ext cx="2743200" cy="365125"/>
          </a:xfrm>
        </p:spPr>
        <p:txBody>
          <a:bodyPr/>
          <a:lstStyle/>
          <a:p>
            <a:fld id="{941B04AD-5EB0-49DF-9047-5419DE7250E3}" type="slidenum">
              <a:rPr lang="en-US" smtClean="0"/>
              <a:t>32</a:t>
            </a:fld>
            <a:endParaRPr lang="en-US"/>
          </a:p>
        </p:txBody>
      </p:sp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D522DB80-D9D5-37B6-02A2-B6C988700F3A}"/>
              </a:ext>
            </a:extLst>
          </p:cNvPr>
          <p:cNvSpPr txBox="1">
            <a:spLocks/>
          </p:cNvSpPr>
          <p:nvPr/>
        </p:nvSpPr>
        <p:spPr>
          <a:xfrm>
            <a:off x="3197557" y="3964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41B04AD-5EB0-49DF-9047-5419DE7250E3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3BEC39-062C-8461-0C87-998647124843}"/>
              </a:ext>
            </a:extLst>
          </p:cNvPr>
          <p:cNvSpPr txBox="1"/>
          <p:nvPr/>
        </p:nvSpPr>
        <p:spPr>
          <a:xfrm rot="21143588">
            <a:off x="1619259" y="4543833"/>
            <a:ext cx="3591134" cy="531910"/>
          </a:xfrm>
          <a:prstGeom prst="rect">
            <a:avLst/>
          </a:prstGeom>
          <a:solidFill>
            <a:schemeClr val="bg1">
              <a:lumMod val="85000"/>
            </a:schemeClr>
          </a:solidFill>
          <a:ln w="28575">
            <a:solidFill>
              <a:schemeClr val="bg2">
                <a:lumMod val="25000"/>
              </a:schemeClr>
            </a:solidFill>
            <a:prstDash val="lgDashDotDot"/>
          </a:ln>
        </p:spPr>
        <p:txBody>
          <a:bodyPr wrap="square">
            <a:spAutoFit/>
          </a:bodyPr>
          <a:lstStyle/>
          <a:p>
            <a:r>
              <a:rPr lang="zh-TW" altLang="en-US" sz="2800" i="1" dirty="0">
                <a:solidFill>
                  <a:srgbClr val="CC00FF"/>
                </a:solidFill>
              </a:rPr>
              <a:t>按掣後，必須 </a:t>
            </a:r>
            <a:r>
              <a:rPr lang="en-US" altLang="zh-TW" sz="2800" i="1" dirty="0" err="1">
                <a:solidFill>
                  <a:srgbClr val="CC00FF"/>
                </a:solidFill>
              </a:rPr>
              <a:t>Ctrl+S</a:t>
            </a:r>
            <a:endParaRPr lang="en-US" sz="2800" dirty="0">
              <a:solidFill>
                <a:srgbClr val="CC00FF"/>
              </a:solidFill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9EF2761-EEB2-7F9F-674F-849FC4D76617}"/>
              </a:ext>
            </a:extLst>
          </p:cNvPr>
          <p:cNvCxnSpPr>
            <a:cxnSpLocks/>
          </p:cNvCxnSpPr>
          <p:nvPr/>
        </p:nvCxnSpPr>
        <p:spPr>
          <a:xfrm flipH="1">
            <a:off x="2313441" y="3580386"/>
            <a:ext cx="553883" cy="59455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: Rounded Corners 6">
            <a:extLst>
              <a:ext uri="{FF2B5EF4-FFF2-40B4-BE49-F238E27FC236}">
                <a16:creationId xmlns:a16="http://schemas.microsoft.com/office/drawing/2014/main" id="{6B5A46A8-A0D2-0FC7-9A9E-483B8B93AEEB}"/>
              </a:ext>
            </a:extLst>
          </p:cNvPr>
          <p:cNvSpPr/>
          <p:nvPr/>
        </p:nvSpPr>
        <p:spPr>
          <a:xfrm flipV="1">
            <a:off x="2513593" y="2618624"/>
            <a:ext cx="1367927" cy="499539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6">
            <a:extLst>
              <a:ext uri="{FF2B5EF4-FFF2-40B4-BE49-F238E27FC236}">
                <a16:creationId xmlns:a16="http://schemas.microsoft.com/office/drawing/2014/main" id="{6B5A46A8-A0D2-0FC7-9A9E-483B8B93AEEB}"/>
              </a:ext>
            </a:extLst>
          </p:cNvPr>
          <p:cNvSpPr/>
          <p:nvPr/>
        </p:nvSpPr>
        <p:spPr>
          <a:xfrm flipV="1">
            <a:off x="9917705" y="5126429"/>
            <a:ext cx="1367927" cy="499539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9EF2761-EEB2-7F9F-674F-849FC4D76617}"/>
              </a:ext>
            </a:extLst>
          </p:cNvPr>
          <p:cNvCxnSpPr>
            <a:cxnSpLocks/>
          </p:cNvCxnSpPr>
          <p:nvPr/>
        </p:nvCxnSpPr>
        <p:spPr>
          <a:xfrm>
            <a:off x="3932234" y="3129934"/>
            <a:ext cx="5913216" cy="2033806"/>
          </a:xfrm>
          <a:prstGeom prst="straightConnector1">
            <a:avLst/>
          </a:prstGeom>
          <a:ln w="76200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E6BB0A32-5F21-A678-BE64-3C8DF475FB3A}"/>
              </a:ext>
            </a:extLst>
          </p:cNvPr>
          <p:cNvSpPr txBox="1"/>
          <p:nvPr/>
        </p:nvSpPr>
        <p:spPr>
          <a:xfrm>
            <a:off x="336240" y="6036134"/>
            <a:ext cx="6529634" cy="646331"/>
          </a:xfrm>
          <a:prstGeom prst="rect">
            <a:avLst/>
          </a:prstGeom>
          <a:solidFill>
            <a:srgbClr val="EDE2F6"/>
          </a:solidFill>
          <a:ln w="38100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dirty="0"/>
              <a:t>3. </a:t>
            </a:r>
            <a:r>
              <a:rPr lang="zh-TW" altLang="en-US" dirty="0"/>
              <a:t>沒有申請</a:t>
            </a:r>
            <a:r>
              <a:rPr lang="en-US" altLang="zh-TW" dirty="0"/>
              <a:t> “</a:t>
            </a:r>
            <a:r>
              <a:rPr lang="zh-TW" altLang="en-US" dirty="0"/>
              <a:t>電子賬單</a:t>
            </a:r>
            <a:r>
              <a:rPr lang="en-US" altLang="zh-TW" dirty="0"/>
              <a:t>” </a:t>
            </a:r>
            <a:r>
              <a:rPr lang="zh-TW" altLang="en-US" dirty="0"/>
              <a:t>服務的用戶，收取直接促銷步驟完成。</a:t>
            </a:r>
            <a:endParaRPr lang="en-US" altLang="zh-TW" dirty="0"/>
          </a:p>
          <a:p>
            <a:r>
              <a:rPr lang="zh-TW" altLang="en-US" sz="1800" dirty="0"/>
              <a:t> 同時申請</a:t>
            </a:r>
            <a:r>
              <a:rPr lang="en-US" altLang="zh-TW" dirty="0"/>
              <a:t> </a:t>
            </a:r>
            <a:r>
              <a:rPr lang="en-US" altLang="zh-TW" sz="1800" dirty="0"/>
              <a:t> </a:t>
            </a:r>
            <a:r>
              <a:rPr lang="en-US" altLang="zh-TW" dirty="0"/>
              <a:t>“</a:t>
            </a:r>
            <a:r>
              <a:rPr lang="zh-TW" altLang="en-US" dirty="0"/>
              <a:t>電子賬單</a:t>
            </a:r>
            <a:r>
              <a:rPr lang="en-US" altLang="zh-TW" dirty="0"/>
              <a:t>” </a:t>
            </a:r>
            <a:r>
              <a:rPr lang="zh-TW" altLang="en-US" dirty="0"/>
              <a:t>服務的用戶，續下一步。</a:t>
            </a:r>
            <a:endParaRPr lang="en-US" altLang="zh-TW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ECB173A-8A98-1BA3-DBF2-951B8FADDE7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6860" r="31496" b="65736"/>
          <a:stretch/>
        </p:blipFill>
        <p:spPr>
          <a:xfrm>
            <a:off x="6888842" y="6063546"/>
            <a:ext cx="4808327" cy="646331"/>
          </a:xfrm>
          <a:prstGeom prst="rect">
            <a:avLst/>
          </a:prstGeom>
          <a:ln w="38100">
            <a:solidFill>
              <a:srgbClr val="15C2FF"/>
            </a:solidFill>
          </a:ln>
        </p:spPr>
      </p:pic>
    </p:spTree>
    <p:extLst>
      <p:ext uri="{BB962C8B-B14F-4D97-AF65-F5344CB8AC3E}">
        <p14:creationId xmlns:p14="http://schemas.microsoft.com/office/powerpoint/2010/main" val="14050840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336240" y="2745669"/>
            <a:ext cx="11148868" cy="2392363"/>
            <a:chOff x="336240" y="2745669"/>
            <a:chExt cx="11148868" cy="2392363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6240" y="2745669"/>
              <a:ext cx="11148868" cy="2392363"/>
            </a:xfrm>
            <a:prstGeom prst="rect">
              <a:avLst/>
            </a:prstGeom>
          </p:spPr>
        </p:pic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22275" y="4938008"/>
              <a:ext cx="581025" cy="133350"/>
            </a:xfrm>
            <a:prstGeom prst="rect">
              <a:avLst/>
            </a:prstGeom>
          </p:spPr>
        </p:pic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9042" y="4943916"/>
              <a:ext cx="436533" cy="100187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0936FA1C-D5F7-24B3-3917-645EA00F050B}"/>
              </a:ext>
            </a:extLst>
          </p:cNvPr>
          <p:cNvSpPr txBox="1"/>
          <p:nvPr/>
        </p:nvSpPr>
        <p:spPr>
          <a:xfrm>
            <a:off x="180623" y="96383"/>
            <a:ext cx="527439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e-Service &gt; Open Account </a:t>
            </a:r>
            <a:r>
              <a:rPr lang="zh-TW" altLang="en-US" sz="2000" b="1" dirty="0"/>
              <a:t>介面認識及處理方法</a:t>
            </a:r>
            <a:endParaRPr lang="en-US" altLang="zh-TW" sz="2000" b="1" dirty="0"/>
          </a:p>
          <a:p>
            <a:r>
              <a:rPr lang="zh-TW" altLang="en-US" sz="2000" b="1" dirty="0"/>
              <a:t>增值服務 </a:t>
            </a:r>
            <a:r>
              <a:rPr lang="en-US" altLang="zh-TW" sz="2000" b="1" dirty="0"/>
              <a:t>–</a:t>
            </a:r>
            <a:r>
              <a:rPr lang="zh-TW" altLang="en-US" sz="2000" b="1" dirty="0">
                <a:solidFill>
                  <a:schemeClr val="tx1"/>
                </a:solidFill>
              </a:rPr>
              <a:t>自行落單</a:t>
            </a:r>
            <a:endParaRPr lang="en-US" sz="20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18E8E3-B8B6-1CFA-81AD-76791FE3B38C}"/>
              </a:ext>
            </a:extLst>
          </p:cNvPr>
          <p:cNvSpPr txBox="1"/>
          <p:nvPr/>
        </p:nvSpPr>
        <p:spPr>
          <a:xfrm>
            <a:off x="296796" y="889284"/>
            <a:ext cx="2254143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sz="2400" dirty="0"/>
              <a:t>直接促銷 </a:t>
            </a:r>
            <a:r>
              <a:rPr lang="en-US" altLang="zh-TW" sz="2400" dirty="0"/>
              <a:t>–</a:t>
            </a:r>
            <a:r>
              <a:rPr lang="zh-TW" altLang="en-US" sz="2400" dirty="0"/>
              <a:t>收取</a:t>
            </a:r>
            <a:endParaRPr lang="en-US" sz="2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6BB0A32-5F21-A678-BE64-3C8DF475FB3A}"/>
              </a:ext>
            </a:extLst>
          </p:cNvPr>
          <p:cNvSpPr txBox="1"/>
          <p:nvPr/>
        </p:nvSpPr>
        <p:spPr>
          <a:xfrm>
            <a:off x="344435" y="2195038"/>
            <a:ext cx="11140673" cy="369332"/>
          </a:xfrm>
          <a:prstGeom prst="rect">
            <a:avLst/>
          </a:prstGeom>
          <a:solidFill>
            <a:srgbClr val="EDE2F6"/>
          </a:solidFill>
          <a:ln w="38100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dirty="0"/>
              <a:t>3</a:t>
            </a:r>
            <a:r>
              <a:rPr lang="en-US" altLang="zh-TW" sz="1800" dirty="0"/>
              <a:t>. </a:t>
            </a:r>
            <a:r>
              <a:rPr lang="zh-TW" altLang="en-US" sz="1800" dirty="0"/>
              <a:t>於</a:t>
            </a:r>
            <a:r>
              <a:rPr lang="en-US" altLang="zh-TW" sz="1800" dirty="0"/>
              <a:t>Siebel “Email Source”</a:t>
            </a:r>
            <a:r>
              <a:rPr lang="zh-TW" altLang="en-US" sz="1800" dirty="0"/>
              <a:t>，</a:t>
            </a:r>
            <a:r>
              <a:rPr lang="en-US" altLang="zh-TW" dirty="0"/>
              <a:t>Click</a:t>
            </a:r>
            <a:r>
              <a:rPr lang="zh-TW" altLang="en-US" dirty="0"/>
              <a:t>入</a:t>
            </a:r>
            <a:r>
              <a:rPr lang="en-US" altLang="zh-TW" dirty="0"/>
              <a:t> “</a:t>
            </a:r>
            <a:r>
              <a:rPr lang="zh-TW" altLang="en-US" dirty="0"/>
              <a:t>電郵</a:t>
            </a:r>
            <a:r>
              <a:rPr lang="en-US" altLang="zh-TW" dirty="0"/>
              <a:t>” </a:t>
            </a:r>
            <a:r>
              <a:rPr lang="zh-TW" altLang="en-US" dirty="0"/>
              <a:t>內，於按左上方的</a:t>
            </a:r>
            <a:r>
              <a:rPr lang="en-US" altLang="zh-TW" dirty="0"/>
              <a:t> [All Opt In] </a:t>
            </a:r>
            <a:r>
              <a:rPr lang="zh-TW" altLang="en-US" dirty="0"/>
              <a:t>，然後</a:t>
            </a:r>
            <a:r>
              <a:rPr lang="en-US" altLang="zh-TW" dirty="0"/>
              <a:t>Save [</a:t>
            </a:r>
            <a:r>
              <a:rPr lang="en-US" altLang="zh-TW" dirty="0" err="1"/>
              <a:t>Ctrl+S</a:t>
            </a:r>
            <a:r>
              <a:rPr lang="en-US" altLang="zh-TW" dirty="0"/>
              <a:t> ]</a:t>
            </a:r>
            <a:r>
              <a:rPr lang="zh-TW" altLang="en-US" dirty="0"/>
              <a:t>。</a:t>
            </a:r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2981331" y="4960552"/>
            <a:ext cx="2743200" cy="365125"/>
          </a:xfrm>
        </p:spPr>
        <p:txBody>
          <a:bodyPr/>
          <a:lstStyle/>
          <a:p>
            <a:fld id="{941B04AD-5EB0-49DF-9047-5419DE7250E3}" type="slidenum">
              <a:rPr lang="en-US" smtClean="0"/>
              <a:t>33</a:t>
            </a:fld>
            <a:endParaRPr lang="en-US"/>
          </a:p>
        </p:txBody>
      </p:sp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D522DB80-D9D5-37B6-02A2-B6C988700F3A}"/>
              </a:ext>
            </a:extLst>
          </p:cNvPr>
          <p:cNvSpPr txBox="1">
            <a:spLocks/>
          </p:cNvSpPr>
          <p:nvPr/>
        </p:nvSpPr>
        <p:spPr>
          <a:xfrm>
            <a:off x="2981331" y="49605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41B04AD-5EB0-49DF-9047-5419DE7250E3}" type="slidenum">
              <a:rPr lang="en-US" smtClean="0"/>
              <a:pPr/>
              <a:t>33</a:t>
            </a:fld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9EF2761-EEB2-7F9F-674F-849FC4D76617}"/>
              </a:ext>
            </a:extLst>
          </p:cNvPr>
          <p:cNvCxnSpPr>
            <a:cxnSpLocks/>
          </p:cNvCxnSpPr>
          <p:nvPr/>
        </p:nvCxnSpPr>
        <p:spPr>
          <a:xfrm flipH="1">
            <a:off x="1427171" y="4340021"/>
            <a:ext cx="553883" cy="59455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: Rounded Corners 6">
            <a:extLst>
              <a:ext uri="{FF2B5EF4-FFF2-40B4-BE49-F238E27FC236}">
                <a16:creationId xmlns:a16="http://schemas.microsoft.com/office/drawing/2014/main" id="{6B5A46A8-A0D2-0FC7-9A9E-483B8B93AEEB}"/>
              </a:ext>
            </a:extLst>
          </p:cNvPr>
          <p:cNvSpPr/>
          <p:nvPr/>
        </p:nvSpPr>
        <p:spPr>
          <a:xfrm flipV="1">
            <a:off x="2554430" y="2683545"/>
            <a:ext cx="1367927" cy="499539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6">
            <a:extLst>
              <a:ext uri="{FF2B5EF4-FFF2-40B4-BE49-F238E27FC236}">
                <a16:creationId xmlns:a16="http://schemas.microsoft.com/office/drawing/2014/main" id="{6B5A46A8-A0D2-0FC7-9A9E-483B8B93AEEB}"/>
              </a:ext>
            </a:extLst>
          </p:cNvPr>
          <p:cNvSpPr/>
          <p:nvPr/>
        </p:nvSpPr>
        <p:spPr>
          <a:xfrm flipV="1">
            <a:off x="9947398" y="3568757"/>
            <a:ext cx="1367927" cy="499539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D8063DD-7CB5-95BD-99FF-7B37839B4356}"/>
              </a:ext>
            </a:extLst>
          </p:cNvPr>
          <p:cNvSpPr txBox="1"/>
          <p:nvPr/>
        </p:nvSpPr>
        <p:spPr>
          <a:xfrm>
            <a:off x="336240" y="1578895"/>
            <a:ext cx="11148868" cy="584775"/>
          </a:xfrm>
          <a:prstGeom prst="rect">
            <a:avLst/>
          </a:prstGeom>
          <a:solidFill>
            <a:srgbClr val="EDE2F6"/>
          </a:solidFill>
          <a:ln w="38100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Siebel </a:t>
            </a:r>
            <a:r>
              <a:rPr lang="en-US" altLang="zh-TW" sz="2000" dirty="0"/>
              <a:t>: </a:t>
            </a:r>
            <a:r>
              <a:rPr lang="zh-TW" altLang="en-US" sz="3200" dirty="0">
                <a:solidFill>
                  <a:srgbClr val="FF0000"/>
                </a:solidFill>
              </a:rPr>
              <a:t>步驟</a:t>
            </a:r>
            <a:r>
              <a:rPr lang="en-US" altLang="zh-TW" sz="3200" dirty="0">
                <a:solidFill>
                  <a:srgbClr val="FF0000"/>
                </a:solidFill>
              </a:rPr>
              <a:t> 3 –</a:t>
            </a:r>
            <a:r>
              <a:rPr lang="zh-TW" altLang="en-US" sz="3200" dirty="0">
                <a:solidFill>
                  <a:srgbClr val="FF0000"/>
                </a:solidFill>
              </a:rPr>
              <a:t>申請電子賬單用戶</a:t>
            </a:r>
            <a:endParaRPr lang="en-US" altLang="zh-TW" sz="2400" dirty="0">
              <a:solidFill>
                <a:srgbClr val="FF0000"/>
              </a:solidFill>
            </a:endParaRP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99EF2761-EEB2-7F9F-674F-849FC4D76617}"/>
              </a:ext>
            </a:extLst>
          </p:cNvPr>
          <p:cNvCxnSpPr>
            <a:cxnSpLocks/>
          </p:cNvCxnSpPr>
          <p:nvPr/>
        </p:nvCxnSpPr>
        <p:spPr>
          <a:xfrm>
            <a:off x="3922357" y="2933314"/>
            <a:ext cx="6113287" cy="823089"/>
          </a:xfrm>
          <a:prstGeom prst="straightConnector1">
            <a:avLst/>
          </a:prstGeom>
          <a:ln w="76200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D69F5770-A9D2-24E3-A2FE-20FF59F325B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6196" r="12848" b="66151"/>
          <a:stretch/>
        </p:blipFill>
        <p:spPr>
          <a:xfrm>
            <a:off x="6299317" y="1578976"/>
            <a:ext cx="5304012" cy="580161"/>
          </a:xfrm>
          <a:prstGeom prst="rect">
            <a:avLst/>
          </a:prstGeom>
          <a:ln w="38100">
            <a:solidFill>
              <a:srgbClr val="15C2FF"/>
            </a:solidFill>
          </a:ln>
        </p:spPr>
      </p:pic>
      <p:sp>
        <p:nvSpPr>
          <p:cNvPr id="52" name="Rectangle 51"/>
          <p:cNvSpPr/>
          <p:nvPr/>
        </p:nvSpPr>
        <p:spPr>
          <a:xfrm>
            <a:off x="7577139" y="5226326"/>
            <a:ext cx="4333069" cy="147732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zh-TW" altLang="en-US" dirty="0"/>
              <a:t>註</a:t>
            </a:r>
            <a:r>
              <a:rPr lang="en-US" altLang="zh-TW" dirty="0"/>
              <a:t>: </a:t>
            </a:r>
          </a:p>
          <a:p>
            <a:r>
              <a:rPr lang="en-US" altLang="zh-TW" dirty="0"/>
              <a:t>1. </a:t>
            </a:r>
            <a:r>
              <a:rPr lang="zh-TW" altLang="en-US" dirty="0"/>
              <a:t>按後，電郵內的所有剔號會全部移除，</a:t>
            </a:r>
            <a:endParaRPr lang="en-US" altLang="zh-TW" dirty="0"/>
          </a:p>
          <a:p>
            <a:r>
              <a:rPr lang="zh-TW" altLang="en-US" dirty="0"/>
              <a:t>即代表收取所有電郵促銷</a:t>
            </a:r>
            <a:endParaRPr lang="en-US" altLang="zh-TW" dirty="0"/>
          </a:p>
          <a:p>
            <a:r>
              <a:rPr lang="en-US" altLang="zh-TW" dirty="0"/>
              <a:t>2. </a:t>
            </a:r>
            <a:r>
              <a:rPr lang="zh-TW" altLang="en-US" dirty="0"/>
              <a:t>利用</a:t>
            </a:r>
            <a:r>
              <a:rPr lang="en-US" altLang="zh-TW" dirty="0"/>
              <a:t>“Link to existing </a:t>
            </a:r>
            <a:r>
              <a:rPr lang="en-US" altLang="zh-TW" dirty="0" err="1"/>
              <a:t>eAccount</a:t>
            </a:r>
            <a:r>
              <a:rPr lang="en-US" altLang="zh-TW" dirty="0"/>
              <a:t>” </a:t>
            </a:r>
            <a:r>
              <a:rPr lang="zh-TW" altLang="en-US" dirty="0"/>
              <a:t>申請電子賬單用戶，不用做此步驟。</a:t>
            </a:r>
            <a:endParaRPr lang="en-US" altLang="zh-TW" dirty="0"/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99EF2761-EEB2-7F9F-674F-849FC4D76617}"/>
              </a:ext>
            </a:extLst>
          </p:cNvPr>
          <p:cNvCxnSpPr>
            <a:cxnSpLocks/>
          </p:cNvCxnSpPr>
          <p:nvPr/>
        </p:nvCxnSpPr>
        <p:spPr>
          <a:xfrm>
            <a:off x="1520133" y="5153843"/>
            <a:ext cx="743069" cy="369884"/>
          </a:xfrm>
          <a:prstGeom prst="straightConnector1">
            <a:avLst/>
          </a:prstGeom>
          <a:ln w="76200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0" name="Group 59"/>
          <p:cNvGrpSpPr/>
          <p:nvPr/>
        </p:nvGrpSpPr>
        <p:grpSpPr>
          <a:xfrm>
            <a:off x="2323167" y="4360914"/>
            <a:ext cx="3488985" cy="2342740"/>
            <a:chOff x="2382790" y="4360914"/>
            <a:chExt cx="3488985" cy="2342740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B74777E7-1F64-2E4A-267B-EE6C5BCFDFCF}"/>
                </a:ext>
              </a:extLst>
            </p:cNvPr>
            <p:cNvGrpSpPr/>
            <p:nvPr/>
          </p:nvGrpSpPr>
          <p:grpSpPr>
            <a:xfrm>
              <a:off x="2382790" y="4360914"/>
              <a:ext cx="3488985" cy="2342740"/>
              <a:chOff x="7057875" y="3482951"/>
              <a:chExt cx="2314575" cy="1438758"/>
            </a:xfrm>
          </p:grpSpPr>
          <p:pic>
            <p:nvPicPr>
              <p:cNvPr id="48" name="Picture 47">
                <a:extLst>
                  <a:ext uri="{FF2B5EF4-FFF2-40B4-BE49-F238E27FC236}">
                    <a16:creationId xmlns:a16="http://schemas.microsoft.com/office/drawing/2014/main" id="{E8C45C2C-25C7-1709-FE8B-0BF85718B0B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057875" y="3502484"/>
                <a:ext cx="2314575" cy="1419225"/>
              </a:xfrm>
              <a:prstGeom prst="rect">
                <a:avLst/>
              </a:prstGeom>
              <a:ln w="19050">
                <a:solidFill>
                  <a:srgbClr val="9751CB"/>
                </a:solidFill>
              </a:ln>
            </p:spPr>
          </p:pic>
          <p:sp>
            <p:nvSpPr>
              <p:cNvPr id="49" name="Rectangle: Rounded Corners 13">
                <a:extLst>
                  <a:ext uri="{FF2B5EF4-FFF2-40B4-BE49-F238E27FC236}">
                    <a16:creationId xmlns:a16="http://schemas.microsoft.com/office/drawing/2014/main" id="{ED97ACE6-B9C8-2CF2-2270-D8431BE23260}"/>
                  </a:ext>
                </a:extLst>
              </p:cNvPr>
              <p:cNvSpPr/>
              <p:nvPr/>
            </p:nvSpPr>
            <p:spPr>
              <a:xfrm>
                <a:off x="7092865" y="3482951"/>
                <a:ext cx="1186228" cy="656962"/>
              </a:xfrm>
              <a:prstGeom prst="round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59" name="Picture 58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488119" y="5482878"/>
              <a:ext cx="1255530" cy="246363"/>
            </a:xfrm>
            <a:prstGeom prst="rect">
              <a:avLst/>
            </a:prstGeom>
          </p:spPr>
        </p:pic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113BEC39-062C-8461-0C87-998647124843}"/>
              </a:ext>
            </a:extLst>
          </p:cNvPr>
          <p:cNvSpPr txBox="1"/>
          <p:nvPr/>
        </p:nvSpPr>
        <p:spPr>
          <a:xfrm rot="21143588">
            <a:off x="3507732" y="5502839"/>
            <a:ext cx="3591134" cy="531910"/>
          </a:xfrm>
          <a:prstGeom prst="rect">
            <a:avLst/>
          </a:prstGeom>
          <a:solidFill>
            <a:schemeClr val="bg1">
              <a:lumMod val="85000"/>
            </a:schemeClr>
          </a:solidFill>
          <a:ln w="28575">
            <a:solidFill>
              <a:schemeClr val="bg2">
                <a:lumMod val="25000"/>
              </a:schemeClr>
            </a:solidFill>
            <a:prstDash val="lgDashDotDot"/>
          </a:ln>
        </p:spPr>
        <p:txBody>
          <a:bodyPr wrap="square">
            <a:spAutoFit/>
          </a:bodyPr>
          <a:lstStyle/>
          <a:p>
            <a:r>
              <a:rPr lang="zh-TW" altLang="en-US" sz="2800" i="1" dirty="0">
                <a:solidFill>
                  <a:srgbClr val="CC00FF"/>
                </a:solidFill>
              </a:rPr>
              <a:t>按掣後，必須 </a:t>
            </a:r>
            <a:r>
              <a:rPr lang="en-US" altLang="zh-TW" sz="2800" i="1" dirty="0" err="1">
                <a:solidFill>
                  <a:srgbClr val="CC00FF"/>
                </a:solidFill>
              </a:rPr>
              <a:t>Ctrl+S</a:t>
            </a:r>
            <a:endParaRPr lang="en-US" sz="2800" dirty="0">
              <a:solidFill>
                <a:srgbClr val="CC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36193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B04AD-5EB0-49DF-9047-5419DE7250E3}" type="slidenum">
              <a:rPr lang="en-US" smtClean="0"/>
              <a:t>34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36FA1C-D5F7-24B3-3917-645EA00F050B}"/>
              </a:ext>
            </a:extLst>
          </p:cNvPr>
          <p:cNvSpPr txBox="1"/>
          <p:nvPr/>
        </p:nvSpPr>
        <p:spPr>
          <a:xfrm>
            <a:off x="477401" y="2095022"/>
            <a:ext cx="10356168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/>
              <a:t>e-Service &gt; Open Account </a:t>
            </a:r>
            <a:r>
              <a:rPr lang="zh-TW" altLang="en-US" sz="4000" b="1" dirty="0"/>
              <a:t>介面認識及處理方法</a:t>
            </a:r>
            <a:endParaRPr lang="en-US" altLang="zh-TW" sz="4000" b="1" dirty="0"/>
          </a:p>
          <a:p>
            <a:r>
              <a:rPr lang="zh-TW" altLang="en-US" sz="4000" b="1" dirty="0"/>
              <a:t>增值服務 </a:t>
            </a:r>
            <a:r>
              <a:rPr lang="en-US" altLang="zh-TW" sz="4000" b="1" dirty="0"/>
              <a:t>–</a:t>
            </a:r>
            <a:r>
              <a:rPr lang="zh-TW" altLang="en-US" sz="4000" b="1" dirty="0">
                <a:solidFill>
                  <a:schemeClr val="tx1"/>
                </a:solidFill>
              </a:rPr>
              <a:t>自行落單</a:t>
            </a:r>
            <a:endParaRPr lang="en-US" altLang="zh-TW" sz="4000" b="1" dirty="0">
              <a:solidFill>
                <a:schemeClr val="tx1"/>
              </a:solidFill>
            </a:endParaRPr>
          </a:p>
          <a:p>
            <a:endParaRPr lang="en-US" sz="4000" b="1" dirty="0"/>
          </a:p>
          <a:p>
            <a:r>
              <a:rPr lang="zh-TW" altLang="en-US" sz="4000" dirty="0">
                <a:solidFill>
                  <a:srgbClr val="FF0000"/>
                </a:solidFill>
              </a:rPr>
              <a:t>回覆電郵方法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42162300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>
            <a:extLst>
              <a:ext uri="{FF2B5EF4-FFF2-40B4-BE49-F238E27FC236}">
                <a16:creationId xmlns:a16="http://schemas.microsoft.com/office/drawing/2014/main" id="{91E87FE4-2326-2058-1FB1-36B51D3C0BFC}"/>
              </a:ext>
            </a:extLst>
          </p:cNvPr>
          <p:cNvGrpSpPr/>
          <p:nvPr/>
        </p:nvGrpSpPr>
        <p:grpSpPr>
          <a:xfrm>
            <a:off x="425885" y="150312"/>
            <a:ext cx="11264356" cy="6518754"/>
            <a:chOff x="425885" y="150312"/>
            <a:chExt cx="11264356" cy="651875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936FA1C-D5F7-24B3-3917-645EA00F050B}"/>
                </a:ext>
              </a:extLst>
            </p:cNvPr>
            <p:cNvSpPr txBox="1"/>
            <p:nvPr/>
          </p:nvSpPr>
          <p:spPr>
            <a:xfrm>
              <a:off x="425885" y="150312"/>
              <a:ext cx="5274393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/>
                <a:t>e-Service &gt; Open Account </a:t>
              </a:r>
              <a:r>
                <a:rPr lang="zh-TW" altLang="en-US" sz="2000" b="1" dirty="0"/>
                <a:t>介面認識及處理方法</a:t>
              </a:r>
              <a:endParaRPr lang="en-US" altLang="zh-TW" sz="2000" b="1" dirty="0"/>
            </a:p>
            <a:p>
              <a:r>
                <a:rPr lang="zh-TW" altLang="en-US" sz="2000" b="1" dirty="0">
                  <a:solidFill>
                    <a:schemeClr val="tx1"/>
                  </a:solidFill>
                </a:rPr>
                <a:t>自行落單</a:t>
              </a:r>
              <a:endParaRPr lang="en-US" sz="2000" b="1" dirty="0"/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846CB736-BF9B-C6A6-F0CA-E82FBEF374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0338" y="825444"/>
              <a:ext cx="4895850" cy="4762500"/>
            </a:xfrm>
            <a:prstGeom prst="rect">
              <a:avLst/>
            </a:prstGeom>
            <a:ln>
              <a:solidFill>
                <a:srgbClr val="0070C0"/>
              </a:solidFill>
            </a:ln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4A3CDFC-9D09-DEB7-EBFC-C99A1DF0592E}"/>
                </a:ext>
              </a:extLst>
            </p:cNvPr>
            <p:cNvSpPr txBox="1"/>
            <p:nvPr/>
          </p:nvSpPr>
          <p:spPr>
            <a:xfrm>
              <a:off x="6125066" y="581686"/>
              <a:ext cx="5242857" cy="175432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00B05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zh-TW" altLang="en-US" dirty="0"/>
                <a:t>按以上步驟處理及落單後請把 </a:t>
              </a:r>
              <a:r>
                <a:rPr lang="en-US" altLang="zh-TW" sz="1800" dirty="0"/>
                <a:t>Sales Order# </a:t>
              </a:r>
              <a:r>
                <a:rPr lang="zh-TW" altLang="en-US" sz="1800" dirty="0"/>
                <a:t>及</a:t>
              </a:r>
              <a:r>
                <a:rPr lang="en-US" altLang="zh-TW" sz="1800" dirty="0"/>
                <a:t>TG# </a:t>
              </a:r>
              <a:r>
                <a:rPr lang="zh-TW" altLang="en-US" sz="1800" dirty="0"/>
                <a:t>輸入在</a:t>
              </a:r>
              <a:r>
                <a:rPr lang="en-US" altLang="zh-TW" sz="1800" dirty="0"/>
                <a:t>e-Service</a:t>
              </a:r>
              <a:r>
                <a:rPr lang="zh-TW" altLang="en-US" sz="1800" dirty="0"/>
                <a:t>內，然後發送確認電郵予客人。</a:t>
              </a:r>
              <a:endParaRPr lang="en-US" altLang="zh-TW" sz="1800" dirty="0"/>
            </a:p>
            <a:p>
              <a:endParaRPr lang="en-US" altLang="zh-TW" sz="1800" dirty="0"/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zh-TW" altLang="en-US" u="sng" dirty="0">
                  <a:solidFill>
                    <a:srgbClr val="FF0000"/>
                  </a:solidFill>
                </a:rPr>
                <a:t>落單的資料</a:t>
              </a:r>
              <a:r>
                <a:rPr lang="zh-TW" altLang="en-US" dirty="0"/>
                <a:t>與申請個案的左邊</a:t>
              </a:r>
              <a:r>
                <a:rPr lang="zh-TW" altLang="en-US" u="sng" dirty="0">
                  <a:solidFill>
                    <a:srgbClr val="FF0000"/>
                  </a:solidFill>
                  <a:highlight>
                    <a:srgbClr val="FFFF00"/>
                  </a:highlight>
                </a:rPr>
                <a:t>完全一樣</a:t>
              </a:r>
              <a:r>
                <a:rPr lang="zh-TW" altLang="en-US" sz="1800" dirty="0"/>
                <a:t>請按下方的 </a:t>
              </a:r>
              <a:r>
                <a:rPr lang="en-US" altLang="zh-TW" sz="1800" dirty="0"/>
                <a:t>“Complete Case” </a:t>
              </a:r>
              <a:r>
                <a:rPr lang="en-US" altLang="zh-TW" dirty="0"/>
                <a:t>send email to customer</a:t>
              </a:r>
              <a:r>
                <a:rPr lang="zh-TW" altLang="en-US" dirty="0"/>
                <a:t>。</a:t>
              </a:r>
              <a:endParaRPr lang="en-US" altLang="zh-TW" dirty="0"/>
            </a:p>
            <a:p>
              <a:pPr lvl="1"/>
              <a:r>
                <a:rPr lang="zh-TW" altLang="en-US" dirty="0"/>
                <a:t>例如：以商業證記証開戶</a:t>
              </a:r>
              <a:r>
                <a:rPr lang="en-US" altLang="zh-TW" dirty="0"/>
                <a:t>/ </a:t>
              </a:r>
              <a:r>
                <a:rPr lang="zh-TW" altLang="en-US" dirty="0"/>
                <a:t>按金豁免客戶</a:t>
              </a:r>
              <a:endParaRPr lang="en-US" altLang="zh-TW" dirty="0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22737CD5-4CFF-990A-5D04-8AF1A9A46BB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60816" y="3621066"/>
              <a:ext cx="6829425" cy="3048000"/>
            </a:xfrm>
            <a:prstGeom prst="rect">
              <a:avLst/>
            </a:prstGeom>
            <a:ln>
              <a:solidFill>
                <a:srgbClr val="0070C0"/>
              </a:solidFill>
            </a:ln>
          </p:spPr>
        </p:pic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31F591E2-1AE1-446A-C140-5B32FE8654C2}"/>
                </a:ext>
              </a:extLst>
            </p:cNvPr>
            <p:cNvSpPr/>
            <p:nvPr/>
          </p:nvSpPr>
          <p:spPr>
            <a:xfrm>
              <a:off x="4860816" y="5205466"/>
              <a:ext cx="1603336" cy="483058"/>
            </a:xfrm>
            <a:prstGeom prst="round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B7EAAC21-8842-DECA-7221-48A5CECD006C}"/>
                </a:ext>
              </a:extLst>
            </p:cNvPr>
            <p:cNvSpPr/>
            <p:nvPr/>
          </p:nvSpPr>
          <p:spPr>
            <a:xfrm>
              <a:off x="9898367" y="6071849"/>
              <a:ext cx="1603336" cy="483058"/>
            </a:xfrm>
            <a:prstGeom prst="round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6E37DF1B-CA43-65DB-A503-2CF7D28BF20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36555" y="1386259"/>
              <a:ext cx="1959445" cy="1531613"/>
            </a:xfrm>
            <a:prstGeom prst="straightConnector1">
              <a:avLst/>
            </a:prstGeom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D39C9B8A-921A-6F8D-0F93-FA11F2B50F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49416" y="1411005"/>
              <a:ext cx="1846584" cy="3794461"/>
            </a:xfrm>
            <a:prstGeom prst="straightConnector1">
              <a:avLst/>
            </a:prstGeom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7E0419F-A43E-DBB9-AE36-135CF6D70C0F}"/>
                </a:ext>
              </a:extLst>
            </p:cNvPr>
            <p:cNvSpPr txBox="1"/>
            <p:nvPr/>
          </p:nvSpPr>
          <p:spPr>
            <a:xfrm>
              <a:off x="5649924" y="2456207"/>
              <a:ext cx="3804671" cy="92333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00B050"/>
              </a:solidFill>
            </a:ln>
          </p:spPr>
          <p:txBody>
            <a:bodyPr wrap="square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zh-TW" altLang="en-US" u="sng" dirty="0">
                  <a:solidFill>
                    <a:srgbClr val="FF0000"/>
                  </a:solidFill>
                </a:rPr>
                <a:t>落單的資料</a:t>
              </a:r>
              <a:r>
                <a:rPr lang="zh-TW" altLang="en-US" dirty="0"/>
                <a:t>與申請個案</a:t>
              </a:r>
              <a:r>
                <a:rPr lang="zh-TW" altLang="en-US" u="sng" dirty="0">
                  <a:solidFill>
                    <a:srgbClr val="FF0000"/>
                  </a:solidFill>
                  <a:highlight>
                    <a:srgbClr val="FFFF00"/>
                  </a:highlight>
                </a:rPr>
                <a:t>不一樣</a:t>
              </a:r>
              <a:r>
                <a:rPr lang="zh-TW" altLang="en-US" sz="1800" dirty="0"/>
                <a:t>請按下方的  </a:t>
              </a:r>
              <a:r>
                <a:rPr lang="en-US" altLang="zh-TW" sz="1800" dirty="0"/>
                <a:t>“S</a:t>
              </a:r>
              <a:r>
                <a:rPr lang="en-US" altLang="zh-TW" dirty="0"/>
                <a:t>end Email</a:t>
              </a:r>
              <a:r>
                <a:rPr lang="en-US" altLang="zh-TW" sz="1800" dirty="0"/>
                <a:t>”</a:t>
              </a:r>
              <a:r>
                <a:rPr lang="zh-TW" altLang="en-US" sz="1800" dirty="0"/>
                <a:t>，揀選</a:t>
              </a:r>
              <a:r>
                <a:rPr lang="zh-TW" altLang="en-US" dirty="0"/>
                <a:t>合適的電郵範本並作出改。</a:t>
              </a:r>
              <a:endParaRPr lang="en-US" dirty="0"/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B852B494-58B9-110B-AE11-0A1AC0BD61DA}"/>
                </a:ext>
              </a:extLst>
            </p:cNvPr>
            <p:cNvCxnSpPr>
              <a:cxnSpLocks/>
              <a:endCxn id="11" idx="0"/>
            </p:cNvCxnSpPr>
            <p:nvPr/>
          </p:nvCxnSpPr>
          <p:spPr>
            <a:xfrm>
              <a:off x="10700035" y="2336012"/>
              <a:ext cx="0" cy="3735837"/>
            </a:xfrm>
            <a:prstGeom prst="straightConnector1">
              <a:avLst/>
            </a:prstGeom>
            <a:ln>
              <a:solidFill>
                <a:srgbClr val="FF0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EEC2A33F-F80A-9BB0-C2AB-E4E05D080B3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425454"/>
              <a:ext cx="689649" cy="1666602"/>
            </a:xfrm>
            <a:prstGeom prst="straightConnector1">
              <a:avLst/>
            </a:prstGeom>
            <a:ln>
              <a:solidFill>
                <a:srgbClr val="00B05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62E73C5D-2B3A-5B32-203E-1EDF3249D9F5}"/>
                </a:ext>
              </a:extLst>
            </p:cNvPr>
            <p:cNvSpPr/>
            <p:nvPr/>
          </p:nvSpPr>
          <p:spPr>
            <a:xfrm>
              <a:off x="1122727" y="5247605"/>
              <a:ext cx="3525962" cy="301929"/>
            </a:xfrm>
            <a:prstGeom prst="roundRect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AD391833-BDF9-ED3D-8560-E4364FE19862}"/>
                </a:ext>
              </a:extLst>
            </p:cNvPr>
            <p:cNvSpPr/>
            <p:nvPr/>
          </p:nvSpPr>
          <p:spPr>
            <a:xfrm>
              <a:off x="1064223" y="2960011"/>
              <a:ext cx="3525962" cy="289789"/>
            </a:xfrm>
            <a:prstGeom prst="roundRect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548992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816D2974-10F4-C315-AD71-6A6EF034FB12}"/>
              </a:ext>
            </a:extLst>
          </p:cNvPr>
          <p:cNvGrpSpPr/>
          <p:nvPr/>
        </p:nvGrpSpPr>
        <p:grpSpPr>
          <a:xfrm>
            <a:off x="287874" y="52766"/>
            <a:ext cx="11911345" cy="6753454"/>
            <a:chOff x="226090" y="52766"/>
            <a:chExt cx="11911345" cy="675345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936FA1C-D5F7-24B3-3917-645EA00F050B}"/>
                </a:ext>
              </a:extLst>
            </p:cNvPr>
            <p:cNvSpPr txBox="1"/>
            <p:nvPr/>
          </p:nvSpPr>
          <p:spPr>
            <a:xfrm>
              <a:off x="226090" y="150590"/>
              <a:ext cx="530401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/>
                <a:t>e-Service &gt; Open Account </a:t>
              </a:r>
              <a:r>
                <a:rPr lang="zh-TW" altLang="en-US" sz="2000" b="1" dirty="0"/>
                <a:t>介面認識及處理方法</a:t>
              </a:r>
              <a:endParaRPr lang="en-US" altLang="zh-TW" sz="2000" b="1" dirty="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8698EA57-8E87-3EE1-A435-172C5CAAC4D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4751" y="1761156"/>
              <a:ext cx="4238625" cy="1390650"/>
            </a:xfrm>
            <a:prstGeom prst="rect">
              <a:avLst/>
            </a:prstGeom>
          </p:spPr>
        </p:pic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27E71B07-438F-4689-07D8-39D55F47F7DA}"/>
                </a:ext>
              </a:extLst>
            </p:cNvPr>
            <p:cNvGrpSpPr/>
            <p:nvPr/>
          </p:nvGrpSpPr>
          <p:grpSpPr>
            <a:xfrm>
              <a:off x="5522322" y="52766"/>
              <a:ext cx="6615113" cy="6753180"/>
              <a:chOff x="4909528" y="431238"/>
              <a:chExt cx="7153275" cy="8251171"/>
            </a:xfrm>
          </p:grpSpPr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A6885CBE-94E0-E905-9A16-DEDF8F28DDF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b="11522"/>
              <a:stretch/>
            </p:blipFill>
            <p:spPr>
              <a:xfrm>
                <a:off x="4909528" y="431238"/>
                <a:ext cx="7134225" cy="4196942"/>
              </a:xfrm>
              <a:prstGeom prst="rect">
                <a:avLst/>
              </a:prstGeom>
              <a:ln>
                <a:noFill/>
              </a:ln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091AFD0A-D732-4EB2-6AC8-35785AA3BE3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t="1840"/>
              <a:stretch/>
            </p:blipFill>
            <p:spPr>
              <a:xfrm>
                <a:off x="4909528" y="4633974"/>
                <a:ext cx="7153275" cy="4048435"/>
              </a:xfrm>
              <a:prstGeom prst="rect">
                <a:avLst/>
              </a:prstGeom>
              <a:ln>
                <a:noFill/>
              </a:ln>
            </p:spPr>
          </p:pic>
        </p:grp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49DB24B-7993-FAD9-DFED-7170445081C8}"/>
                </a:ext>
              </a:extLst>
            </p:cNvPr>
            <p:cNvSpPr txBox="1"/>
            <p:nvPr/>
          </p:nvSpPr>
          <p:spPr>
            <a:xfrm>
              <a:off x="456544" y="3449658"/>
              <a:ext cx="4135461" cy="1200329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zh-TW" altLang="en-US" dirty="0"/>
                <a:t>同事可剔選</a:t>
              </a:r>
              <a:r>
                <a:rPr lang="en-US" altLang="zh-TW" dirty="0"/>
                <a:t> “Send Email to customer”</a:t>
              </a:r>
              <a:r>
                <a:rPr lang="en-US" altLang="zh-TW" dirty="0">
                  <a:sym typeface="Wingdings" panose="05000000000000000000" pitchFamily="2" charset="2"/>
                </a:rPr>
                <a:t> </a:t>
              </a:r>
              <a:r>
                <a:rPr lang="zh-TW" altLang="en-US" dirty="0">
                  <a:sym typeface="Wingdings" panose="05000000000000000000" pitchFamily="2" charset="2"/>
                </a:rPr>
                <a:t>，再按</a:t>
              </a:r>
              <a:r>
                <a:rPr lang="en-US" altLang="zh-TW" dirty="0"/>
                <a:t>“Confirm” </a:t>
              </a:r>
              <a:r>
                <a:rPr lang="zh-TW" altLang="en-US" dirty="0"/>
                <a:t>，</a:t>
              </a:r>
              <a:r>
                <a:rPr lang="en-US" altLang="zh-TW" sz="1800" dirty="0"/>
                <a:t> </a:t>
              </a:r>
              <a:r>
                <a:rPr lang="zh-TW" altLang="en-US" sz="1800" dirty="0"/>
                <a:t>並選擇合適的按金金額然後按 </a:t>
              </a:r>
              <a:r>
                <a:rPr lang="en-US" altLang="zh-TW" dirty="0"/>
                <a:t>“Send”</a:t>
              </a:r>
              <a:r>
                <a:rPr lang="zh-TW" altLang="en-US" dirty="0"/>
                <a:t>，</a:t>
              </a:r>
              <a:endParaRPr lang="en-US" altLang="zh-TW" sz="1800" dirty="0"/>
            </a:p>
            <a:p>
              <a:r>
                <a:rPr lang="en-US" altLang="zh-TW" dirty="0"/>
                <a:t>Case Status</a:t>
              </a:r>
              <a:r>
                <a:rPr lang="zh-TW" altLang="en-US" dirty="0"/>
                <a:t>便會自動轉為</a:t>
              </a:r>
              <a:r>
                <a:rPr lang="en-US" altLang="zh-TW" dirty="0"/>
                <a:t>“Closed”</a:t>
              </a:r>
              <a:r>
                <a:rPr lang="zh-TW" altLang="en-US" dirty="0"/>
                <a:t>。</a:t>
              </a:r>
              <a:endParaRPr lang="en-US" altLang="zh-TW" dirty="0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DFBC3FC5-4DB2-E309-1D8B-E403C7ADC334}"/>
                </a:ext>
              </a:extLst>
            </p:cNvPr>
            <p:cNvSpPr/>
            <p:nvPr/>
          </p:nvSpPr>
          <p:spPr>
            <a:xfrm>
              <a:off x="574436" y="2176323"/>
              <a:ext cx="1603336" cy="221263"/>
            </a:xfrm>
            <a:prstGeom prst="round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B901D34B-00D8-70CA-9D60-4F9EE17C28FE}"/>
                </a:ext>
              </a:extLst>
            </p:cNvPr>
            <p:cNvCxnSpPr>
              <a:cxnSpLocks/>
              <a:stCxn id="8" idx="1"/>
              <a:endCxn id="23" idx="1"/>
            </p:cNvCxnSpPr>
            <p:nvPr/>
          </p:nvCxnSpPr>
          <p:spPr>
            <a:xfrm rot="10800000" flipH="1" flipV="1">
              <a:off x="454750" y="2456481"/>
              <a:ext cx="1793" cy="1593342"/>
            </a:xfrm>
            <a:prstGeom prst="curvedConnector3">
              <a:avLst>
                <a:gd name="adj1" fmla="val -12749582"/>
              </a:avLst>
            </a:prstGeom>
            <a:ln w="1905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7C85FE0B-D73E-9F41-C593-4D47287B4A53}"/>
                </a:ext>
              </a:extLst>
            </p:cNvPr>
            <p:cNvSpPr txBox="1"/>
            <p:nvPr/>
          </p:nvSpPr>
          <p:spPr>
            <a:xfrm>
              <a:off x="7249591" y="5074055"/>
              <a:ext cx="1569660" cy="369332"/>
            </a:xfrm>
            <a:prstGeom prst="rect">
              <a:avLst/>
            </a:prstGeom>
            <a:solidFill>
              <a:srgbClr val="DBFFB7"/>
            </a:solidFill>
            <a:ln>
              <a:solidFill>
                <a:schemeClr val="bg1">
                  <a:lumMod val="6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zh-TW" altLang="en-US" dirty="0"/>
                <a:t>揀選按金金額</a:t>
              </a:r>
              <a:endParaRPr lang="en-US" dirty="0"/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F04010E2-39CA-4578-4D0F-DFC3E362537B}"/>
                </a:ext>
              </a:extLst>
            </p:cNvPr>
            <p:cNvSpPr/>
            <p:nvPr/>
          </p:nvSpPr>
          <p:spPr>
            <a:xfrm>
              <a:off x="6720307" y="6436888"/>
              <a:ext cx="1107996" cy="369332"/>
            </a:xfrm>
            <a:prstGeom prst="round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77616061-F86A-4863-F850-E31CA6F8B444}"/>
                </a:ext>
              </a:extLst>
            </p:cNvPr>
            <p:cNvSpPr txBox="1"/>
            <p:nvPr/>
          </p:nvSpPr>
          <p:spPr>
            <a:xfrm>
              <a:off x="454750" y="1212192"/>
              <a:ext cx="4232959" cy="369332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zh-TW" altLang="en-US" sz="1800" dirty="0"/>
                <a:t>按 </a:t>
              </a:r>
              <a:r>
                <a:rPr lang="en-US" altLang="zh-TW" sz="1800" dirty="0"/>
                <a:t>“Complete Case”</a:t>
              </a:r>
              <a:r>
                <a:rPr lang="zh-TW" altLang="en-US" sz="1800" dirty="0"/>
                <a:t>後，會顯示以下視窗</a:t>
              </a:r>
              <a:endParaRPr lang="en-US" dirty="0"/>
            </a:p>
          </p:txBody>
        </p:sp>
        <p:cxnSp>
          <p:nvCxnSpPr>
            <p:cNvPr id="2" name="Straight Arrow Connector 1">
              <a:extLst>
                <a:ext uri="{FF2B5EF4-FFF2-40B4-BE49-F238E27FC236}">
                  <a16:creationId xmlns:a16="http://schemas.microsoft.com/office/drawing/2014/main" id="{17F75680-D1B5-C3A8-25C3-92972D5D4725}"/>
                </a:ext>
              </a:extLst>
            </p:cNvPr>
            <p:cNvCxnSpPr>
              <a:cxnSpLocks/>
              <a:stCxn id="23" idx="3"/>
              <a:endCxn id="12" idx="1"/>
            </p:cNvCxnSpPr>
            <p:nvPr/>
          </p:nvCxnSpPr>
          <p:spPr>
            <a:xfrm>
              <a:off x="4592005" y="4049823"/>
              <a:ext cx="1051981" cy="1213417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41A93E9-EDAB-4D74-DDDD-5DF6C1F1E407}"/>
                </a:ext>
              </a:extLst>
            </p:cNvPr>
            <p:cNvSpPr txBox="1"/>
            <p:nvPr/>
          </p:nvSpPr>
          <p:spPr>
            <a:xfrm>
              <a:off x="463849" y="4897097"/>
              <a:ext cx="4128156" cy="646331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rgbClr val="00206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zh-TW" altLang="en-US" b="1" dirty="0"/>
                <a:t>完成落單程序及</a:t>
              </a:r>
              <a:r>
                <a:rPr lang="en-US" altLang="zh-TW" sz="1800" b="1" dirty="0"/>
                <a:t>Complete Case</a:t>
              </a:r>
              <a:r>
                <a:rPr lang="zh-TW" altLang="en-US" b="1" dirty="0"/>
                <a:t>後，謹記於把</a:t>
              </a:r>
              <a:r>
                <a:rPr lang="en-US" altLang="zh-TW" b="1" dirty="0"/>
                <a:t>WDE</a:t>
              </a:r>
              <a:r>
                <a:rPr lang="zh-TW" altLang="en-US" b="1" dirty="0"/>
                <a:t>內的</a:t>
              </a:r>
              <a:r>
                <a:rPr lang="en-US" altLang="zh-TW" b="1" dirty="0"/>
                <a:t>Case ID</a:t>
              </a:r>
              <a:r>
                <a:rPr lang="zh-TW" altLang="en-US" b="1" dirty="0"/>
                <a:t>取出並</a:t>
              </a:r>
              <a:r>
                <a:rPr lang="en-US" altLang="zh-TW" b="1" dirty="0"/>
                <a:t>Mark Done</a:t>
              </a:r>
              <a:r>
                <a:rPr lang="zh-TW" altLang="en-US" b="1" dirty="0"/>
                <a:t>。</a:t>
              </a:r>
              <a:endParaRPr lang="en-US" dirty="0"/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B2846F31-2081-7464-4FA4-07A4E819D58C}"/>
                </a:ext>
              </a:extLst>
            </p:cNvPr>
            <p:cNvSpPr/>
            <p:nvPr/>
          </p:nvSpPr>
          <p:spPr>
            <a:xfrm>
              <a:off x="5643986" y="5115591"/>
              <a:ext cx="697168" cy="295297"/>
            </a:xfrm>
            <a:prstGeom prst="round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B3F5AF36-8D86-AA34-663F-F749374D6007}"/>
                </a:ext>
              </a:extLst>
            </p:cNvPr>
            <p:cNvCxnSpPr>
              <a:cxnSpLocks/>
              <a:stCxn id="12" idx="2"/>
              <a:endCxn id="36" idx="1"/>
            </p:cNvCxnSpPr>
            <p:nvPr/>
          </p:nvCxnSpPr>
          <p:spPr>
            <a:xfrm>
              <a:off x="5992570" y="5410888"/>
              <a:ext cx="727737" cy="1210666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E6F54DDF-3F4D-F1B4-05BB-A322A795C157}"/>
              </a:ext>
            </a:extLst>
          </p:cNvPr>
          <p:cNvSpPr txBox="1"/>
          <p:nvPr/>
        </p:nvSpPr>
        <p:spPr>
          <a:xfrm>
            <a:off x="454750" y="790832"/>
            <a:ext cx="34676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800" b="1" u="sng" dirty="0">
                <a:solidFill>
                  <a:srgbClr val="002060"/>
                </a:solidFill>
                <a:highlight>
                  <a:srgbClr val="00FFFF"/>
                </a:highlight>
              </a:rPr>
              <a:t>落單的資料與申請</a:t>
            </a:r>
            <a:r>
              <a:rPr lang="zh-TW" altLang="en-US" sz="2000" b="1" u="sng" dirty="0">
                <a:solidFill>
                  <a:srgbClr val="002060"/>
                </a:solidFill>
                <a:highlight>
                  <a:srgbClr val="00FFFF"/>
                </a:highlight>
              </a:rPr>
              <a:t>個案</a:t>
            </a:r>
            <a:r>
              <a:rPr lang="zh-TW" altLang="en-US" sz="1800" b="1" u="sng" dirty="0">
                <a:solidFill>
                  <a:srgbClr val="002060"/>
                </a:solidFill>
                <a:highlight>
                  <a:srgbClr val="00FFFF"/>
                </a:highlight>
              </a:rPr>
              <a:t>完全一樣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02403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936FA1C-D5F7-24B3-3917-645EA00F050B}"/>
              </a:ext>
            </a:extLst>
          </p:cNvPr>
          <p:cNvSpPr txBox="1"/>
          <p:nvPr/>
        </p:nvSpPr>
        <p:spPr>
          <a:xfrm>
            <a:off x="436459" y="80725"/>
            <a:ext cx="52743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e-Service &gt; Open Account </a:t>
            </a:r>
            <a:r>
              <a:rPr lang="zh-TW" altLang="en-US" sz="2000" b="1" dirty="0"/>
              <a:t>介面認識及處理方法</a:t>
            </a:r>
            <a:endParaRPr lang="en-US" altLang="zh-TW" sz="20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9FC125-A964-3934-B64A-A47698E14279}"/>
              </a:ext>
            </a:extLst>
          </p:cNvPr>
          <p:cNvSpPr txBox="1"/>
          <p:nvPr/>
        </p:nvSpPr>
        <p:spPr>
          <a:xfrm>
            <a:off x="436459" y="555261"/>
            <a:ext cx="5700153" cy="203132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r>
              <a:rPr lang="zh-TW" altLang="en-US" sz="1800" b="1" u="sng" dirty="0">
                <a:solidFill>
                  <a:srgbClr val="002060"/>
                </a:solidFill>
                <a:highlight>
                  <a:srgbClr val="00FFFF"/>
                </a:highlight>
              </a:rPr>
              <a:t>落單的資料與申請個案不一樣</a:t>
            </a:r>
            <a:endParaRPr lang="en-US" altLang="zh-TW" sz="1800" b="1" u="sng" dirty="0">
              <a:solidFill>
                <a:srgbClr val="002060"/>
              </a:solidFill>
              <a:highlight>
                <a:srgbClr val="00FFFF"/>
              </a:highlight>
            </a:endParaRPr>
          </a:p>
          <a:p>
            <a:r>
              <a:rPr lang="zh-TW" altLang="en-US" dirty="0"/>
              <a:t>同事</a:t>
            </a:r>
            <a:r>
              <a:rPr lang="zh-TW" altLang="en-US" b="1" dirty="0">
                <a:highlight>
                  <a:srgbClr val="FFFF00"/>
                </a:highlight>
              </a:rPr>
              <a:t>需自行撰寫 </a:t>
            </a:r>
            <a:r>
              <a:rPr lang="en-US" altLang="zh-TW" b="1" dirty="0">
                <a:highlight>
                  <a:srgbClr val="FFFF00"/>
                </a:highlight>
              </a:rPr>
              <a:t>[</a:t>
            </a:r>
            <a:r>
              <a:rPr lang="zh-TW" altLang="en-US" b="1" dirty="0">
                <a:highlight>
                  <a:srgbClr val="FFFF00"/>
                </a:highlight>
              </a:rPr>
              <a:t>電郵</a:t>
            </a:r>
            <a:r>
              <a:rPr lang="en-US" altLang="zh-TW" b="1" dirty="0">
                <a:highlight>
                  <a:srgbClr val="FFFF00"/>
                </a:highlight>
              </a:rPr>
              <a:t>] </a:t>
            </a:r>
            <a:r>
              <a:rPr lang="zh-TW" altLang="en-US" b="1" dirty="0">
                <a:highlight>
                  <a:srgbClr val="FFFF00"/>
                </a:highlight>
              </a:rPr>
              <a:t>回覆客人</a:t>
            </a:r>
            <a:endParaRPr lang="en-US" altLang="zh-TW" dirty="0"/>
          </a:p>
          <a:p>
            <a:r>
              <a:rPr lang="zh-TW" altLang="en-US" dirty="0"/>
              <a:t>按 </a:t>
            </a:r>
            <a:r>
              <a:rPr lang="en-US" altLang="zh-TW" dirty="0">
                <a:solidFill>
                  <a:srgbClr val="FF0000"/>
                </a:solidFill>
              </a:rPr>
              <a:t>1</a:t>
            </a:r>
            <a:r>
              <a:rPr lang="en-US" altLang="zh-TW" dirty="0"/>
              <a:t>[Send email] &gt; </a:t>
            </a:r>
            <a:r>
              <a:rPr lang="zh-TW" altLang="en-US" sz="1800" dirty="0"/>
              <a:t>揀選</a:t>
            </a:r>
            <a:r>
              <a:rPr lang="zh-TW" altLang="en-US" dirty="0"/>
              <a:t>合適的電郵範本，並作出修改；</a:t>
            </a:r>
            <a:endParaRPr lang="en-US" altLang="zh-TW" dirty="0"/>
          </a:p>
          <a:p>
            <a:r>
              <a:rPr lang="zh-TW" altLang="en-US" dirty="0"/>
              <a:t>按 </a:t>
            </a:r>
            <a:r>
              <a:rPr lang="en-US" altLang="zh-TW" dirty="0">
                <a:solidFill>
                  <a:srgbClr val="FF0000"/>
                </a:solidFill>
              </a:rPr>
              <a:t>2 </a:t>
            </a:r>
            <a:r>
              <a:rPr lang="en-US" altLang="zh-TW" dirty="0"/>
              <a:t>[Send]</a:t>
            </a:r>
            <a:r>
              <a:rPr lang="zh-TW" altLang="en-US" dirty="0"/>
              <a:t>發送電郵；</a:t>
            </a:r>
            <a:endParaRPr lang="en-US" altLang="zh-TW" dirty="0"/>
          </a:p>
          <a:p>
            <a:r>
              <a:rPr lang="zh-TW" altLang="en-US" dirty="0"/>
              <a:t>按</a:t>
            </a:r>
            <a:r>
              <a:rPr lang="en-US" altLang="zh-TW" dirty="0"/>
              <a:t> </a:t>
            </a:r>
            <a:r>
              <a:rPr lang="en-US" altLang="zh-TW" sz="1800" dirty="0">
                <a:solidFill>
                  <a:srgbClr val="FF0000"/>
                </a:solidFill>
              </a:rPr>
              <a:t>3</a:t>
            </a:r>
            <a:r>
              <a:rPr lang="en-US" altLang="zh-TW" sz="1800" dirty="0"/>
              <a:t> </a:t>
            </a:r>
            <a:r>
              <a:rPr lang="en-US" altLang="zh-TW" dirty="0"/>
              <a:t>[</a:t>
            </a:r>
            <a:r>
              <a:rPr lang="en-US" altLang="zh-TW" sz="1800" dirty="0"/>
              <a:t>Complete Case]</a:t>
            </a:r>
            <a:r>
              <a:rPr lang="zh-TW" altLang="en-US" dirty="0"/>
              <a:t>；</a:t>
            </a:r>
            <a:endParaRPr lang="en-US" altLang="zh-TW" dirty="0"/>
          </a:p>
          <a:p>
            <a:r>
              <a:rPr lang="zh-TW" altLang="en-US" dirty="0"/>
              <a:t>按 </a:t>
            </a:r>
            <a:r>
              <a:rPr lang="en-US" altLang="zh-TW" dirty="0">
                <a:solidFill>
                  <a:srgbClr val="FF0000"/>
                </a:solidFill>
              </a:rPr>
              <a:t>4 </a:t>
            </a:r>
            <a:r>
              <a:rPr lang="en-US" altLang="zh-TW" dirty="0"/>
              <a:t>[Not send Email to customer]</a:t>
            </a:r>
            <a:r>
              <a:rPr lang="zh-TW" altLang="en-US" dirty="0"/>
              <a:t>；</a:t>
            </a:r>
            <a:endParaRPr lang="en-US" altLang="zh-TW" dirty="0"/>
          </a:p>
          <a:p>
            <a:r>
              <a:rPr lang="zh-TW" altLang="en-US" sz="1800" dirty="0"/>
              <a:t>按 </a:t>
            </a:r>
            <a:r>
              <a:rPr lang="en-US" altLang="zh-TW" sz="1800" dirty="0">
                <a:solidFill>
                  <a:srgbClr val="FF0000"/>
                </a:solidFill>
              </a:rPr>
              <a:t>5</a:t>
            </a:r>
            <a:r>
              <a:rPr lang="zh-TW" altLang="en-US" sz="1800" dirty="0"/>
              <a:t> </a:t>
            </a:r>
            <a:r>
              <a:rPr lang="en-US" altLang="zh-TW" sz="1800" dirty="0"/>
              <a:t>[</a:t>
            </a:r>
            <a:r>
              <a:rPr lang="en-US" altLang="zh-TW" dirty="0"/>
              <a:t>Confirm]</a:t>
            </a:r>
            <a:r>
              <a:rPr lang="zh-TW" altLang="en-US" dirty="0"/>
              <a:t>。</a:t>
            </a:r>
            <a:endParaRPr lang="en-US" altLang="zh-TW" sz="1800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E11CC11-F9CC-CFE3-2CED-F31822F6894C}"/>
              </a:ext>
            </a:extLst>
          </p:cNvPr>
          <p:cNvSpPr/>
          <p:nvPr/>
        </p:nvSpPr>
        <p:spPr>
          <a:xfrm>
            <a:off x="6646262" y="4071418"/>
            <a:ext cx="1964178" cy="303113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1BF5541-6D85-EEA9-6DC9-C401E6D90325}"/>
              </a:ext>
            </a:extLst>
          </p:cNvPr>
          <p:cNvGrpSpPr/>
          <p:nvPr/>
        </p:nvGrpSpPr>
        <p:grpSpPr>
          <a:xfrm>
            <a:off x="414900" y="2608973"/>
            <a:ext cx="5692470" cy="3524983"/>
            <a:chOff x="449566" y="2420223"/>
            <a:chExt cx="5692470" cy="3524983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6BD48A1E-C276-04B7-2DB7-381530926BBB}"/>
                </a:ext>
              </a:extLst>
            </p:cNvPr>
            <p:cNvGrpSpPr/>
            <p:nvPr/>
          </p:nvGrpSpPr>
          <p:grpSpPr>
            <a:xfrm>
              <a:off x="449566" y="2420223"/>
              <a:ext cx="5692470" cy="3524983"/>
              <a:chOff x="694062" y="2346239"/>
              <a:chExt cx="5692470" cy="3524983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5D104336-FE6B-32C0-FDA6-0EA35BA4239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13194" t="9340" r="11979" b="17909"/>
              <a:stretch/>
            </p:blipFill>
            <p:spPr bwMode="auto">
              <a:xfrm>
                <a:off x="694062" y="2346239"/>
                <a:ext cx="5132661" cy="3524983"/>
              </a:xfrm>
              <a:prstGeom prst="rect">
                <a:avLst/>
              </a:prstGeom>
              <a:ln>
                <a:noFill/>
              </a:ln>
              <a:extLst>
                <a:ext uri="{53640926-AAD7-44D8-BBD7-CCE9431645EC}">
                  <a14:shadowObscured xmlns:a14="http://schemas.microsoft.com/office/drawing/2010/main"/>
                </a:ext>
              </a:extLst>
            </p:spPr>
          </p:pic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F3E5B7CA-2677-8A02-354E-5142B3D80627}"/>
                  </a:ext>
                </a:extLst>
              </p:cNvPr>
              <p:cNvSpPr/>
              <p:nvPr/>
            </p:nvSpPr>
            <p:spPr>
              <a:xfrm>
                <a:off x="1733698" y="5468676"/>
                <a:ext cx="810734" cy="303113"/>
              </a:xfrm>
              <a:prstGeom prst="round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37715B8-529A-6C5F-398C-A9377417408F}"/>
                  </a:ext>
                </a:extLst>
              </p:cNvPr>
              <p:cNvSpPr txBox="1"/>
              <p:nvPr/>
            </p:nvSpPr>
            <p:spPr>
              <a:xfrm>
                <a:off x="3749696" y="3983844"/>
                <a:ext cx="2636836" cy="92333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rgbClr val="7030A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zh-TW" altLang="en-US" sz="1800" dirty="0"/>
                  <a:t>揀選</a:t>
                </a:r>
                <a:r>
                  <a:rPr lang="zh-TW" altLang="en-US" dirty="0"/>
                  <a:t>合適電郵範本</a:t>
                </a:r>
                <a:endParaRPr lang="en-US" altLang="zh-TW" dirty="0"/>
              </a:p>
              <a:p>
                <a:r>
                  <a:rPr lang="zh-TW" altLang="en-US" dirty="0"/>
                  <a:t> </a:t>
                </a:r>
                <a:r>
                  <a:rPr lang="en-US" altLang="zh-TW" dirty="0"/>
                  <a:t>(</a:t>
                </a:r>
                <a:r>
                  <a:rPr lang="zh-TW" altLang="en-US" dirty="0"/>
                  <a:t>如：</a:t>
                </a:r>
                <a:r>
                  <a:rPr lang="en-US" altLang="zh-TW" dirty="0" err="1"/>
                  <a:t>eService_Conf_TO</a:t>
                </a:r>
                <a:r>
                  <a:rPr lang="en-US" altLang="zh-TW" dirty="0"/>
                  <a:t>)</a:t>
                </a:r>
                <a:r>
                  <a:rPr lang="zh-TW" altLang="en-US" dirty="0"/>
                  <a:t>，作出修改後發送。</a:t>
                </a:r>
                <a:endParaRPr lang="en-US" dirty="0"/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9102D9E-CBD0-405B-E39A-6173B8737A40}"/>
                </a:ext>
              </a:extLst>
            </p:cNvPr>
            <p:cNvSpPr txBox="1"/>
            <p:nvPr/>
          </p:nvSpPr>
          <p:spPr>
            <a:xfrm>
              <a:off x="1489202" y="514255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dirty="0">
                  <a:solidFill>
                    <a:srgbClr val="FF0000"/>
                  </a:solidFill>
                </a:rPr>
                <a:t>2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03B0C9A1-B376-1F0D-B706-7F060A033145}"/>
              </a:ext>
            </a:extLst>
          </p:cNvPr>
          <p:cNvGrpSpPr/>
          <p:nvPr/>
        </p:nvGrpSpPr>
        <p:grpSpPr>
          <a:xfrm>
            <a:off x="6273728" y="480835"/>
            <a:ext cx="5314755" cy="4895774"/>
            <a:chOff x="6273728" y="480835"/>
            <a:chExt cx="5314755" cy="4895774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CB6E6CEB-1105-2FA3-49F4-EBD78ECF7D3A}"/>
                </a:ext>
              </a:extLst>
            </p:cNvPr>
            <p:cNvGrpSpPr/>
            <p:nvPr/>
          </p:nvGrpSpPr>
          <p:grpSpPr>
            <a:xfrm>
              <a:off x="6529216" y="3652584"/>
              <a:ext cx="3845164" cy="1724025"/>
              <a:chOff x="6529216" y="3652584"/>
              <a:chExt cx="3845164" cy="1724025"/>
            </a:xfrm>
          </p:grpSpPr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B0B37191-3A75-DB65-1FA2-5E0712A29005}"/>
                  </a:ext>
                </a:extLst>
              </p:cNvPr>
              <p:cNvGrpSpPr/>
              <p:nvPr/>
            </p:nvGrpSpPr>
            <p:grpSpPr>
              <a:xfrm>
                <a:off x="6529216" y="3652584"/>
                <a:ext cx="3771900" cy="1724025"/>
                <a:chOff x="6529216" y="3652584"/>
                <a:chExt cx="3771900" cy="1724025"/>
              </a:xfrm>
            </p:grpSpPr>
            <p:pic>
              <p:nvPicPr>
                <p:cNvPr id="12" name="Picture 11">
                  <a:extLst>
                    <a:ext uri="{FF2B5EF4-FFF2-40B4-BE49-F238E27FC236}">
                      <a16:creationId xmlns:a16="http://schemas.microsoft.com/office/drawing/2014/main" id="{9861337F-4967-C6D7-7838-D23FED64FAB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529216" y="3652584"/>
                  <a:ext cx="3771900" cy="1724025"/>
                </a:xfrm>
                <a:prstGeom prst="rect">
                  <a:avLst/>
                </a:prstGeom>
              </p:spPr>
            </p:pic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BAEFD486-923E-5248-F6A0-88F96D025A00}"/>
                    </a:ext>
                  </a:extLst>
                </p:cNvPr>
                <p:cNvSpPr txBox="1"/>
                <p:nvPr/>
              </p:nvSpPr>
              <p:spPr>
                <a:xfrm>
                  <a:off x="8579976" y="4365599"/>
                  <a:ext cx="32573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TW" sz="2000" dirty="0">
                      <a:solidFill>
                        <a:srgbClr val="FF0000"/>
                      </a:solidFill>
                    </a:rPr>
                    <a:t>4</a:t>
                  </a:r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p:grpSp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65450FBD-D91A-C62A-2628-88C69FD3C389}"/>
                  </a:ext>
                </a:extLst>
              </p:cNvPr>
              <p:cNvSpPr/>
              <p:nvPr/>
            </p:nvSpPr>
            <p:spPr>
              <a:xfrm>
                <a:off x="8429816" y="4888497"/>
                <a:ext cx="1662715" cy="356755"/>
              </a:xfrm>
              <a:prstGeom prst="round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1191D1E-C0EB-8E7A-FCBB-6A95CACE7EA4}"/>
                  </a:ext>
                </a:extLst>
              </p:cNvPr>
              <p:cNvSpPr txBox="1"/>
              <p:nvPr/>
            </p:nvSpPr>
            <p:spPr>
              <a:xfrm>
                <a:off x="10048650" y="4856027"/>
                <a:ext cx="32573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dirty="0">
                    <a:solidFill>
                      <a:srgbClr val="FF0000"/>
                    </a:solidFill>
                  </a:rPr>
                  <a:t>5</a:t>
                </a:r>
                <a:endParaRPr lang="en-US" dirty="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D728E069-B0A5-D7BF-2294-48487EA6B1FB}"/>
                </a:ext>
              </a:extLst>
            </p:cNvPr>
            <p:cNvGrpSpPr/>
            <p:nvPr/>
          </p:nvGrpSpPr>
          <p:grpSpPr>
            <a:xfrm>
              <a:off x="6273728" y="480835"/>
              <a:ext cx="5314755" cy="2992924"/>
              <a:chOff x="418464" y="2628517"/>
              <a:chExt cx="5314755" cy="2992924"/>
            </a:xfrm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BCD057EF-886D-DDE7-58F3-6A9E0131B305}"/>
                  </a:ext>
                </a:extLst>
              </p:cNvPr>
              <p:cNvGrpSpPr/>
              <p:nvPr/>
            </p:nvGrpSpPr>
            <p:grpSpPr>
              <a:xfrm>
                <a:off x="418464" y="2628517"/>
                <a:ext cx="5314755" cy="2992924"/>
                <a:chOff x="6380992" y="562628"/>
                <a:chExt cx="5314755" cy="2992924"/>
              </a:xfrm>
            </p:grpSpPr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3CFE7C50-0E4E-38F1-3DC1-BB02020C9FED}"/>
                    </a:ext>
                  </a:extLst>
                </p:cNvPr>
                <p:cNvGrpSpPr/>
                <p:nvPr/>
              </p:nvGrpSpPr>
              <p:grpSpPr>
                <a:xfrm>
                  <a:off x="6380992" y="562628"/>
                  <a:ext cx="5314755" cy="2992924"/>
                  <a:chOff x="6380992" y="562628"/>
                  <a:chExt cx="5314755" cy="2992924"/>
                </a:xfrm>
              </p:grpSpPr>
              <p:pic>
                <p:nvPicPr>
                  <p:cNvPr id="7" name="Picture 6">
                    <a:extLst>
                      <a:ext uri="{FF2B5EF4-FFF2-40B4-BE49-F238E27FC236}">
                        <a16:creationId xmlns:a16="http://schemas.microsoft.com/office/drawing/2014/main" id="{90C9EF9B-240D-67EA-3C91-06FD1798D73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6380992" y="562628"/>
                    <a:ext cx="5314755" cy="2992924"/>
                  </a:xfrm>
                  <a:prstGeom prst="rect">
                    <a:avLst/>
                  </a:prstGeom>
                </p:spPr>
              </p:pic>
              <p:sp>
                <p:nvSpPr>
                  <p:cNvPr id="8" name="Rectangle: Rounded Corners 7">
                    <a:extLst>
                      <a:ext uri="{FF2B5EF4-FFF2-40B4-BE49-F238E27FC236}">
                        <a16:creationId xmlns:a16="http://schemas.microsoft.com/office/drawing/2014/main" id="{6E1F7FE6-5BC6-2018-1E93-819A02BC1F6D}"/>
                      </a:ext>
                    </a:extLst>
                  </p:cNvPr>
                  <p:cNvSpPr/>
                  <p:nvPr/>
                </p:nvSpPr>
                <p:spPr>
                  <a:xfrm>
                    <a:off x="6406044" y="2203538"/>
                    <a:ext cx="1338925" cy="338610"/>
                  </a:xfrm>
                  <a:prstGeom prst="roundRect">
                    <a:avLst/>
                  </a:prstGeom>
                  <a:noFill/>
                  <a:ln w="28575"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" name="Rectangle: Rounded Corners 1">
                    <a:extLst>
                      <a:ext uri="{FF2B5EF4-FFF2-40B4-BE49-F238E27FC236}">
                        <a16:creationId xmlns:a16="http://schemas.microsoft.com/office/drawing/2014/main" id="{9BF7C98D-2690-40CC-7749-C42384AB5A02}"/>
                      </a:ext>
                    </a:extLst>
                  </p:cNvPr>
                  <p:cNvSpPr/>
                  <p:nvPr/>
                </p:nvSpPr>
                <p:spPr>
                  <a:xfrm>
                    <a:off x="10377832" y="3066480"/>
                    <a:ext cx="1211632" cy="309126"/>
                  </a:xfrm>
                  <a:prstGeom prst="roundRect">
                    <a:avLst/>
                  </a:prstGeom>
                  <a:noFill/>
                  <a:ln w="28575"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1CFFFC9A-71F3-70A3-1408-2BB194DE0DE2}"/>
                    </a:ext>
                  </a:extLst>
                </p:cNvPr>
                <p:cNvSpPr txBox="1"/>
                <p:nvPr/>
              </p:nvSpPr>
              <p:spPr>
                <a:xfrm>
                  <a:off x="6406044" y="1828828"/>
                  <a:ext cx="3145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TW" sz="2000" dirty="0">
                      <a:solidFill>
                        <a:srgbClr val="FF0000"/>
                      </a:solidFill>
                    </a:rPr>
                    <a:t>1</a:t>
                  </a:r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p:grp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B6172BA-42BE-76F0-3692-020E843B7A25}"/>
                  </a:ext>
                </a:extLst>
              </p:cNvPr>
              <p:cNvSpPr txBox="1"/>
              <p:nvPr/>
            </p:nvSpPr>
            <p:spPr>
              <a:xfrm>
                <a:off x="4861324" y="4794191"/>
                <a:ext cx="35029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000" dirty="0">
                    <a:solidFill>
                      <a:srgbClr val="FF0000"/>
                    </a:solidFill>
                  </a:rPr>
                  <a:t>3</a:t>
                </a:r>
                <a:endParaRPr lang="en-US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F435C16E-88C5-349F-AA5D-5A6A77174FCA}"/>
                </a:ext>
              </a:extLst>
            </p:cNvPr>
            <p:cNvSpPr txBox="1"/>
            <p:nvPr/>
          </p:nvSpPr>
          <p:spPr>
            <a:xfrm>
              <a:off x="6529216" y="1729535"/>
              <a:ext cx="1370560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r>
                <a:rPr lang="en-US" altLang="zh-TW" dirty="0"/>
                <a:t>[Send email]</a:t>
              </a:r>
              <a:endParaRPr lang="en-US" dirty="0"/>
            </a:p>
          </p:txBody>
        </p:sp>
      </p:grp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595AAE30-D01F-B9E8-BC7A-BB0E776A610B}"/>
              </a:ext>
            </a:extLst>
          </p:cNvPr>
          <p:cNvSpPr/>
          <p:nvPr/>
        </p:nvSpPr>
        <p:spPr>
          <a:xfrm>
            <a:off x="6637186" y="4410627"/>
            <a:ext cx="1944570" cy="322452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384F641-CBB8-2A8C-AD80-FD729F769666}"/>
              </a:ext>
            </a:extLst>
          </p:cNvPr>
          <p:cNvSpPr txBox="1"/>
          <p:nvPr/>
        </p:nvSpPr>
        <p:spPr>
          <a:xfrm>
            <a:off x="424166" y="6130944"/>
            <a:ext cx="4128156" cy="64633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b="1" dirty="0"/>
              <a:t>完成落單程序及</a:t>
            </a:r>
            <a:r>
              <a:rPr lang="en-US" altLang="zh-TW" sz="1800" b="1" dirty="0"/>
              <a:t>Complete Case</a:t>
            </a:r>
            <a:r>
              <a:rPr lang="zh-TW" altLang="en-US" b="1" dirty="0"/>
              <a:t>後，謹記於把</a:t>
            </a:r>
            <a:r>
              <a:rPr lang="en-US" altLang="zh-TW" b="1" dirty="0"/>
              <a:t>WDE</a:t>
            </a:r>
            <a:r>
              <a:rPr lang="zh-TW" altLang="en-US" b="1" dirty="0"/>
              <a:t>內的</a:t>
            </a:r>
            <a:r>
              <a:rPr lang="en-US" altLang="zh-TW" b="1" dirty="0"/>
              <a:t>Case ID</a:t>
            </a:r>
            <a:r>
              <a:rPr lang="zh-TW" altLang="en-US" b="1" dirty="0"/>
              <a:t>取出</a:t>
            </a:r>
            <a:r>
              <a:rPr lang="en-US" altLang="zh-TW" b="1" dirty="0"/>
              <a:t>Mark Done</a:t>
            </a:r>
            <a:r>
              <a:rPr lang="zh-TW" altLang="en-US" b="1" dirty="0"/>
              <a:t>。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FDA11B75-3A4C-E2C8-1D99-07C3E28C9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69050"/>
            <a:ext cx="2743200" cy="365125"/>
          </a:xfrm>
        </p:spPr>
        <p:txBody>
          <a:bodyPr/>
          <a:lstStyle/>
          <a:p>
            <a:fld id="{941B04AD-5EB0-49DF-9047-5419DE7250E3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56025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B04AD-5EB0-49DF-9047-5419DE7250E3}" type="slidenum">
              <a:rPr lang="en-US" smtClean="0"/>
              <a:t>38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36FA1C-D5F7-24B3-3917-645EA00F050B}"/>
              </a:ext>
            </a:extLst>
          </p:cNvPr>
          <p:cNvSpPr txBox="1"/>
          <p:nvPr/>
        </p:nvSpPr>
        <p:spPr>
          <a:xfrm>
            <a:off x="734978" y="2532903"/>
            <a:ext cx="934493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e-Service &gt; Open Account </a:t>
            </a:r>
            <a:r>
              <a:rPr lang="zh-TW" altLang="en-US" sz="3600" b="1" dirty="0"/>
              <a:t>介面認識及處理方法</a:t>
            </a:r>
            <a:endParaRPr lang="en-US" altLang="zh-TW" sz="3600" b="1" dirty="0"/>
          </a:p>
          <a:p>
            <a:r>
              <a:rPr lang="zh-TW" altLang="en-US" sz="3600" b="1" dirty="0">
                <a:solidFill>
                  <a:srgbClr val="FF0000"/>
                </a:solidFill>
              </a:rPr>
              <a:t>按金豁免 處理方法</a:t>
            </a:r>
            <a:endParaRPr lang="en-US" sz="3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113115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936FA1C-D5F7-24B3-3917-645EA00F050B}"/>
              </a:ext>
            </a:extLst>
          </p:cNvPr>
          <p:cNvSpPr txBox="1"/>
          <p:nvPr/>
        </p:nvSpPr>
        <p:spPr>
          <a:xfrm>
            <a:off x="425885" y="150312"/>
            <a:ext cx="527439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e-Service &gt; Open Account </a:t>
            </a:r>
            <a:r>
              <a:rPr lang="zh-TW" altLang="en-US" sz="2000" b="1" dirty="0"/>
              <a:t>介面認識及處理方法</a:t>
            </a:r>
            <a:endParaRPr lang="en-US" altLang="zh-TW" sz="2000" b="1" dirty="0"/>
          </a:p>
          <a:p>
            <a:r>
              <a:rPr lang="zh-TW" altLang="en-US" sz="2000" b="1" dirty="0"/>
              <a:t>按金豁免 處理方法</a:t>
            </a:r>
            <a:endParaRPr lang="en-US" sz="2000" b="1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6C148B-7163-81C3-1C9F-81827B6D7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B04AD-5EB0-49DF-9047-5419DE7250E3}" type="slidenum">
              <a:rPr lang="en-US" smtClean="0"/>
              <a:t>39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6864B4-09C3-BD3E-32C9-5A6BDF1E4D37}"/>
              </a:ext>
            </a:extLst>
          </p:cNvPr>
          <p:cNvSpPr txBox="1"/>
          <p:nvPr/>
        </p:nvSpPr>
        <p:spPr>
          <a:xfrm>
            <a:off x="186846" y="1013254"/>
            <a:ext cx="11878154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CC00FF"/>
                </a:solidFill>
              </a:rPr>
              <a:t>符合</a:t>
            </a:r>
            <a:r>
              <a:rPr lang="zh-TW" altLang="en-US" dirty="0">
                <a:solidFill>
                  <a:srgbClr val="0070C0"/>
                </a:solidFill>
              </a:rPr>
              <a:t>按金豁免</a:t>
            </a:r>
            <a:r>
              <a:rPr lang="zh-TW" altLang="en-US" dirty="0">
                <a:solidFill>
                  <a:srgbClr val="CC00FF"/>
                </a:solidFill>
              </a:rPr>
              <a:t>資格的戶口，同事請按</a:t>
            </a:r>
            <a:r>
              <a:rPr lang="zh-TW" altLang="en-US" dirty="0">
                <a:solidFill>
                  <a:srgbClr val="0070C0"/>
                </a:solidFill>
              </a:rPr>
              <a:t> </a:t>
            </a:r>
            <a:r>
              <a:rPr lang="en-US" altLang="zh-TW" dirty="0">
                <a:solidFill>
                  <a:srgbClr val="0070C0"/>
                </a:solidFill>
              </a:rPr>
              <a:t>“</a:t>
            </a:r>
            <a:r>
              <a:rPr lang="zh-TW" altLang="en-US" dirty="0">
                <a:solidFill>
                  <a:srgbClr val="0070C0"/>
                </a:solidFill>
              </a:rPr>
              <a:t>自行落單</a:t>
            </a:r>
            <a:r>
              <a:rPr lang="en-US" altLang="zh-TW" dirty="0">
                <a:solidFill>
                  <a:srgbClr val="0070C0"/>
                </a:solidFill>
              </a:rPr>
              <a:t>”</a:t>
            </a:r>
            <a:r>
              <a:rPr lang="zh-TW" altLang="en-US" dirty="0">
                <a:solidFill>
                  <a:srgbClr val="CC00FF"/>
                </a:solidFill>
              </a:rPr>
              <a:t>的處理方法來為落單，並於</a:t>
            </a:r>
            <a:r>
              <a:rPr lang="en-US" altLang="zh-TW" dirty="0">
                <a:solidFill>
                  <a:srgbClr val="0070C0"/>
                </a:solidFill>
              </a:rPr>
              <a:t>Siebel</a:t>
            </a:r>
            <a:r>
              <a:rPr lang="zh-TW" altLang="en-US" dirty="0">
                <a:solidFill>
                  <a:srgbClr val="0070C0"/>
                </a:solidFill>
              </a:rPr>
              <a:t>建立</a:t>
            </a:r>
            <a:r>
              <a:rPr lang="en-US" altLang="zh-TW" dirty="0">
                <a:solidFill>
                  <a:srgbClr val="0070C0"/>
                </a:solidFill>
              </a:rPr>
              <a:t>Deposit Exemption Profile</a:t>
            </a:r>
            <a:r>
              <a:rPr lang="zh-TW" altLang="en-US" dirty="0">
                <a:solidFill>
                  <a:srgbClr val="CC00FF"/>
                </a:solidFill>
              </a:rPr>
              <a:t>，然後</a:t>
            </a:r>
            <a:endParaRPr lang="en-US" altLang="zh-TW" dirty="0">
              <a:solidFill>
                <a:srgbClr val="CC00FF"/>
              </a:solidFill>
            </a:endParaRPr>
          </a:p>
          <a:p>
            <a:endParaRPr lang="en-US" altLang="zh-TW" dirty="0"/>
          </a:p>
          <a:p>
            <a:r>
              <a:rPr lang="en-US" altLang="zh-TW" dirty="0"/>
              <a:t>1. </a:t>
            </a:r>
            <a:r>
              <a:rPr lang="zh-TW" altLang="en-US" dirty="0"/>
              <a:t>把個案轉交</a:t>
            </a:r>
            <a:r>
              <a:rPr lang="en-US" altLang="zh-TW" dirty="0"/>
              <a:t>Service Manager</a:t>
            </a:r>
            <a:r>
              <a:rPr lang="zh-TW" altLang="en-US" dirty="0"/>
              <a:t>處理</a:t>
            </a:r>
            <a:endParaRPr lang="en-US" altLang="zh-TW" dirty="0"/>
          </a:p>
          <a:p>
            <a:r>
              <a:rPr lang="zh-TW" altLang="en-US" dirty="0"/>
              <a:t>  於</a:t>
            </a:r>
            <a:r>
              <a:rPr lang="en-US" altLang="zh-TW" dirty="0"/>
              <a:t>e-Service</a:t>
            </a:r>
            <a:r>
              <a:rPr lang="zh-TW" altLang="en-US" dirty="0"/>
              <a:t>內的英文電郵範本找出</a:t>
            </a:r>
            <a:endParaRPr lang="en-US" altLang="zh-TW" dirty="0"/>
          </a:p>
          <a:p>
            <a:r>
              <a:rPr lang="en-US" altLang="zh-TW" dirty="0"/>
              <a:t>  </a:t>
            </a:r>
            <a:r>
              <a:rPr lang="en-US" altLang="zh-TW" dirty="0" err="1"/>
              <a:t>eService_Internal_Transfer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2. </a:t>
            </a:r>
            <a:r>
              <a:rPr lang="zh-TW" altLang="en-US" dirty="0"/>
              <a:t>修改發送的電郵地址為：</a:t>
            </a:r>
            <a:endParaRPr lang="en-US" altLang="zh-TW" dirty="0"/>
          </a:p>
          <a:p>
            <a:r>
              <a:rPr lang="en-US" altLang="zh-TW" dirty="0"/>
              <a:t>  </a:t>
            </a:r>
            <a:r>
              <a:rPr lang="en-US" altLang="zh-TW" dirty="0">
                <a:hlinkClick r:id="rId2"/>
              </a:rPr>
              <a:t>CSH-TGSenior@hkcg.com</a:t>
            </a:r>
            <a:endParaRPr lang="en-US" altLang="zh-TW" dirty="0"/>
          </a:p>
          <a:p>
            <a:endParaRPr lang="en-US" dirty="0"/>
          </a:p>
          <a:p>
            <a:r>
              <a:rPr lang="en-US" altLang="zh-TW" dirty="0"/>
              <a:t>3. </a:t>
            </a:r>
            <a:r>
              <a:rPr lang="zh-TW" altLang="en-US" dirty="0"/>
              <a:t>修改電郵</a:t>
            </a:r>
            <a:r>
              <a:rPr lang="en-US" altLang="zh-TW" dirty="0"/>
              <a:t>Subject</a:t>
            </a:r>
            <a:r>
              <a:rPr lang="zh-TW" altLang="en-US" dirty="0"/>
              <a:t>為：</a:t>
            </a:r>
            <a:endParaRPr lang="en-US" altLang="zh-TW" dirty="0"/>
          </a:p>
          <a:p>
            <a:r>
              <a:rPr lang="en-US" dirty="0"/>
              <a:t> eService Case XX – TG# XX – Deposit Exemption</a:t>
            </a:r>
          </a:p>
          <a:p>
            <a:endParaRPr lang="en-US" dirty="0"/>
          </a:p>
          <a:p>
            <a:r>
              <a:rPr lang="en-US" altLang="zh-TW" dirty="0"/>
              <a:t>4. </a:t>
            </a:r>
            <a:r>
              <a:rPr lang="zh-TW" altLang="en-US" dirty="0"/>
              <a:t>修改電郵內容及註明處理同事名字</a:t>
            </a:r>
            <a:endParaRPr lang="en-US" altLang="zh-TW" dirty="0"/>
          </a:p>
          <a:p>
            <a:endParaRPr lang="en-US" dirty="0"/>
          </a:p>
          <a:p>
            <a:r>
              <a:rPr lang="en-US" altLang="zh-TW" dirty="0"/>
              <a:t>5. </a:t>
            </a:r>
            <a:r>
              <a:rPr lang="zh-TW" altLang="en-US" dirty="0"/>
              <a:t>按 </a:t>
            </a:r>
            <a:r>
              <a:rPr lang="en-US" altLang="zh-TW" dirty="0"/>
              <a:t>[Send] </a:t>
            </a:r>
            <a:r>
              <a:rPr lang="zh-TW" altLang="en-US" dirty="0"/>
              <a:t>傳送電郵到當值經理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6. </a:t>
            </a:r>
            <a:r>
              <a:rPr lang="zh-TW" altLang="en-US" dirty="0"/>
              <a:t>最後，按</a:t>
            </a:r>
            <a:r>
              <a:rPr lang="en-US" altLang="zh-TW" dirty="0"/>
              <a:t>[Complete Case]</a:t>
            </a:r>
            <a:r>
              <a:rPr lang="zh-TW" altLang="en-US" dirty="0"/>
              <a:t>，揀選</a:t>
            </a:r>
            <a:r>
              <a:rPr lang="en-US" altLang="zh-TW" dirty="0"/>
              <a:t> </a:t>
            </a:r>
          </a:p>
          <a:p>
            <a:r>
              <a:rPr lang="en-US" altLang="zh-TW" dirty="0"/>
              <a:t> “Exempt” Deposit</a:t>
            </a:r>
            <a:r>
              <a:rPr lang="zh-TW" altLang="en-US" dirty="0"/>
              <a:t>，發送確認電郵予客人</a:t>
            </a:r>
            <a:endParaRPr lang="en-US" altLang="zh-TW" dirty="0"/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4CC863-BFCC-E33D-64F2-1C8DDFC337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3064" y="1645172"/>
            <a:ext cx="7097703" cy="4711178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ABC52C6-CE01-5785-F356-554DA35EE703}"/>
              </a:ext>
            </a:extLst>
          </p:cNvPr>
          <p:cNvSpPr/>
          <p:nvPr/>
        </p:nvSpPr>
        <p:spPr>
          <a:xfrm>
            <a:off x="4841920" y="2515296"/>
            <a:ext cx="3768521" cy="303113"/>
          </a:xfrm>
          <a:prstGeom prst="round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43519E3-8AEA-8A5C-E2FC-6AEC17762F04}"/>
              </a:ext>
            </a:extLst>
          </p:cNvPr>
          <p:cNvSpPr/>
          <p:nvPr/>
        </p:nvSpPr>
        <p:spPr>
          <a:xfrm>
            <a:off x="4842080" y="3249342"/>
            <a:ext cx="3768362" cy="29840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ED78910-B8C1-D2D9-C7EC-54FCE1661A82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2928551" y="2335427"/>
            <a:ext cx="1913529" cy="1063119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114BE17-5450-D60C-E84A-C0D55B350375}"/>
              </a:ext>
            </a:extLst>
          </p:cNvPr>
          <p:cNvCxnSpPr>
            <a:cxnSpLocks/>
            <a:endCxn id="8" idx="1"/>
          </p:cNvCxnSpPr>
          <p:nvPr/>
        </p:nvCxnSpPr>
        <p:spPr>
          <a:xfrm flipV="1">
            <a:off x="3063081" y="2666853"/>
            <a:ext cx="1778839" cy="368946"/>
          </a:xfrm>
          <a:prstGeom prst="straightConnector1">
            <a:avLst/>
          </a:prstGeom>
          <a:ln w="12700">
            <a:solidFill>
              <a:srgbClr val="0070C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A379CFD-BD53-414A-6C16-E83518766FB1}"/>
              </a:ext>
            </a:extLst>
          </p:cNvPr>
          <p:cNvSpPr/>
          <p:nvPr/>
        </p:nvSpPr>
        <p:spPr>
          <a:xfrm>
            <a:off x="4842238" y="3574816"/>
            <a:ext cx="3768521" cy="254663"/>
          </a:xfrm>
          <a:prstGeom prst="round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5B0312F-969A-01DC-709F-EC2531E6CCE5}"/>
              </a:ext>
            </a:extLst>
          </p:cNvPr>
          <p:cNvCxnSpPr>
            <a:cxnSpLocks/>
            <a:endCxn id="15" idx="1"/>
          </p:cNvCxnSpPr>
          <p:nvPr/>
        </p:nvCxnSpPr>
        <p:spPr>
          <a:xfrm flipV="1">
            <a:off x="3045404" y="3702148"/>
            <a:ext cx="1796834" cy="87988"/>
          </a:xfrm>
          <a:prstGeom prst="straightConnector1">
            <a:avLst/>
          </a:prstGeom>
          <a:ln w="12700">
            <a:solidFill>
              <a:srgbClr val="92D05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36FF2D6-1F6E-7D06-10C2-007D82150311}"/>
              </a:ext>
            </a:extLst>
          </p:cNvPr>
          <p:cNvSpPr/>
          <p:nvPr/>
        </p:nvSpPr>
        <p:spPr>
          <a:xfrm>
            <a:off x="6524368" y="4634336"/>
            <a:ext cx="3299254" cy="1210409"/>
          </a:xfrm>
          <a:prstGeom prst="round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CCEE773-AAD9-EE1D-1A0A-F9787A66213A}"/>
              </a:ext>
            </a:extLst>
          </p:cNvPr>
          <p:cNvCxnSpPr>
            <a:cxnSpLocks/>
          </p:cNvCxnSpPr>
          <p:nvPr/>
        </p:nvCxnSpPr>
        <p:spPr>
          <a:xfrm>
            <a:off x="4028303" y="4485133"/>
            <a:ext cx="2493600" cy="666786"/>
          </a:xfrm>
          <a:prstGeom prst="straightConnector1">
            <a:avLst/>
          </a:prstGeom>
          <a:ln w="12700">
            <a:solidFill>
              <a:srgbClr val="7030A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95EAD9E-6EE8-ED3C-8397-9B8A4EBDE750}"/>
              </a:ext>
            </a:extLst>
          </p:cNvPr>
          <p:cNvSpPr/>
          <p:nvPr/>
        </p:nvSpPr>
        <p:spPr>
          <a:xfrm>
            <a:off x="6007736" y="6007926"/>
            <a:ext cx="1183898" cy="298407"/>
          </a:xfrm>
          <a:prstGeom prst="round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65B96E3-BE3B-A133-CD76-4CE94004A850}"/>
              </a:ext>
            </a:extLst>
          </p:cNvPr>
          <p:cNvCxnSpPr>
            <a:cxnSpLocks/>
            <a:endCxn id="24" idx="1"/>
          </p:cNvCxnSpPr>
          <p:nvPr/>
        </p:nvCxnSpPr>
        <p:spPr>
          <a:xfrm>
            <a:off x="3608173" y="5109159"/>
            <a:ext cx="2399563" cy="1047971"/>
          </a:xfrm>
          <a:prstGeom prst="straightConnector1">
            <a:avLst/>
          </a:prstGeom>
          <a:ln w="12700">
            <a:solidFill>
              <a:srgbClr val="FFC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30" name="Picture 29">
            <a:extLst>
              <a:ext uri="{FF2B5EF4-FFF2-40B4-BE49-F238E27FC236}">
                <a16:creationId xmlns:a16="http://schemas.microsoft.com/office/drawing/2014/main" id="{70429ABF-9438-6948-2409-4371BBCDD1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885" y="6080886"/>
            <a:ext cx="3042708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19351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936FA1C-D5F7-24B3-3917-645EA00F050B}"/>
              </a:ext>
            </a:extLst>
          </p:cNvPr>
          <p:cNvSpPr txBox="1"/>
          <p:nvPr/>
        </p:nvSpPr>
        <p:spPr>
          <a:xfrm>
            <a:off x="425885" y="150312"/>
            <a:ext cx="52743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e-Service &gt; Open Account </a:t>
            </a:r>
            <a:r>
              <a:rPr lang="zh-TW" altLang="en-US" sz="2000" b="1" dirty="0"/>
              <a:t>介面認識及處理方法</a:t>
            </a:r>
            <a:endParaRPr lang="en-US" sz="2000" b="1" dirty="0"/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2253BABE-5E29-83B3-981C-4655DCD2F5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9132373"/>
              </p:ext>
            </p:extLst>
          </p:nvPr>
        </p:nvGraphicFramePr>
        <p:xfrm>
          <a:off x="647114" y="1202802"/>
          <a:ext cx="10564838" cy="4469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664">
                  <a:extLst>
                    <a:ext uri="{9D8B030D-6E8A-4147-A177-3AD203B41FA5}">
                      <a16:colId xmlns:a16="http://schemas.microsoft.com/office/drawing/2014/main" val="3596943976"/>
                    </a:ext>
                  </a:extLst>
                </a:gridCol>
                <a:gridCol w="2588456">
                  <a:extLst>
                    <a:ext uri="{9D8B030D-6E8A-4147-A177-3AD203B41FA5}">
                      <a16:colId xmlns:a16="http://schemas.microsoft.com/office/drawing/2014/main" val="3566177371"/>
                    </a:ext>
                  </a:extLst>
                </a:gridCol>
                <a:gridCol w="1997612">
                  <a:extLst>
                    <a:ext uri="{9D8B030D-6E8A-4147-A177-3AD203B41FA5}">
                      <a16:colId xmlns:a16="http://schemas.microsoft.com/office/drawing/2014/main" val="526335701"/>
                    </a:ext>
                  </a:extLst>
                </a:gridCol>
                <a:gridCol w="4178106">
                  <a:extLst>
                    <a:ext uri="{9D8B030D-6E8A-4147-A177-3AD203B41FA5}">
                      <a16:colId xmlns:a16="http://schemas.microsoft.com/office/drawing/2014/main" val="2790568727"/>
                    </a:ext>
                  </a:extLst>
                </a:gridCol>
              </a:tblGrid>
              <a:tr h="451830">
                <a:tc gridSpan="2">
                  <a:txBody>
                    <a:bodyPr/>
                    <a:lstStyle/>
                    <a:p>
                      <a:r>
                        <a:rPr lang="en-US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Status - </a:t>
                      </a:r>
                      <a:r>
                        <a:rPr lang="en-US" dirty="0"/>
                        <a:t>Website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Status - </a:t>
                      </a:r>
                      <a:r>
                        <a:rPr lang="en-US" dirty="0"/>
                        <a:t>E-Service Back Office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7419788"/>
                  </a:ext>
                </a:extLst>
              </a:tr>
              <a:tr h="371116">
                <a:tc>
                  <a:txBody>
                    <a:bodyPr/>
                    <a:lstStyle/>
                    <a:p>
                      <a:r>
                        <a:rPr lang="en-US" dirty="0"/>
                        <a:t>Chinese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English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0991292"/>
                  </a:ext>
                </a:extLst>
              </a:tr>
              <a:tr h="451830">
                <a:tc>
                  <a:txBody>
                    <a:bodyPr/>
                    <a:lstStyle/>
                    <a:p>
                      <a:r>
                        <a:rPr lang="zh-TW" altLang="en-US" dirty="0"/>
                        <a:t>已遞交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Submitted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Open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全新個案 </a:t>
                      </a:r>
                      <a:r>
                        <a:rPr lang="en-US" altLang="zh-TW" dirty="0"/>
                        <a:t>(</a:t>
                      </a:r>
                      <a:r>
                        <a:rPr lang="zh-TW" altLang="en-US" dirty="0"/>
                        <a:t>未按</a:t>
                      </a:r>
                      <a:r>
                        <a:rPr lang="en-US" altLang="zh-TW" dirty="0"/>
                        <a:t>Accept</a:t>
                      </a:r>
                      <a:r>
                        <a:rPr lang="zh-TW" altLang="en-US" dirty="0"/>
                        <a:t>按鈕</a:t>
                      </a:r>
                      <a:r>
                        <a:rPr lang="en-US" altLang="zh-TW" dirty="0"/>
                        <a:t>)</a:t>
                      </a:r>
                    </a:p>
                    <a:p>
                      <a:r>
                        <a:rPr lang="zh-TW" altLang="en-US" dirty="0"/>
                        <a:t>客人可透過 </a:t>
                      </a:r>
                      <a:r>
                        <a:rPr lang="en-US" altLang="zh-TW" dirty="0"/>
                        <a:t>“</a:t>
                      </a:r>
                      <a:r>
                        <a:rPr lang="zh-TW" altLang="en-US" dirty="0"/>
                        <a:t>確認電郵</a:t>
                      </a:r>
                      <a:r>
                        <a:rPr lang="en-US" altLang="zh-TW" dirty="0"/>
                        <a:t>”</a:t>
                      </a:r>
                      <a:r>
                        <a:rPr lang="zh-TW" altLang="en-US" dirty="0"/>
                        <a:t>內的連結自行於網站瀏覽</a:t>
                      </a:r>
                      <a:r>
                        <a:rPr lang="en-US" altLang="zh-TW" dirty="0"/>
                        <a:t>/</a:t>
                      </a:r>
                      <a:r>
                        <a:rPr lang="zh-TW" altLang="en-US" dirty="0"/>
                        <a:t>更改</a:t>
                      </a:r>
                      <a:r>
                        <a:rPr lang="en-US" altLang="zh-TW" dirty="0"/>
                        <a:t>/</a:t>
                      </a:r>
                      <a:r>
                        <a:rPr lang="zh-TW" altLang="en-US" dirty="0"/>
                        <a:t>取消申請。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3477677"/>
                  </a:ext>
                </a:extLst>
              </a:tr>
              <a:tr h="451830">
                <a:tc>
                  <a:txBody>
                    <a:bodyPr/>
                    <a:lstStyle/>
                    <a:p>
                      <a:r>
                        <a:rPr lang="zh-TW" altLang="en-US" dirty="0"/>
                        <a:t>處理中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In Progress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 Progress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已按</a:t>
                      </a:r>
                      <a:r>
                        <a:rPr lang="en-US" altLang="zh-TW" dirty="0"/>
                        <a:t> [Accept]</a:t>
                      </a:r>
                      <a:r>
                        <a:rPr lang="zh-TW" altLang="en-US" dirty="0"/>
                        <a:t>按鈕</a:t>
                      </a:r>
                      <a:br>
                        <a:rPr lang="en-US" altLang="zh-TW" dirty="0"/>
                      </a:br>
                      <a:r>
                        <a:rPr lang="en-US" altLang="zh-TW" dirty="0" err="1"/>
                        <a:t>ActionLog</a:t>
                      </a:r>
                      <a:r>
                        <a:rPr lang="zh-TW" altLang="en-US" dirty="0"/>
                        <a:t>內記錄了</a:t>
                      </a:r>
                      <a:r>
                        <a:rPr lang="en-US" altLang="zh-TW" dirty="0"/>
                        <a:t> “</a:t>
                      </a:r>
                      <a:r>
                        <a:rPr lang="zh-TW" altLang="en-US" dirty="0"/>
                        <a:t>接收</a:t>
                      </a:r>
                      <a:r>
                        <a:rPr lang="en-US" altLang="zh-TW" dirty="0"/>
                        <a:t>”</a:t>
                      </a:r>
                      <a:r>
                        <a:rPr lang="zh-TW" altLang="en-US" dirty="0"/>
                        <a:t>的時間及同事姓名，同事可按開煤氣程序跟進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0001620"/>
                  </a:ext>
                </a:extLst>
              </a:tr>
              <a:tr h="752621">
                <a:tc>
                  <a:txBody>
                    <a:bodyPr/>
                    <a:lstStyle/>
                    <a:p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需要補充</a:t>
                      </a:r>
                      <a:endParaRPr lang="en-US" altLang="zh-TW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文件</a:t>
                      </a:r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資料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Waiting for supplementary document / information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Document Wait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發送電郵予客人，要求資料</a:t>
                      </a:r>
                      <a:r>
                        <a:rPr lang="en-US" altLang="zh-TW" dirty="0"/>
                        <a:t>/</a:t>
                      </a:r>
                      <a:r>
                        <a:rPr lang="zh-TW" altLang="en-US" dirty="0"/>
                        <a:t>文件補充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0297194"/>
                  </a:ext>
                </a:extLst>
              </a:tr>
              <a:tr h="451830">
                <a:tc>
                  <a:txBody>
                    <a:bodyPr/>
                    <a:lstStyle/>
                    <a:p>
                      <a:r>
                        <a:rPr lang="zh-TW" altLang="en-US" dirty="0"/>
                        <a:t>完成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Completed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Closed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個案已處理完畢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7761635"/>
                  </a:ext>
                </a:extLst>
              </a:tr>
              <a:tr h="451830">
                <a:tc>
                  <a:txBody>
                    <a:bodyPr/>
                    <a:lstStyle/>
                    <a:p>
                      <a:r>
                        <a:rPr lang="zh-TW" altLang="en-US" dirty="0"/>
                        <a:t>已取消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Cancelled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Cancelled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由客人</a:t>
                      </a:r>
                      <a:r>
                        <a:rPr lang="en-US" altLang="zh-TW" dirty="0"/>
                        <a:t>/</a:t>
                      </a:r>
                      <a:r>
                        <a:rPr lang="zh-TW" altLang="en-US" dirty="0"/>
                        <a:t>客戶服務主任取消申請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1100150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4DBBAD42-D002-539C-C1A8-B45AB53F8F06}"/>
              </a:ext>
            </a:extLst>
          </p:cNvPr>
          <p:cNvSpPr txBox="1"/>
          <p:nvPr/>
        </p:nvSpPr>
        <p:spPr>
          <a:xfrm>
            <a:off x="425885" y="550422"/>
            <a:ext cx="215317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000" u="sng" dirty="0"/>
              <a:t>個案狀況</a:t>
            </a:r>
            <a:endParaRPr lang="en-US" sz="20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6C148B-7163-81C3-1C9F-81827B6D7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B04AD-5EB0-49DF-9047-5419DE7250E3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4149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3970</TotalTime>
  <Words>3136</Words>
  <Application>Microsoft Office PowerPoint</Application>
  <PresentationFormat>Widescreen</PresentationFormat>
  <Paragraphs>507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7" baseType="lpstr">
      <vt:lpstr>微軟正黑體</vt:lpstr>
      <vt:lpstr>Arial</vt:lpstr>
      <vt:lpstr>Calibri</vt:lpstr>
      <vt:lpstr>Calibri Light</vt:lpstr>
      <vt:lpstr>Wingdings</vt:lpstr>
      <vt:lpstr>Wingdings 2</vt:lpstr>
      <vt:lpstr>Office Theme</vt:lpstr>
      <vt:lpstr>e-Service Open Account  介面認識及 處理方法 (X6600)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Town Gas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Leung Fiona Y.P.</dc:creator>
  <cp:lastModifiedBy>Low Felicia W.Y.</cp:lastModifiedBy>
  <cp:revision>102</cp:revision>
  <cp:lastPrinted>2024-08-23T02:02:43Z</cp:lastPrinted>
  <dcterms:created xsi:type="dcterms:W3CDTF">2024-07-19T01:43:25Z</dcterms:created>
  <dcterms:modified xsi:type="dcterms:W3CDTF">2026-05-12T07:22:03Z</dcterms:modified>
</cp:coreProperties>
</file>